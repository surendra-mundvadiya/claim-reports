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bn</c:v>
                </c:pt>
              </c:strCache>
            </c:strRef>
          </c:tx>
          <c:spPr>
            <a:solidFill>
              <a:srgbClr val="6D4FD6"/>
            </a:solidFill>
            <a:effectLst/>
          </c:spPr>
          <c:invertIfNegative val="0"/>
          <c:dLbls>
            <c:numFmt formatCode="$#,##0.0&quot;bn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E21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2022</c:v>
                  </c:pt>
                  <c:pt idx="1">
                    <c:v>2027F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114.5</c:v>
                </c:pt>
              </c:numCache>
            </c:numRef>
          </c:val>
        </c:ser>
        <c:dLbls>
          <c:numFmt formatCode="$#,##0.0&quot;bn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E21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(m)</c:v>
                </c:pt>
              </c:strCache>
            </c:strRef>
          </c:tx>
          <c:spPr>
            <a:solidFill>
              <a:srgbClr val="0E7490"/>
            </a:solidFill>
            <a:ln w="40640" cap="flat">
              <a:solidFill>
                <a:srgbClr val="0E74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490"/>
              </a:solidFill>
              <a:ln w="9525" cap="flat">
                <a:solidFill>
                  <a:srgbClr val="0E74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H1'25</c:v>
                  </c:pt>
                  <c:pt idx="1">
                    <c:v>2025</c:v>
                  </c:pt>
                  <c:pt idx="2">
                    <c:v>2026F</c:v>
                  </c:pt>
                  <c:pt idx="3">
                    <c:v>2027F</c:v>
                  </c:pt>
                  <c:pt idx="4">
                    <c:v>2028F</c:v>
                  </c:pt>
                  <c:pt idx="5">
                    <c:v>2029F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4.1</c:v>
                </c:pt>
                <c:pt idx="1">
                  <c:v>8</c:v>
                </c:pt>
                <c:pt idx="2">
                  <c:v>14.5</c:v>
                </c:pt>
                <c:pt idx="3">
                  <c:v>22</c:v>
                </c:pt>
                <c:pt idx="4">
                  <c:v>31</c:v>
                </c:pt>
                <c:pt idx="5">
                  <c:v>40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Publications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2012</c:v>
                  </c:pt>
                  <c:pt idx="1">
                    <c:v>2014</c:v>
                  </c:pt>
                  <c:pt idx="2">
                    <c:v>2016</c:v>
                  </c:pt>
                  <c:pt idx="3">
                    <c:v>2018</c:v>
                  </c:pt>
                  <c:pt idx="4">
                    <c:v>2020</c:v>
                  </c:pt>
                  <c:pt idx="5">
                    <c:v>2022</c:v>
                  </c:pt>
                  <c:pt idx="6">
                    <c:v>2024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1200</c:v>
                </c:pt>
                <c:pt idx="1">
                  <c:v>3200</c:v>
                </c:pt>
                <c:pt idx="2">
                  <c:v>6800</c:v>
                </c:pt>
                <c:pt idx="3">
                  <c:v>11000</c:v>
                </c:pt>
                <c:pt idx="4">
                  <c:v>13500</c:v>
                </c:pt>
                <c:pt idx="5">
                  <c:v>12800</c:v>
                </c:pt>
                <c:pt idx="6">
                  <c:v>11500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0"/>
        </c:scaling>
        <c:delete val="0"/>
        <c:axPos val="l"/>
        <c:majorGridlines>
          <c:spPr>
            <a:ln w="6350" cap="flat">
              <a:solidFill>
                <a:srgbClr val="E3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 granted</c:v>
                </c:pt>
              </c:strCache>
            </c:strRef>
          </c:tx>
          <c:spPr>
            <a:solidFill>
              <a:srgbClr val="6D4F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50" u="none">
                    <a:solidFill>
                      <a:srgbClr val="1E21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China (SIPO)</c:v>
                  </c:pt>
                  <c:pt idx="1">
                    <c:v>United States</c:v>
                  </c:pt>
                  <c:pt idx="2">
                    <c:v>South Korea</c:v>
                  </c:pt>
                  <c:pt idx="3">
                    <c:v>Great Britain</c:v>
                  </c:pt>
                  <c:pt idx="4">
                    <c:v>Japan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1164</c:v>
                </c:pt>
                <c:pt idx="1">
                  <c:v>725</c:v>
                </c:pt>
                <c:pt idx="2">
                  <c:v>261</c:v>
                </c:pt>
                <c:pt idx="3">
                  <c:v>126</c:v>
                </c:pt>
                <c:pt idx="4">
                  <c:v>115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50" u="none">
                  <a:solidFill>
                    <a:srgbClr val="1E21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1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50" u="none">
                    <a:solidFill>
                      <a:srgbClr val="1E21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Magic Leap</c:v>
                  </c:pt>
                  <c:pt idx="1">
                    <c:v>Microsoft</c:v>
                  </c:pt>
                  <c:pt idx="2">
                    <c:v>Sony</c:v>
                  </c:pt>
                  <c:pt idx="3">
                    <c:v>Samsung</c:v>
                  </c:pt>
                  <c:pt idx="4">
                    <c:v>LG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3786</c:v>
                </c:pt>
                <c:pt idx="1">
                  <c:v>3647</c:v>
                </c:pt>
                <c:pt idx="2">
                  <c:v>3612</c:v>
                </c:pt>
                <c:pt idx="3">
                  <c:v>1749</c:v>
                </c:pt>
                <c:pt idx="4">
                  <c:v>1556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50" u="none">
                  <a:solidFill>
                    <a:srgbClr val="1E21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E21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4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365760"/>
            <a:ext cx="7132320" cy="7132320"/>
          </a:xfrm>
          <a:prstGeom prst="ellipse">
            <a:avLst/>
          </a:prstGeom>
          <a:ln w="13970">
            <a:solidFill>
              <a:srgbClr val="27D3EE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457200"/>
            <a:ext cx="5486400" cy="5486400"/>
          </a:xfrm>
          <a:prstGeom prst="ellipse">
            <a:avLst/>
          </a:prstGeom>
          <a:ln w="13970">
            <a:solidFill>
              <a:srgbClr val="9B7DF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1280160"/>
            <a:ext cx="3840480" cy="3840480"/>
          </a:xfrm>
          <a:prstGeom prst="ellipse">
            <a:avLst/>
          </a:prstGeom>
          <a:ln w="13970">
            <a:solidFill>
              <a:srgbClr val="27D3EE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057400"/>
            <a:ext cx="2286000" cy="2286000"/>
          </a:xfrm>
          <a:prstGeom prst="ellipse">
            <a:avLst/>
          </a:prstGeom>
          <a:ln w="27940">
            <a:solidFill>
              <a:srgbClr val="9B7DF6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73184" y="2889504"/>
            <a:ext cx="621792" cy="621792"/>
          </a:xfrm>
          <a:prstGeom prst="ellipse">
            <a:avLst/>
          </a:prstGeom>
          <a:solidFill>
            <a:srgbClr val="27D3E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LANDSCAPE  ·  TECHNOLOGY  ·  WHITESPACE  ·  COMPETITION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82880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 Glasses &amp; Head-Mounted</a:t>
            </a:r>
            <a:endParaRPr lang="en-US" sz="5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Patents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66928" y="370332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landscape for inventors — where invention is happening, where the white space is, and what to build next. Scope spans every head-worn device: optical see-through AR / smart glasses, mixed-reality and VR headsets.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66928" y="502920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140,000+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66928" y="55961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in the universe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73552" y="502920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67,000+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73552" y="55961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INPADOC families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80176" y="502920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980176" y="55961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records examined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0" y="502920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686800" y="55961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profiled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from IPlytics / LexisNexis, GlobalData, Vitek IP, Finnegan, PatSnap, academic patent studies &amp; primary patent records  ·  Data through Q2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Methodology, scope &amp; how many patents were read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37360"/>
            <a:ext cx="548640" cy="548640"/>
          </a:xfrm>
          <a:prstGeom prst="ellipse">
            <a:avLst/>
          </a:prstGeom>
          <a:solidFill>
            <a:srgbClr val="27D3EE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88549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1719072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— “AR glasses” = every head-mounted device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59536" y="2395728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see-through AR / smart glasses (waveguide &amp; birdbath)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Mixed-reality headsets — Apple Vision Pro, HoloLens, Galaxy XR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headsets — Meta Quest, PSVR, Varjo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/ camera “AI glasses” — Ray-Ban Meta, Oakley HSTN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subsystems — optics, displays, sensors, input, silicon, EMG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81928" y="1481328"/>
            <a:ext cx="5342839" cy="2788920"/>
          </a:xfrm>
          <a:prstGeom prst="roundRect">
            <a:avLst>
              <a:gd name="adj" fmla="val 2623"/>
            </a:avLst>
          </a:prstGeom>
          <a:solidFill>
            <a:srgbClr val="0F1230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6248" y="1737360"/>
            <a:ext cx="548640" cy="548640"/>
          </a:xfrm>
          <a:prstGeom prst="ellipse">
            <a:avLst/>
          </a:prstGeom>
          <a:solidFill>
            <a:srgbClr val="171A40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188549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2048" y="1719072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patents were read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556248" y="241401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7991856" y="239572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patents &amp; published applications examined directly — abstracts, claims, assignee/priority data verified on Google Patents &amp; USPTO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556248" y="30906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300" dirty="0"/>
          </a:p>
        </p:txBody>
      </p:sp>
      <p:sp>
        <p:nvSpPr>
          <p:cNvPr id="16" name="Text 12"/>
          <p:cNvSpPr/>
          <p:nvPr/>
        </p:nvSpPr>
        <p:spPr>
          <a:xfrm>
            <a:off x="7991856" y="307238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patents read in depth and mapped to today’s products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556248" y="37673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140,000+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7991856" y="37490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/ 67,000+ families covered through synthesized landscape datasets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453128"/>
            <a:ext cx="11057839" cy="1417320"/>
          </a:xfrm>
          <a:prstGeom prst="roundRect">
            <a:avLst>
              <a:gd name="adj" fmla="val 5161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41248" y="4681728"/>
            <a:ext cx="502920" cy="502920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036" y="4817516"/>
            <a:ext cx="231343" cy="23134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81328" y="46451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a note on the numbers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59536" y="5120640"/>
            <a:ext cx="1046347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differ by methodology (keyword vs. CPC/IPC, family vs. document, jurisdiction) and by vendor, so figures from different firms are not strictly comparable; 2024–2026 totals are understated by the ~18-month publication lag. Where a chart is reconstructed from multiple sources it is marked “indicative.” Patent numbers prefixed US 20xx/… are published applications, not grants. Primary sources: IPlytics/LexisNexis, GlobalData, Vitek IP, Finnegan quarterly trackers, PatSnap, Sagacious IP, IFI Claims, IDC, and the patent records themselves.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things an inventor needs to know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1C1F4A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512064" cy="512064"/>
          </a:xfrm>
          <a:prstGeom prst="ellipse">
            <a:avLst/>
          </a:prstGeom>
          <a:solidFill>
            <a:srgbClr val="27D3EE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1948769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792224"/>
            <a:ext cx="24515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field is large and still compounding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1248" y="2450592"/>
            <a:ext cx="295442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140k+ patents / 67k+ families and counting; granted AR patents grew ~82%/yr after 2012. The moat is concentrated in optics and input, not apps.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4314" y="1572768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1C1F4A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0346" y="1810512"/>
            <a:ext cx="512064" cy="512064"/>
          </a:xfrm>
          <a:prstGeom prst="ellipse">
            <a:avLst/>
          </a:prstGeom>
          <a:solidFill>
            <a:srgbClr val="27D3EE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604" y="1948769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994" y="1792224"/>
            <a:ext cx="24515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China now leads issuance volume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8634" y="2450592"/>
            <a:ext cx="295442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SIPO overtook the USPTO in Q4 2020 and held the lead through 2021. The US still dominates high-value families; Korea, GB &amp; Japan follow.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21701" y="1572768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1C1F4A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7733" y="1810512"/>
            <a:ext cx="512064" cy="512064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990" y="1948769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90381" y="1792224"/>
            <a:ext cx="24515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holders own the core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96021" y="2450592"/>
            <a:ext cx="295442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Leap, Microsoft, Sony, Samsung, LG, Apple, Meta &amp; Google dominate. Magic Leap is the only pure-play in the top tier; Apple’s spatial portfolio is ~5,000 strong.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66928" y="4014216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1C1F4A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251960"/>
            <a:ext cx="512064" cy="512064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17" y="4390217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35608" y="4233672"/>
            <a:ext cx="24515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&amp; optics is the battleground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41248" y="4892040"/>
            <a:ext cx="295442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Waveguides (diffractive, reflective, holographic) + microLED light engines absorb the most filings. Whoever solves bright, wide-FOV, slim optics wins.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44314" y="4014216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1C1F4A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00346" y="4251960"/>
            <a:ext cx="512064" cy="512064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604" y="4390217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994" y="4233672"/>
            <a:ext cx="24515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 space is in the hard physics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8634" y="4892040"/>
            <a:ext cx="295442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Hard-edge occlusion, vergence-accommodation conflict, all-day thermal/power, and prescription-integrated optics are unsolved — the richest invention targets.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21701" y="4014216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1C1F4A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77733" y="4251960"/>
            <a:ext cx="512064" cy="512064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5990" y="4390217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90381" y="4233672"/>
            <a:ext cx="24515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just shifted to the wrist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96021" y="4892040"/>
            <a:ext cx="295442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Meta’s sEMG Neural Band (Sept 2025) opened a new neural-input layer it now leads with ~238 patents — alternative biosignal input is open territory.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PATENTING IS ACCELERATING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context: the demand pulling the 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074920" cy="3200400"/>
          </a:xfrm>
          <a:prstGeom prst="roundRect">
            <a:avLst>
              <a:gd name="adj" fmla="val 2286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AR/VR market revenue (USD bn)</a:t>
            </a:r>
            <a:endParaRPr lang="en-US" sz="14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04088" y="2048256"/>
          <a:ext cx="48006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41248" y="43342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~25.3% CAGR 2022–2027 (industry consensus)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870448" y="1481328"/>
            <a:ext cx="5754319" cy="3200400"/>
          </a:xfrm>
          <a:prstGeom prst="roundRect">
            <a:avLst>
              <a:gd name="adj" fmla="val 2286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44768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Smart-glasses unit shipments (millions)</a:t>
            </a:r>
            <a:endParaRPr lang="en-US" sz="145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007608" y="2048256"/>
          <a:ext cx="58064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6144768" y="43342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IDC: H1'25 shipments +64% YoY; China the fastest market at ~56% CAGR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66928" y="4882896"/>
            <a:ext cx="2613584" cy="960120"/>
          </a:xfrm>
          <a:prstGeom prst="roundRect">
            <a:avLst>
              <a:gd name="adj" fmla="val 7619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68096" y="5010912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B7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$114.5bn</a:t>
            </a:r>
            <a:endParaRPr lang="en-US" sz="2500" dirty="0"/>
          </a:p>
        </p:txBody>
      </p:sp>
      <p:sp>
        <p:nvSpPr>
          <p:cNvPr id="14" name="Text 10"/>
          <p:cNvSpPr/>
          <p:nvPr/>
        </p:nvSpPr>
        <p:spPr>
          <a:xfrm>
            <a:off x="768096" y="5449824"/>
            <a:ext cx="224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AR/VR market by 2027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381680" y="4882896"/>
            <a:ext cx="2613584" cy="960120"/>
          </a:xfrm>
          <a:prstGeom prst="roundRect">
            <a:avLst>
              <a:gd name="adj" fmla="val 7619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582848" y="5010912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&gt;40m</a:t>
            </a:r>
            <a:endParaRPr lang="en-US" sz="2500" dirty="0"/>
          </a:p>
        </p:txBody>
      </p:sp>
      <p:sp>
        <p:nvSpPr>
          <p:cNvPr id="17" name="Text 13"/>
          <p:cNvSpPr/>
          <p:nvPr/>
        </p:nvSpPr>
        <p:spPr>
          <a:xfrm>
            <a:off x="3582848" y="5449824"/>
            <a:ext cx="224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smart-glasses units/yr forecast by 2029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96432" y="4882896"/>
            <a:ext cx="2613584" cy="960120"/>
          </a:xfrm>
          <a:prstGeom prst="roundRect">
            <a:avLst>
              <a:gd name="adj" fmla="val 7619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397600" y="5010912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~66%</a:t>
            </a:r>
            <a:endParaRPr lang="en-US" sz="2500" dirty="0"/>
          </a:p>
        </p:txBody>
      </p:sp>
      <p:sp>
        <p:nvSpPr>
          <p:cNvPr id="20" name="Text 16"/>
          <p:cNvSpPr/>
          <p:nvPr/>
        </p:nvSpPr>
        <p:spPr>
          <a:xfrm>
            <a:off x="6397600" y="5449824"/>
            <a:ext cx="224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VR-device market is head-mounted displays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9011183" y="4882896"/>
            <a:ext cx="2613584" cy="960120"/>
          </a:xfrm>
          <a:prstGeom prst="roundRect">
            <a:avLst>
              <a:gd name="adj" fmla="val 7619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9212351" y="5010912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14.3m</a:t>
            </a:r>
            <a:endParaRPr lang="en-US" sz="2500" dirty="0"/>
          </a:p>
        </p:txBody>
      </p:sp>
      <p:sp>
        <p:nvSpPr>
          <p:cNvPr id="23" name="Text 19"/>
          <p:cNvSpPr/>
          <p:nvPr/>
        </p:nvSpPr>
        <p:spPr>
          <a:xfrm>
            <a:off x="9212351" y="5449824"/>
            <a:ext cx="224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 headsets shipping in 2025 (IDC)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66928" y="64648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figures: MarketsandMarkets / industry consensus; shipment data: IDC Worldwide AR/VR &amp; smart-glasses trackers (2025). Forecast years indicative.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CURVE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Patent filings: a decade of compounding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7040880" cy="4160520"/>
          </a:xfrm>
          <a:prstGeom prst="roundRect">
            <a:avLst>
              <a:gd name="adj" fmla="val 1758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642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Indicative AR/VR/HMD patent publications per year</a:t>
            </a:r>
            <a:endParaRPr lang="en-US" sz="14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04088" y="2121408"/>
          <a:ext cx="67665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41248" y="51846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reconstruction (IPlytics, Finnegan, academic data). Dip after 2022 reflects publication lag + re-coding of filings to AI classes — not a real decline.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836408" y="1481328"/>
            <a:ext cx="3788359" cy="932688"/>
          </a:xfrm>
          <a:prstGeom prst="roundRect">
            <a:avLst>
              <a:gd name="adj" fmla="val 7843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74152" y="159105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802368" y="1572768"/>
            <a:ext cx="15937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in granted U.S. AR patents after 2012 (academic USPTO study)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36408" y="2569464"/>
            <a:ext cx="3788359" cy="932688"/>
          </a:xfrm>
          <a:prstGeom prst="roundRect">
            <a:avLst>
              <a:gd name="adj" fmla="val 7843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74152" y="267919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B7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802368" y="2660904"/>
            <a:ext cx="15937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 roughly doubled every ~4 years through 2018 (IPlytics)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836408" y="3657600"/>
            <a:ext cx="3788359" cy="932688"/>
          </a:xfrm>
          <a:prstGeom prst="roundRect">
            <a:avLst>
              <a:gd name="adj" fmla="val 7843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074152" y="376732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802368" y="3749040"/>
            <a:ext cx="15937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China’s SIPO overtakes the USPTO in AR/VR issuance — and never looks back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836408" y="4745736"/>
            <a:ext cx="3788359" cy="932688"/>
          </a:xfrm>
          <a:prstGeom prst="roundRect">
            <a:avLst>
              <a:gd name="adj" fmla="val 7843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74152" y="485546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~2,700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802368" y="4837176"/>
            <a:ext cx="15937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 patents granted worldwide in a single quarter (Q3 2021)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66928" y="64648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chart is an indicative synthesis across sources; absolute yearly counts vary by database and search definition.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BEING FILED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distribution of AR/VR patents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6675120" cy="4160520"/>
          </a:xfrm>
          <a:prstGeom prst="roundRect">
            <a:avLst>
              <a:gd name="adj" fmla="val 1758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6420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AR/VR patents granted by office — Q4 2021 snapshot</a:t>
            </a:r>
            <a:endParaRPr lang="en-US" sz="14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04088" y="2139696"/>
          <a:ext cx="64008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70648" y="1481328"/>
            <a:ext cx="4154119" cy="4160520"/>
          </a:xfrm>
          <a:prstGeom prst="roundRect">
            <a:avLst>
              <a:gd name="adj" fmla="val 1761"/>
            </a:avLst>
          </a:prstGeom>
          <a:solidFill>
            <a:srgbClr val="0F1230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44968" y="1737360"/>
            <a:ext cx="530352" cy="530352"/>
          </a:xfrm>
          <a:prstGeom prst="ellipse">
            <a:avLst/>
          </a:prstGeom>
          <a:solidFill>
            <a:srgbClr val="27D3EE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163" y="1880555"/>
            <a:ext cx="243962" cy="2439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30768" y="17190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center of gravity is moving east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763256" y="2395728"/>
            <a:ext cx="365119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&gt;55% of AR/VR filings originated in the U.S. (IPlytics) — still the venue with the highest-value families.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leads raw issuance volume since Q4 2020 and is the fastest-growing market (~56% CAGR), backed by a deep supply chain: BOE, Goertek, JBD, Sunny Optical.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 (Samsung, LG) and Japan (Sony) anchor display &amp; sensor IP.</a:t>
            </a:r>
            <a:endParaRPr lang="en-US" sz="12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 takeaway: file in US + CN + KR + JP + EP; a US-only filing leaves the fastest-growing market open.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66928" y="64648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Snapshot: Finnegan AR/VR Patent Prosecution Update, Q4 2021 (patents granted, by office). Historical filing share: LexisNexis IPlytics.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CORE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patent holders &amp; portfolio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6858000" cy="4160520"/>
          </a:xfrm>
          <a:prstGeom prst="roundRect">
            <a:avLst>
              <a:gd name="adj" fmla="val 1758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642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Largest AR/VR portfolios, 2002–2022 (patents published)</a:t>
            </a:r>
            <a:endParaRPr lang="en-US" sz="14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04088" y="2139696"/>
          <a:ext cx="65836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41248" y="5212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together held ~14,350 AR/VR patents (GlobalData, TMT sector).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53528" y="1481328"/>
            <a:ext cx="3971239" cy="2395728"/>
          </a:xfrm>
          <a:prstGeom prst="roundRect">
            <a:avLst>
              <a:gd name="adj" fmla="val 3053"/>
            </a:avLst>
          </a:prstGeom>
          <a:solidFill>
            <a:srgbClr val="0F1230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27848" y="16642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 top assignees (Vitek IP)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27848" y="2048256"/>
            <a:ext cx="346831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Leap · Microsoft · Samsung · Google · Meta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Qualcomm · LG · IBM · Sony · BOE Technology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Apple’s spatial-computing estate is ~5,000 patents; Meta filed ~5,000 tied to its programs.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53528" y="4023360"/>
            <a:ext cx="3971239" cy="1618488"/>
          </a:xfrm>
          <a:prstGeom prst="roundRect">
            <a:avLst>
              <a:gd name="adj" fmla="val 4520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82128" y="4224528"/>
            <a:ext cx="475488" cy="475488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510" y="4352910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76488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 to remember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900416" y="4681728"/>
            <a:ext cx="34683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holds 200+ pending AR/VR applications — more than any other company — a leading indicator of where a future portfolio leader is forming.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66928" y="64648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counts: GlobalData (TMT, 2002–2022) &amp; Vitek IP 2023 AR/VR Patent Market Overview. Apple/Meta spatial estimates from public analyses; methodologies differ.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LEADERS PLAY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strategy: build, buy, and pure-play bets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503066" cy="4160520"/>
          </a:xfrm>
          <a:prstGeom prst="roundRect">
            <a:avLst>
              <a:gd name="adj" fmla="val 2088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27D3EE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188549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719072"/>
            <a:ext cx="24057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Pure-play vs. platform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441448"/>
            <a:ext cx="295442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Leap is the only top-tier holder built solely on AR — ~3,800 patents, yet it pledged ~1,903 of them to JPMorgan Chase as loan collateral (2019).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Big-tech holders (Microsoft, Sony, Samsung, Apple) fund AR from vast cross-domain portfolios — they can out-wait pure-plays.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4314" y="1481328"/>
            <a:ext cx="3503066" cy="4160520"/>
          </a:xfrm>
          <a:prstGeom prst="roundRect">
            <a:avLst>
              <a:gd name="adj" fmla="val 2088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0346" y="1737360"/>
            <a:ext cx="548640" cy="548640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479" y="188549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8714" y="1719072"/>
            <a:ext cx="24057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by acquisition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8634" y="2441448"/>
            <a:ext cx="295442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bought Oculus (2014), CTRL-labs (2019, ~$0.5–1bn) for EMG, and gained Orion optics know-how.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acquired WaveOptics (waveguides) to power Spectacles.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absorbed Osterhout/ODG-era IP; China’s Crystal-Optech took a stake in Israel’s Lumus.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21701" y="1481328"/>
            <a:ext cx="3503066" cy="4160520"/>
          </a:xfrm>
          <a:prstGeom prst="roundRect">
            <a:avLst>
              <a:gd name="adj" fmla="val 2088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7733" y="1737360"/>
            <a:ext cx="548640" cy="54864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866" y="188549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36101" y="1719072"/>
            <a:ext cx="24057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 for you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96021" y="2441448"/>
            <a:ext cx="295442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optics IP is concentrated and partly tradeable — licensing and acquisition are realistic routes.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focused, defensible cluster (10–30 strong claims in a white-space niche) is an acquisition magnet, exactly the Oculus/CTRL-labs/WaveOptics pattern.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66928" y="64648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Leap collateral pledge: UCC filing reporting; acquisition figures from public reporting (CTRL-labs estimate $0.5–1bn).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OF INNOVATION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taxonomy: where invention is happening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intensity by technical cluster — darker = more crowded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693408" y="1463040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6912864" y="14081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991856" y="1463040"/>
            <a:ext cx="182880" cy="18288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8" name="Text 6"/>
          <p:cNvSpPr/>
          <p:nvPr/>
        </p:nvSpPr>
        <p:spPr>
          <a:xfrm>
            <a:off x="8211312" y="14081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290304" y="1463040"/>
            <a:ext cx="182880" cy="182880"/>
          </a:xfrm>
          <a:prstGeom prst="ellipse">
            <a:avLst/>
          </a:prstGeom>
          <a:solidFill>
            <a:srgbClr val="9B7DF6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0" y="14081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588752" y="1463040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10808208" y="14081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/ open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1938528"/>
            <a:ext cx="351525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130552"/>
            <a:ext cx="475488" cy="47548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902" y="2258934"/>
            <a:ext cx="218724" cy="21872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98448" y="2057400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8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Waveguides &amp; combiners</a:t>
            </a: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1298448" y="2359152"/>
            <a:ext cx="2646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Diffractive (SRG), reflective/geometric, holographic, metasurface, SiC substrates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4338218" y="1938528"/>
            <a:ext cx="351525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02810" y="2130552"/>
            <a:ext cx="475488" cy="47548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192" y="2258934"/>
            <a:ext cx="218724" cy="21872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69738" y="2057400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8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engines / micro-displays</a:t>
            </a:r>
            <a:endParaRPr lang="en-US" sz="1280" dirty="0"/>
          </a:p>
        </p:txBody>
      </p:sp>
      <p:sp>
        <p:nvSpPr>
          <p:cNvPr id="22" name="Text 18"/>
          <p:cNvSpPr/>
          <p:nvPr/>
        </p:nvSpPr>
        <p:spPr>
          <a:xfrm>
            <a:off x="5069738" y="2359152"/>
            <a:ext cx="2646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microLED (LEDoS), LCoS, micro-OLED, laser beam scanning, birdbath</a:t>
            </a:r>
            <a:endParaRPr lang="en-US" sz="980" dirty="0"/>
          </a:p>
        </p:txBody>
      </p:sp>
      <p:sp>
        <p:nvSpPr>
          <p:cNvPr id="23" name="Shape 19"/>
          <p:cNvSpPr/>
          <p:nvPr/>
        </p:nvSpPr>
        <p:spPr>
          <a:xfrm>
            <a:off x="8109509" y="1938528"/>
            <a:ext cx="351525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274101" y="2130552"/>
            <a:ext cx="475488" cy="475488"/>
          </a:xfrm>
          <a:prstGeom prst="ellipse">
            <a:avLst/>
          </a:prstGeom>
          <a:solidFill>
            <a:srgbClr val="27D3EE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483" y="2258934"/>
            <a:ext cx="218724" cy="21872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841029" y="2057400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8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Eye tracking &amp; foveation</a:t>
            </a:r>
            <a:endParaRPr lang="en-US" sz="1280" dirty="0"/>
          </a:p>
        </p:txBody>
      </p:sp>
      <p:sp>
        <p:nvSpPr>
          <p:cNvPr id="27" name="Text 22"/>
          <p:cNvSpPr/>
          <p:nvPr/>
        </p:nvSpPr>
        <p:spPr>
          <a:xfrm>
            <a:off x="8841029" y="2359152"/>
            <a:ext cx="2646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Waveguide-integrated IR gaze, foveated rendering, IPD calibration</a:t>
            </a:r>
            <a:endParaRPr lang="en-US" sz="980" dirty="0"/>
          </a:p>
        </p:txBody>
      </p:sp>
      <p:sp>
        <p:nvSpPr>
          <p:cNvPr id="28" name="Shape 23"/>
          <p:cNvSpPr/>
          <p:nvPr/>
        </p:nvSpPr>
        <p:spPr>
          <a:xfrm>
            <a:off x="566928" y="3035808"/>
            <a:ext cx="351525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31520" y="3227832"/>
            <a:ext cx="475488" cy="475488"/>
          </a:xfrm>
          <a:prstGeom prst="ellipse">
            <a:avLst/>
          </a:prstGeom>
          <a:solidFill>
            <a:srgbClr val="27D3EE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02" y="3356214"/>
            <a:ext cx="218724" cy="21872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98448" y="3154680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8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tracking &amp; gesture</a:t>
            </a:r>
            <a:endParaRPr lang="en-US" sz="1280" dirty="0"/>
          </a:p>
        </p:txBody>
      </p:sp>
      <p:sp>
        <p:nvSpPr>
          <p:cNvPr id="32" name="Text 26"/>
          <p:cNvSpPr/>
          <p:nvPr/>
        </p:nvSpPr>
        <p:spPr>
          <a:xfrm>
            <a:off x="1298448" y="3456432"/>
            <a:ext cx="2646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hand pose, controllers, surface touch typing</a:t>
            </a:r>
            <a:endParaRPr lang="en-US" sz="980" dirty="0"/>
          </a:p>
        </p:txBody>
      </p:sp>
      <p:sp>
        <p:nvSpPr>
          <p:cNvPr id="33" name="Shape 27"/>
          <p:cNvSpPr/>
          <p:nvPr/>
        </p:nvSpPr>
        <p:spPr>
          <a:xfrm>
            <a:off x="4338218" y="3035808"/>
            <a:ext cx="351525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502810" y="3227832"/>
            <a:ext cx="475488" cy="475488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192" y="3356214"/>
            <a:ext cx="218724" cy="21872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069738" y="3154680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8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/ EMG input</a:t>
            </a:r>
            <a:endParaRPr lang="en-US" sz="1280" dirty="0"/>
          </a:p>
        </p:txBody>
      </p:sp>
      <p:sp>
        <p:nvSpPr>
          <p:cNvPr id="37" name="Text 30"/>
          <p:cNvSpPr/>
          <p:nvPr/>
        </p:nvSpPr>
        <p:spPr>
          <a:xfrm>
            <a:off x="5069738" y="3456432"/>
            <a:ext cx="2646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 wrist (Meta Neural Band), biosignal interfaces — newly opened</a:t>
            </a:r>
            <a:endParaRPr lang="en-US" sz="980" dirty="0"/>
          </a:p>
        </p:txBody>
      </p:sp>
      <p:sp>
        <p:nvSpPr>
          <p:cNvPr id="38" name="Shape 31"/>
          <p:cNvSpPr/>
          <p:nvPr/>
        </p:nvSpPr>
        <p:spPr>
          <a:xfrm>
            <a:off x="8109509" y="3035808"/>
            <a:ext cx="351525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274101" y="3227832"/>
            <a:ext cx="475488" cy="475488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2483" y="3356214"/>
            <a:ext cx="218724" cy="21872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841029" y="3154680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8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SLAM &amp; spatial computing</a:t>
            </a:r>
            <a:endParaRPr lang="en-US" sz="1280" dirty="0"/>
          </a:p>
        </p:txBody>
      </p:sp>
      <p:sp>
        <p:nvSpPr>
          <p:cNvPr id="42" name="Text 34"/>
          <p:cNvSpPr/>
          <p:nvPr/>
        </p:nvSpPr>
        <p:spPr>
          <a:xfrm>
            <a:off x="8841029" y="3456432"/>
            <a:ext cx="2646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mapping, persistent anchors, plane detection, relocalization</a:t>
            </a:r>
            <a:endParaRPr lang="en-US" sz="980" dirty="0"/>
          </a:p>
        </p:txBody>
      </p:sp>
      <p:sp>
        <p:nvSpPr>
          <p:cNvPr id="43" name="Shape 35"/>
          <p:cNvSpPr/>
          <p:nvPr/>
        </p:nvSpPr>
        <p:spPr>
          <a:xfrm>
            <a:off x="566928" y="4133088"/>
            <a:ext cx="351525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731520" y="4325112"/>
            <a:ext cx="475488" cy="475488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902" y="4453494"/>
            <a:ext cx="218724" cy="21872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298448" y="4251960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8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Silicon / SoC &amp; compute</a:t>
            </a:r>
            <a:endParaRPr lang="en-US" sz="1280" dirty="0"/>
          </a:p>
        </p:txBody>
      </p:sp>
      <p:sp>
        <p:nvSpPr>
          <p:cNvPr id="47" name="Text 38"/>
          <p:cNvSpPr/>
          <p:nvPr/>
        </p:nvSpPr>
        <p:spPr>
          <a:xfrm>
            <a:off x="1298448" y="4553712"/>
            <a:ext cx="2646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 XR2+/AR1, custom spatial chips, split-compute pucks</a:t>
            </a:r>
            <a:endParaRPr lang="en-US" sz="980" dirty="0"/>
          </a:p>
        </p:txBody>
      </p:sp>
      <p:sp>
        <p:nvSpPr>
          <p:cNvPr id="48" name="Shape 39"/>
          <p:cNvSpPr/>
          <p:nvPr/>
        </p:nvSpPr>
        <p:spPr>
          <a:xfrm>
            <a:off x="4338218" y="4133088"/>
            <a:ext cx="351525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4502810" y="4325112"/>
            <a:ext cx="475488" cy="475488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1192" y="4453494"/>
            <a:ext cx="218724" cy="218724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5069738" y="4251960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8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&amp; thermal</a:t>
            </a:r>
            <a:endParaRPr lang="en-US" sz="1280" dirty="0"/>
          </a:p>
        </p:txBody>
      </p:sp>
      <p:sp>
        <p:nvSpPr>
          <p:cNvPr id="52" name="Text 42"/>
          <p:cNvSpPr/>
          <p:nvPr/>
        </p:nvSpPr>
        <p:spPr>
          <a:xfrm>
            <a:off x="5069738" y="4553712"/>
            <a:ext cx="2646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density, hot-swap/structural batteries, thermal dissipation — open</a:t>
            </a:r>
            <a:endParaRPr lang="en-US" sz="980" dirty="0"/>
          </a:p>
        </p:txBody>
      </p:sp>
      <p:sp>
        <p:nvSpPr>
          <p:cNvPr id="53" name="Shape 43"/>
          <p:cNvSpPr/>
          <p:nvPr/>
        </p:nvSpPr>
        <p:spPr>
          <a:xfrm>
            <a:off x="8109509" y="4133088"/>
            <a:ext cx="351525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8274101" y="4325112"/>
            <a:ext cx="475488" cy="475488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2483" y="4453494"/>
            <a:ext cx="218724" cy="218724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8841029" y="4251960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8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Brightness &amp; efficiency</a:t>
            </a:r>
            <a:endParaRPr lang="en-US" sz="1280" dirty="0"/>
          </a:p>
        </p:txBody>
      </p:sp>
      <p:sp>
        <p:nvSpPr>
          <p:cNvPr id="57" name="Text 46"/>
          <p:cNvSpPr/>
          <p:nvPr/>
        </p:nvSpPr>
        <p:spPr>
          <a:xfrm>
            <a:off x="8841029" y="4553712"/>
            <a:ext cx="2646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nits, waveguide efficiency, eye-glow suppression — open</a:t>
            </a:r>
            <a:endParaRPr lang="en-US" sz="980" dirty="0"/>
          </a:p>
        </p:txBody>
      </p:sp>
      <p:sp>
        <p:nvSpPr>
          <p:cNvPr id="58" name="Shape 47"/>
          <p:cNvSpPr/>
          <p:nvPr/>
        </p:nvSpPr>
        <p:spPr>
          <a:xfrm>
            <a:off x="566928" y="5230368"/>
            <a:ext cx="351525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9" name="Shape 48"/>
          <p:cNvSpPr/>
          <p:nvPr/>
        </p:nvSpPr>
        <p:spPr>
          <a:xfrm>
            <a:off x="731520" y="5422392"/>
            <a:ext cx="475488" cy="475488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902" y="5550774"/>
            <a:ext cx="218724" cy="218724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1298448" y="5349240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8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Vergence-accommodation / depth</a:t>
            </a:r>
            <a:endParaRPr lang="en-US" sz="1280" dirty="0"/>
          </a:p>
        </p:txBody>
      </p:sp>
      <p:sp>
        <p:nvSpPr>
          <p:cNvPr id="62" name="Text 50"/>
          <p:cNvSpPr/>
          <p:nvPr/>
        </p:nvSpPr>
        <p:spPr>
          <a:xfrm>
            <a:off x="1298448" y="5650992"/>
            <a:ext cx="2646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Varifocal, multi-focal, light-field, holographic — largely open</a:t>
            </a:r>
            <a:endParaRPr lang="en-US" sz="980" dirty="0"/>
          </a:p>
        </p:txBody>
      </p:sp>
      <p:sp>
        <p:nvSpPr>
          <p:cNvPr id="63" name="Shape 51"/>
          <p:cNvSpPr/>
          <p:nvPr/>
        </p:nvSpPr>
        <p:spPr>
          <a:xfrm>
            <a:off x="4338218" y="5230368"/>
            <a:ext cx="351525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4" name="Shape 52"/>
          <p:cNvSpPr/>
          <p:nvPr/>
        </p:nvSpPr>
        <p:spPr>
          <a:xfrm>
            <a:off x="4502810" y="5422392"/>
            <a:ext cx="475488" cy="475488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1192" y="5550774"/>
            <a:ext cx="218724" cy="218724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5069738" y="5349240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8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</a:t>
            </a:r>
            <a:endParaRPr lang="en-US" sz="1280" dirty="0"/>
          </a:p>
        </p:txBody>
      </p:sp>
      <p:sp>
        <p:nvSpPr>
          <p:cNvPr id="67" name="Text 54"/>
          <p:cNvSpPr/>
          <p:nvPr/>
        </p:nvSpPr>
        <p:spPr>
          <a:xfrm>
            <a:off x="5069738" y="5650992"/>
            <a:ext cx="2646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Open-ear speakers, bone conduction, gaze-directed / private audio</a:t>
            </a:r>
            <a:endParaRPr lang="en-US" sz="980" dirty="0"/>
          </a:p>
        </p:txBody>
      </p:sp>
      <p:sp>
        <p:nvSpPr>
          <p:cNvPr id="68" name="Shape 55"/>
          <p:cNvSpPr/>
          <p:nvPr/>
        </p:nvSpPr>
        <p:spPr>
          <a:xfrm>
            <a:off x="8109509" y="5230368"/>
            <a:ext cx="351525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9" name="Shape 56"/>
          <p:cNvSpPr/>
          <p:nvPr/>
        </p:nvSpPr>
        <p:spPr>
          <a:xfrm>
            <a:off x="8274101" y="5422392"/>
            <a:ext cx="475488" cy="475488"/>
          </a:xfrm>
          <a:prstGeom prst="ellipse">
            <a:avLst/>
          </a:prstGeom>
          <a:solidFill>
            <a:srgbClr val="27D3EE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2483" y="5550774"/>
            <a:ext cx="218724" cy="218724"/>
          </a:xfrm>
          <a:prstGeom prst="rect">
            <a:avLst/>
          </a:prstGeom>
        </p:spPr>
      </p:pic>
      <p:sp>
        <p:nvSpPr>
          <p:cNvPr id="71" name="Text 57"/>
          <p:cNvSpPr/>
          <p:nvPr/>
        </p:nvSpPr>
        <p:spPr>
          <a:xfrm>
            <a:off x="8841029" y="5349240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8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&amp; multimodal AI</a:t>
            </a:r>
            <a:endParaRPr lang="en-US" sz="1280" dirty="0"/>
          </a:p>
        </p:txBody>
      </p:sp>
      <p:sp>
        <p:nvSpPr>
          <p:cNvPr id="72" name="Text 58"/>
          <p:cNvSpPr/>
          <p:nvPr/>
        </p:nvSpPr>
        <p:spPr>
          <a:xfrm>
            <a:off x="8841029" y="5650992"/>
            <a:ext cx="2646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 (Meta AI, Gemini, Qwen), scene understanding, translation</a:t>
            </a:r>
            <a:endParaRPr lang="en-US" sz="980" dirty="0"/>
          </a:p>
        </p:txBody>
      </p:sp>
      <p:sp>
        <p:nvSpPr>
          <p:cNvPr id="73" name="Text 59"/>
          <p:cNvSpPr/>
          <p:nvPr/>
        </p:nvSpPr>
        <p:spPr>
          <a:xfrm>
            <a:off x="566928" y="64648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is a qualitative synthesis of filing activity across landscape reports — not a precise per-class count.</a:t>
            </a:r>
            <a:endParaRPr lang="en-US" sz="850" dirty="0"/>
          </a:p>
        </p:txBody>
      </p:sp>
      <p:sp>
        <p:nvSpPr>
          <p:cNvPr id="74" name="Text 60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75" name="Text 61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1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&amp; optics — the battleground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532120" cy="4160520"/>
          </a:xfrm>
          <a:prstGeom prst="roundRect">
            <a:avLst>
              <a:gd name="adj" fmla="val 1758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19072"/>
            <a:ext cx="548640" cy="548640"/>
          </a:xfrm>
          <a:prstGeom prst="ellipse">
            <a:avLst/>
          </a:prstGeom>
          <a:solidFill>
            <a:srgbClr val="27D3EE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867205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170078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Waveguide combiner families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9536" y="24140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Diffractive (SRG)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59536" y="26700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Microsoft, Snap/WaveOptics, Dispelix, Vuzix — slim, scalable, but limited efficiency &amp; “eye-glow.”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59536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/ geometric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59536" y="345643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Lumus (US 7,457,040) — partial-mirror array; brighter &amp; color-true, harder to mass-produce.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59536" y="398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Holographic / Bragg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59536" y="424281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DigiLens (US 9,933,684) switchable Bragg gratings; volume holograms.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59536" y="4773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Silicon-carbide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59536" y="50292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Orion (US 2024/0179284) — high refractive index enables ~70° FOV from a single plate.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27648" y="1481328"/>
            <a:ext cx="5297119" cy="4160520"/>
          </a:xfrm>
          <a:prstGeom prst="roundRect">
            <a:avLst>
              <a:gd name="adj" fmla="val 1758"/>
            </a:avLst>
          </a:prstGeom>
          <a:solidFill>
            <a:srgbClr val="0F1230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601968" y="1719072"/>
            <a:ext cx="548640" cy="548640"/>
          </a:xfrm>
          <a:prstGeom prst="ellipse">
            <a:avLst/>
          </a:prstGeom>
          <a:solidFill>
            <a:srgbClr val="171A40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1867205"/>
            <a:ext cx="252374" cy="25237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87768" y="17007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engines / micro-displays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620256" y="241401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microLED (LEDoS)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620256" y="265176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JBD, Mojo Vision, Saphlux, Porotech — highest brightness/efficiency at tiny size; full-color single-panel is the prize.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620256" y="30449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620256" y="3282696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Avegant, Raontech, Omnivision — mature, compact, used in light glasses.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620256" y="36758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micro-OLED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620256" y="391363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— deep blacks; powers Vision Pro &amp; Galaxy XR (dual 3,552×3,840).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620256" y="43068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beam scanning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620256" y="454456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Microvision (US 7,061,450) — RGB MEMS; HoloLens 2 engine.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620256" y="49377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Birdbath / flat-prism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620256" y="517550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XREAL, Brilliant Labs — cheap, wide FOV, but bulkier than waveguides.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566928" y="64648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and exemplar assignees compiled from patent records and supply-chain analyses (TrendForce, KGOnTech).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2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&amp; interaction — the shift to the wrist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503066" cy="3703320"/>
          </a:xfrm>
          <a:prstGeom prst="roundRect">
            <a:avLst>
              <a:gd name="adj" fmla="val 2088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27D3EE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188549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719072"/>
            <a:ext cx="24057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Eye tracking &amp; gaze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2441448"/>
            <a:ext cx="295442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Waveguide-integrated IR tracking (Microsoft US 9,759,913 / 9,759,917).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foveated rendering (render sharp only where you look) — a power lever.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uses gaze as the primary Vision Pro pointer; IPD auto-calibration.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4314" y="1481328"/>
            <a:ext cx="3503066" cy="3703320"/>
          </a:xfrm>
          <a:prstGeom prst="roundRect">
            <a:avLst>
              <a:gd name="adj" fmla="val 2088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0346" y="1737360"/>
            <a:ext cx="548640" cy="548640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479" y="188549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8714" y="1719072"/>
            <a:ext cx="24057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&amp; gesture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18634" y="2441448"/>
            <a:ext cx="295442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hand-pose tracking on Quest &amp; Vision Pro — but fails when hands leave the camera view or in low light.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persist for precision &amp; haptics in VR/gaming.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21701" y="1481328"/>
            <a:ext cx="3503066" cy="3703320"/>
          </a:xfrm>
          <a:prstGeom prst="roundRect">
            <a:avLst>
              <a:gd name="adj" fmla="val 2088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7733" y="1737360"/>
            <a:ext cx="548640" cy="54864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866" y="188549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36101" y="1719072"/>
            <a:ext cx="24057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/ EMG (new)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96021" y="2441448"/>
            <a:ext cx="295442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Neural Band (Sept 2025): surface-EMG wrist reads motor signals before motion is visible; ~238 CTRL-labs patents.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hands-down, in the dark, in public; ~200k research participants; on-device decode.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Rivals: Mudra Link ($199) — alternative biosignal input is open.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66928" y="5367528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0F1230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5522976"/>
            <a:ext cx="530352" cy="530352"/>
          </a:xfrm>
          <a:prstGeom prst="ellipse">
            <a:avLst/>
          </a:prstGeom>
          <a:solidFill>
            <a:srgbClr val="171A40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55" y="5666171"/>
            <a:ext cx="243962" cy="243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81328" y="5449824"/>
            <a:ext cx="98691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 signal: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the second moat after optics. Meta has locked the wrist-EMG lane; calibration-free generalization, non-wrist biosignals, sub-$50 EMG, and haptic-confirmed micro-gestures remain open and acquisition-friendly.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66928" y="64648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identifiers verified on Google Patents/USPTO; Neural Band detail from Meta &amp; Nature 2025 (Kaifosh &amp; Reardon, sEMG neuromotor interface).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3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computing, sensing &amp; on-device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91760" cy="1993392"/>
          </a:xfrm>
          <a:prstGeom prst="roundRect">
            <a:avLst>
              <a:gd name="adj" fmla="val 3670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0784"/>
            <a:ext cx="512064" cy="512064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29" y="1839041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8176" y="1682496"/>
            <a:ext cx="438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SLAM &amp; world understanding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267712"/>
            <a:ext cx="48796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mapping &amp; relocalization (Microsoft US 9,467,920); plane detection; persistent shared anchors.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substrate for stable holograms and multi-user AR — crowded, but quality still varies.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3657600"/>
            <a:ext cx="5391760" cy="1993392"/>
          </a:xfrm>
          <a:prstGeom prst="roundRect">
            <a:avLst>
              <a:gd name="adj" fmla="val 3670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3877056"/>
            <a:ext cx="512064" cy="512064"/>
          </a:xfrm>
          <a:prstGeom prst="ellipse">
            <a:avLst/>
          </a:prstGeom>
          <a:solidFill>
            <a:srgbClr val="27D3EE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29" y="4015313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08176" y="3858768"/>
            <a:ext cx="438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Silicon &amp; compute topology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2960" y="4443984"/>
            <a:ext cx="48796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Qualcomm Snapdragon XR2+/AR1 dominate; XREAL ships a custom X1S spatial chip.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Split-compute (glasses + phone/puck) trades latency &amp; heat for battery — an active design axis.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33008" y="1481328"/>
            <a:ext cx="5391760" cy="1993392"/>
          </a:xfrm>
          <a:prstGeom prst="roundRect">
            <a:avLst>
              <a:gd name="adj" fmla="val 3670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70752" y="1700784"/>
            <a:ext cx="512064" cy="512064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009" y="1839041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74256" y="1682496"/>
            <a:ext cx="438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&amp; multimodal AI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89040" y="2267712"/>
            <a:ext cx="48796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is becoming the product: Meta AI, Gemini (Android XR), Alibaba Qwen run scene understanding, translation, step-by-step guidance.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“camera glasses” (Ray-Ban Meta) outsell display glasses today — a viable wedge with no waveguide at all.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33008" y="3657600"/>
            <a:ext cx="5391760" cy="1993392"/>
          </a:xfrm>
          <a:prstGeom prst="roundRect">
            <a:avLst>
              <a:gd name="adj" fmla="val 3670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0752" y="3877056"/>
            <a:ext cx="512064" cy="512064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009" y="4015313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74256" y="3858768"/>
            <a:ext cx="438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&amp; ambient sensing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89040" y="4443984"/>
            <a:ext cx="48796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Open-ear &amp; bone-conduction audio; gaze-directed private sound.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cameras/mics raise privacy &amp; power questions — see white-space.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BEDROCK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foundational patents — what shaped AR top to bottom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1371600"/>
                <a:gridCol w="1417320"/>
                <a:gridCol w="7863840"/>
              </a:tblGrid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covers · why it is foundational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30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5,467,104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Univ. of Washington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retinal display — scans light directly onto the retina; root of all retinal-projection near-eye displays.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7,457,040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Light-guide optical device (LOE) — partial-mirror reflective waveguide; reference architecture for reflective combiners.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9,063,330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Oculus / Meta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head tracking — forecasts motion to cut latency &amp; judder; made consumer VR comfortable.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9,372,347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Diffractive waveguide — in-couple → fold/exit gratings for pupil expansion; the HoloLens optical blueprint.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9,791,700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Magic Leap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Stacked-waveguide light field — multiple depth planes via DOEs to attack vergence-accommodation conflict.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9,285,589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Osterhout / ODG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See-through head-worn computer — broad early smart-glasses systems IP that fed Microsoft &amp; the industry.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10,203,489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HMD optical system — anchors the Vision Pro pancake-optics continuation family.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9,933,684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DigiLens / SBG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Switchable Bragg-grating waveguide — electrically switchable holographic gratings (HPDLC).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7,061,450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Microvision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Scanned-beam display — RGB laser MEMS retinal scanning; behind the HoloLens 2 laser engine.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8,294,994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Non-parallel-surface image waveguide — Google Glass-era near-eye HUD optics.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648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numbers, assignees &amp; priority data verified on Google Patents/USPTO. “Foundational” reflects architectural influence &amp; forward citations, not a citation ranking.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EDGE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&amp; emerging patents (2023–2026)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73609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554480"/>
                <a:gridCol w="4114800"/>
              </a:tblGrid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 / family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covers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30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2024/0179284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double-sided silicon-carbide diffractive waveguide — enabled Orion’s ~70° FOV from one plate.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2025/0004275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Backlight-free AR via digital holography + U-Net neural net for per-pixel occlusion &amp; selective dimming.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12,140,741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Pancake optical system — Vision Pro family continuation.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11,815,685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Adjustable virtual-image distance + corrective (prescription) lenses for an HMD.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12,085,721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(Japan)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Optical-waveguide detection element — fuses eye-tracking + video light source into one waveguide for miniaturization.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10,838,110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Metasurface optical coupling elements for display waveguides.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D1,042,452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Pro head-mounted display — ornamental design patent.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238-patent 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(CTRL-labs)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Surface-EMG neuromotor input — the IP basis of the Neural Band wrist controller.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189-patent 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Pancake-optics &amp; varifocal stacks — thinner Quest Pro/Quest 3 headsets.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11,448,879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Brilliant Labs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lightweight AR-glasses architecture (Frame).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10728" y="1481328"/>
            <a:ext cx="3514039" cy="4023360"/>
          </a:xfrm>
          <a:prstGeom prst="roundRect">
            <a:avLst>
              <a:gd name="adj" fmla="val 2082"/>
            </a:avLst>
          </a:prstGeom>
          <a:solidFill>
            <a:srgbClr val="0F1230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385048" y="1719072"/>
            <a:ext cx="530352" cy="530352"/>
          </a:xfrm>
          <a:prstGeom prst="ellipse">
            <a:avLst/>
          </a:prstGeom>
          <a:solidFill>
            <a:srgbClr val="171A40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8243" y="1862267"/>
            <a:ext cx="243962" cy="2439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52560" y="17007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2024–26 wave tells you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403336" y="2395728"/>
            <a:ext cx="3011119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materials win FOV — silicon carbide is the breakout (Meta).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&amp; dimming go computational — holography + neural nets (NVIDIA).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correction is now patentable subject matter at the optics layer (Apple).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into the waveguide drives miniaturization.</a:t>
            </a:r>
            <a:endParaRPr lang="en-US" sz="12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moved to the body — EMG is a fresh, defensible layer.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66928" y="64648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20xx/… are published applications, not grants. Family sizes (238 / 189) per PatSnap. Verify exact claim scope before relying on any single record.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CONSTRAINT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“impossible triangle” of AR glasses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417320" y="2148840"/>
            <a:ext cx="1828800" cy="2743200"/>
          </a:xfrm>
          <a:prstGeom prst="line">
            <a:avLst/>
          </a:prstGeom>
          <a:noFill/>
          <a:ln w="28575">
            <a:solidFill>
              <a:srgbClr val="6D4F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46120" y="2148840"/>
            <a:ext cx="1828800" cy="2743200"/>
          </a:xfrm>
          <a:prstGeom prst="line">
            <a:avLst/>
          </a:prstGeom>
          <a:noFill/>
          <a:ln w="28575">
            <a:solidFill>
              <a:srgbClr val="6D4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4892040"/>
            <a:ext cx="3657600" cy="0"/>
          </a:xfrm>
          <a:prstGeom prst="line">
            <a:avLst/>
          </a:prstGeom>
          <a:noFill/>
          <a:ln w="28575">
            <a:solidFill>
              <a:srgbClr val="6D4F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79192" y="1581912"/>
            <a:ext cx="1133856" cy="1133856"/>
          </a:xfrm>
          <a:prstGeom prst="ellipse">
            <a:avLst/>
          </a:prstGeom>
          <a:solidFill>
            <a:srgbClr val="27D3E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79192" y="176479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350" b="1" dirty="0">
                <a:solidFill>
                  <a:srgbClr val="0F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 FOV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79192" y="2221992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50" dirty="0">
                <a:solidFill>
                  <a:srgbClr val="0F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50392" y="4325112"/>
            <a:ext cx="1133856" cy="1133856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" y="450799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350" b="1" dirty="0">
                <a:solidFill>
                  <a:srgbClr val="0F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Slim &amp; light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50392" y="4965192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50" dirty="0">
                <a:solidFill>
                  <a:srgbClr val="0F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all-day wear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07992" y="4325112"/>
            <a:ext cx="1133856" cy="1133856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07992" y="450799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350" b="1" dirty="0">
                <a:solidFill>
                  <a:srgbClr val="0F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&amp; bright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07992" y="4965192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50" dirty="0">
                <a:solidFill>
                  <a:srgbClr val="0F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+ nits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77440" y="3246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14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two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1554480"/>
            <a:ext cx="5223967" cy="1874520"/>
          </a:xfrm>
          <a:prstGeom prst="roundRect">
            <a:avLst>
              <a:gd name="adj" fmla="val 3902"/>
            </a:avLst>
          </a:prstGeom>
          <a:solidFill>
            <a:srgbClr val="1C1F4A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7007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the master problem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2103120"/>
            <a:ext cx="467532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 optical decision trades these three against each other. A slim waveguide loses FOV and efficiency; a wide-FOV birdbath gets bulky; pushing brightness through low-efficiency optics drains the battery and adds heat. No shipping product wins all three at once — that gap is the invention frontier.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3611880"/>
            <a:ext cx="5223967" cy="868680"/>
          </a:xfrm>
          <a:prstGeom prst="roundRect">
            <a:avLst>
              <a:gd name="adj" fmla="val 8421"/>
            </a:avLst>
          </a:prstGeom>
          <a:solidFill>
            <a:srgbClr val="1C1F4A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3922776"/>
            <a:ext cx="237744" cy="237744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6967728" y="37216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Orion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98280" y="3703320"/>
            <a:ext cx="22978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FOV (70°) — needs SiC optics, a wireless compute puck &amp; ~$10k build. Not for sale.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4581144"/>
            <a:ext cx="5223967" cy="868680"/>
          </a:xfrm>
          <a:prstGeom prst="roundRect">
            <a:avLst>
              <a:gd name="adj" fmla="val 8421"/>
            </a:avLst>
          </a:prstGeom>
          <a:solidFill>
            <a:srgbClr val="1C1F4A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29400" y="4892040"/>
            <a:ext cx="237744" cy="23774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6967728" y="46908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Ray-Ban Display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98280" y="4672584"/>
            <a:ext cx="22978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slim &amp; social — but a ~20° monocular HUD, 600×600. $799, ships now.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5550408"/>
            <a:ext cx="5223967" cy="868680"/>
          </a:xfrm>
          <a:prstGeom prst="roundRect">
            <a:avLst>
              <a:gd name="adj" fmla="val 8421"/>
            </a:avLst>
          </a:prstGeom>
          <a:solidFill>
            <a:srgbClr val="1C1F4A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29400" y="5861304"/>
            <a:ext cx="237744" cy="23774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7728" y="566013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 / Galaxy XR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98280" y="5641848"/>
            <a:ext cx="22978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capability &amp; brightness — but bulky headsets, external/short battery.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STILL HARD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biggest unsolved 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515258" cy="1792224"/>
          </a:xfrm>
          <a:prstGeom prst="roundRect">
            <a:avLst>
              <a:gd name="adj" fmla="val 4082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19072"/>
            <a:ext cx="512064" cy="512064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29" y="1857329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8176" y="1700784"/>
            <a:ext cx="1412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FOV vs. form factor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003194" y="17556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9" name="Text 6"/>
          <p:cNvSpPr/>
          <p:nvPr/>
        </p:nvSpPr>
        <p:spPr>
          <a:xfrm>
            <a:off x="3003194" y="17556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22960" y="2359152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waveguides cap near 50°; wide FOV needs bulk or exotic substrates (SiC).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38218" y="1481328"/>
            <a:ext cx="3515258" cy="1792224"/>
          </a:xfrm>
          <a:prstGeom prst="roundRect">
            <a:avLst>
              <a:gd name="adj" fmla="val 4082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5962" y="1719072"/>
            <a:ext cx="512064" cy="512064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220" y="1857329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79466" y="1700784"/>
            <a:ext cx="1412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&amp; thermal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774485" y="17556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6" name="Text 12"/>
          <p:cNvSpPr/>
          <p:nvPr/>
        </p:nvSpPr>
        <p:spPr>
          <a:xfrm>
            <a:off x="6774485" y="17556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594250" y="2359152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+ sensors + projection is power-hungry; all-day glasses need a step change in energy density.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09509" y="1481328"/>
            <a:ext cx="3515258" cy="1792224"/>
          </a:xfrm>
          <a:prstGeom prst="roundRect">
            <a:avLst>
              <a:gd name="adj" fmla="val 4082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47253" y="1719072"/>
            <a:ext cx="512064" cy="512064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510" y="1857329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50757" y="1700784"/>
            <a:ext cx="1412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Brightness outdoors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10545775" y="17556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23" name="Text 18"/>
          <p:cNvSpPr/>
          <p:nvPr/>
        </p:nvSpPr>
        <p:spPr>
          <a:xfrm>
            <a:off x="10545775" y="17556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365541" y="2359152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thousands of nits to the eye through low-efficiency (1–2%) waveguides.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66928" y="3529584"/>
            <a:ext cx="3515258" cy="1792224"/>
          </a:xfrm>
          <a:prstGeom prst="roundRect">
            <a:avLst>
              <a:gd name="adj" fmla="val 4082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4672" y="3767328"/>
            <a:ext cx="512064" cy="512064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29" y="3905585"/>
            <a:ext cx="235549" cy="23554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08176" y="3749040"/>
            <a:ext cx="1412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Vergence-accommodation</a:t>
            </a:r>
            <a:endParaRPr lang="en-US" sz="1450" dirty="0"/>
          </a:p>
        </p:txBody>
      </p:sp>
      <p:sp>
        <p:nvSpPr>
          <p:cNvPr id="29" name="Shape 23"/>
          <p:cNvSpPr/>
          <p:nvPr/>
        </p:nvSpPr>
        <p:spPr>
          <a:xfrm>
            <a:off x="3003194" y="380390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30" name="Text 24"/>
          <p:cNvSpPr/>
          <p:nvPr/>
        </p:nvSpPr>
        <p:spPr>
          <a:xfrm>
            <a:off x="3003194" y="38039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Unsolved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822960" y="4407408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focal plane causes eye strain/nausea; varifocal &amp; light-field still immature.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338218" y="3529584"/>
            <a:ext cx="3515258" cy="1792224"/>
          </a:xfrm>
          <a:prstGeom prst="roundRect">
            <a:avLst>
              <a:gd name="adj" fmla="val 4082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75962" y="3767328"/>
            <a:ext cx="512064" cy="512064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220" y="3905585"/>
            <a:ext cx="235549" cy="235549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179466" y="3749040"/>
            <a:ext cx="1412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Weight, comfort &amp; stigma</a:t>
            </a:r>
            <a:endParaRPr lang="en-US" sz="1450" dirty="0"/>
          </a:p>
        </p:txBody>
      </p:sp>
      <p:sp>
        <p:nvSpPr>
          <p:cNvPr id="36" name="Shape 29"/>
          <p:cNvSpPr/>
          <p:nvPr/>
        </p:nvSpPr>
        <p:spPr>
          <a:xfrm>
            <a:off x="6774485" y="380390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37" name="Text 30"/>
          <p:cNvSpPr/>
          <p:nvPr/>
        </p:nvSpPr>
        <p:spPr>
          <a:xfrm>
            <a:off x="6774485" y="38039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4594250" y="4407408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Sub-50 g all-day comfort, plus the social cost of visible cameras (“glasshole”).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8109509" y="3529584"/>
            <a:ext cx="3515258" cy="1792224"/>
          </a:xfrm>
          <a:prstGeom prst="roundRect">
            <a:avLst>
              <a:gd name="adj" fmla="val 4082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347253" y="3767328"/>
            <a:ext cx="512064" cy="512064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510" y="3905585"/>
            <a:ext cx="235549" cy="235549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950757" y="3749040"/>
            <a:ext cx="1412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&amp; yield</a:t>
            </a:r>
            <a:endParaRPr lang="en-US" sz="1450" dirty="0"/>
          </a:p>
        </p:txBody>
      </p:sp>
      <p:sp>
        <p:nvSpPr>
          <p:cNvPr id="43" name="Shape 35"/>
          <p:cNvSpPr/>
          <p:nvPr/>
        </p:nvSpPr>
        <p:spPr>
          <a:xfrm>
            <a:off x="10545775" y="380390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44" name="Text 36"/>
          <p:cNvSpPr/>
          <p:nvPr/>
        </p:nvSpPr>
        <p:spPr>
          <a:xfrm>
            <a:off x="10545775" y="38039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8365541" y="4407408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Waveguides are expensive &amp; low-yield; microLED full-color panels are not yet cheap at scale.</a:t>
            </a:r>
            <a:endParaRPr lang="en-US" sz="1150" dirty="0"/>
          </a:p>
        </p:txBody>
      </p:sp>
      <p:sp>
        <p:nvSpPr>
          <p:cNvPr id="46" name="Text 38"/>
          <p:cNvSpPr/>
          <p:nvPr/>
        </p:nvSpPr>
        <p:spPr>
          <a:xfrm>
            <a:off x="566928" y="64648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two cross-cutting hard problems carried into white-space: hard-edge optical occlusion and motion-to-photon latency.</a:t>
            </a:r>
            <a:endParaRPr lang="en-US" sz="850" dirty="0"/>
          </a:p>
        </p:txBody>
      </p:sp>
      <p:sp>
        <p:nvSpPr>
          <p:cNvPr id="47" name="Text 39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48" name="Text 40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INVENT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white-space map — crowding vs.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9848" y="1618488"/>
            <a:ext cx="7315200" cy="3886200"/>
          </a:xfrm>
          <a:prstGeom prst="rect">
            <a:avLst/>
          </a:prstGeom>
          <a:solidFill>
            <a:srgbClr val="F5F6FB"/>
          </a:solidFill>
          <a:ln w="12700">
            <a:solidFill>
              <a:srgbClr val="E3E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7448" y="1618488"/>
            <a:ext cx="0" cy="3886200"/>
          </a:xfrm>
          <a:prstGeom prst="line">
            <a:avLst/>
          </a:prstGeom>
          <a:noFill/>
          <a:ln w="12700">
            <a:solidFill>
              <a:srgbClr val="CDD3E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69848" y="3561588"/>
            <a:ext cx="7315200" cy="0"/>
          </a:xfrm>
          <a:prstGeom prst="line">
            <a:avLst/>
          </a:prstGeom>
          <a:noFill/>
          <a:ln w="12700">
            <a:solidFill>
              <a:srgbClr val="CDD3E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069848" y="5550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CROWDING  →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5568" y="5550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24928" y="5550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 rot="16200000">
            <a:off x="-1078992" y="34244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 IMPACT  →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143000" y="1691640"/>
            <a:ext cx="3511296" cy="1796796"/>
          </a:xfrm>
          <a:prstGeom prst="roundRect">
            <a:avLst>
              <a:gd name="adj" fmla="val 3053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252728" y="1764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ZONE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48840" y="1915668"/>
            <a:ext cx="182880" cy="182880"/>
          </a:xfrm>
          <a:prstGeom prst="ellipse">
            <a:avLst/>
          </a:prstGeom>
          <a:solidFill>
            <a:srgbClr val="FBBF2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86584" y="18608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Hard-edge occlusion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3172968" y="2226564"/>
            <a:ext cx="182880" cy="182880"/>
          </a:xfrm>
          <a:prstGeom prst="ellipse">
            <a:avLst/>
          </a:prstGeom>
          <a:solidFill>
            <a:srgbClr val="FBBF2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21717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varifocal / VAC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4050792" y="1721358"/>
            <a:ext cx="182880" cy="182880"/>
          </a:xfrm>
          <a:prstGeom prst="ellipse">
            <a:avLst/>
          </a:prstGeom>
          <a:solidFill>
            <a:srgbClr val="FBBF2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88536" y="166649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All-day thermal &amp; power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880360" y="2848356"/>
            <a:ext cx="182880" cy="182880"/>
          </a:xfrm>
          <a:prstGeom prst="ellipse">
            <a:avLst/>
          </a:prstGeom>
          <a:solidFill>
            <a:srgbClr val="FBBF2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18104" y="27934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Rx-integrated optics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2441448" y="3081528"/>
            <a:ext cx="182880" cy="182880"/>
          </a:xfrm>
          <a:prstGeom prst="ellipse">
            <a:avLst/>
          </a:prstGeom>
          <a:solidFill>
            <a:srgbClr val="FBBF2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9192" y="30266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Alt. neural / biosignal input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2002536" y="3625596"/>
            <a:ext cx="182880" cy="182880"/>
          </a:xfrm>
          <a:prstGeom prst="ellipse">
            <a:avLst/>
          </a:prstGeom>
          <a:solidFill>
            <a:srgbClr val="9B7DF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0280" y="35707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sensing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5513832" y="2615184"/>
            <a:ext cx="182880" cy="182880"/>
          </a:xfrm>
          <a:prstGeom prst="ellipse">
            <a:avLst/>
          </a:prstGeom>
          <a:solidFill>
            <a:srgbClr val="9B7DF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2560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Eye-glow / WG efficiency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830568" y="1837944"/>
            <a:ext cx="182880" cy="182880"/>
          </a:xfrm>
          <a:prstGeom prst="ellipse">
            <a:avLst/>
          </a:prstGeom>
          <a:solidFill>
            <a:srgbClr val="0E749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17830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Full-color 1-panel microLED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7708392" y="2109978"/>
            <a:ext cx="182880" cy="182880"/>
          </a:xfrm>
          <a:prstGeom prst="ellipse">
            <a:avLst/>
          </a:prstGeom>
          <a:solidFill>
            <a:srgbClr val="6B72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9552" y="205511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Diffractive waveguides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684264" y="3470148"/>
            <a:ext cx="182880" cy="182880"/>
          </a:xfrm>
          <a:prstGeom prst="ellipse">
            <a:avLst/>
          </a:prstGeom>
          <a:solidFill>
            <a:srgbClr val="6B72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35424" y="34152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/ anchors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8796528" y="1481328"/>
            <a:ext cx="2828239" cy="4160520"/>
          </a:xfrm>
          <a:prstGeom prst="roundRect">
            <a:avLst>
              <a:gd name="adj" fmla="val 2586"/>
            </a:avLst>
          </a:prstGeom>
          <a:solidFill>
            <a:srgbClr val="0F1230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070848" y="1719072"/>
            <a:ext cx="530352" cy="530352"/>
          </a:xfrm>
          <a:prstGeom prst="ellipse">
            <a:avLst/>
          </a:prstGeom>
          <a:solidFill>
            <a:srgbClr val="171A40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4043" y="1862267"/>
            <a:ext cx="243962" cy="243962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9738360" y="17007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it</a:t>
            </a:r>
            <a:endParaRPr lang="en-US" sz="1550" dirty="0"/>
          </a:p>
        </p:txBody>
      </p:sp>
      <p:sp>
        <p:nvSpPr>
          <p:cNvPr id="37" name="Text 34"/>
          <p:cNvSpPr/>
          <p:nvPr/>
        </p:nvSpPr>
        <p:spPr>
          <a:xfrm>
            <a:off x="9089136" y="2395728"/>
            <a:ext cx="232531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zone (top-left): high impact, still-open IP — occlusion, varifocal/VAC, thermal &amp; power, prescription optics, alternative input.</a:t>
            </a:r>
            <a:endParaRPr lang="en-US" sz="1200" dirty="0"/>
          </a:p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is high-impact but crowded — microLED &amp; diffractive waveguides. Enter only with a sharp, novel sub-claim or a license.</a:t>
            </a:r>
            <a:endParaRPr lang="en-US" sz="120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Bottom-right (SLAM/anchors) is crowded and commoditizing — weakest ROI for a new filer.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66928" y="64648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are an analyst assessment of relative crowding &amp; commercial impact — a prioritization aid, not a measured coordinate.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SHORTLIST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white-space bets worth a patent program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91760" cy="128016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0784"/>
            <a:ext cx="457200" cy="45720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9888" y="1664208"/>
            <a:ext cx="438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Hard-edge optical occlusion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2048256"/>
            <a:ext cx="436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virtual objects truly block real light — per-pixel LC / electrochromic dimmers, occlusion-capable waveguides. Only NVIDIA’s holographic approach is early; field wide open.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3008" y="1481328"/>
            <a:ext cx="5391760" cy="128016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0752" y="1700784"/>
            <a:ext cx="457200" cy="45720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7075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55968" y="1664208"/>
            <a:ext cx="438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Compact, low-power varifocal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55968" y="2048256"/>
            <a:ext cx="436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vergence-accommodation without bulk — LC lens stacks, metasurface focal control, single-layer focal-free optics. Meta leads pancake-varifocal; metasurface VAC is open.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999232"/>
            <a:ext cx="5391760" cy="128016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218688"/>
            <a:ext cx="457200" cy="45720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89888" y="3182112"/>
            <a:ext cx="438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All-day thermal &amp; power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89888" y="3566160"/>
            <a:ext cx="436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Energy-dense / structural batteries, sub-milliwatt display drive, smart compute-offload, motion-to-photon reduction. The gating constraint for true glasses.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3008" y="2999232"/>
            <a:ext cx="5391760" cy="128016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0752" y="3218688"/>
            <a:ext cx="457200" cy="45720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70752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55968" y="3182112"/>
            <a:ext cx="438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Prescription-integrated optics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55968" y="3566160"/>
            <a:ext cx="436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correction co-designed with the combiner — adjustable / liquid-crystal Rx. Big-tech portfolios are thin here and it is consumer-critical (most adults need correction).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517136"/>
            <a:ext cx="5391760" cy="128016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736592"/>
            <a:ext cx="457200" cy="45720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4672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89888" y="4700016"/>
            <a:ext cx="438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 neural / biosignal input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89888" y="5084064"/>
            <a:ext cx="436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owns sEMG-wrist (238 patents). Open: calibration-free generalization, non-wrist biosignals, sub-$50 EMG, haptic-confirmed micro-gestures (cf. Mudra Link $199).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3008" y="4517136"/>
            <a:ext cx="5391760" cy="128016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70752" y="4736592"/>
            <a:ext cx="457200" cy="45720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70752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55968" y="4700016"/>
            <a:ext cx="438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Privacy-preserving always-on sensing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55968" y="5084064"/>
            <a:ext cx="436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redaction, hardware capture indicators, consent signaling. A regulatory + patent gap as cameras/mics go always-on (GDPR friction).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BUILDING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startup &amp; specialist ecosystem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503066" cy="3063240"/>
          </a:xfrm>
          <a:prstGeom prst="roundRect">
            <a:avLst>
              <a:gd name="adj" fmla="val 2388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0784"/>
            <a:ext cx="512064" cy="512064"/>
          </a:xfrm>
          <a:prstGeom prst="ellipse">
            <a:avLst/>
          </a:prstGeom>
          <a:solidFill>
            <a:srgbClr val="27D3EE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29" y="1839041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8176" y="1682496"/>
            <a:ext cx="24972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Optics &amp; display enablers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304288"/>
            <a:ext cx="299100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Lumus — reflective waveguides (supply Meta/Google per reports)</a:t>
            </a:r>
            <a:endParaRPr lang="en-US" sz="1130" dirty="0"/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DigiLens — switchable Bragg-grating waveguides</a:t>
            </a:r>
            <a:endParaRPr lang="en-US" sz="1130" dirty="0"/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WaveOptics — diffractive (acquired by Snap)</a:t>
            </a:r>
            <a:endParaRPr lang="en-US" sz="1130" dirty="0"/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Avegant — tiny LCoS/LED light engines</a:t>
            </a:r>
            <a:endParaRPr lang="en-US" sz="1130" dirty="0"/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Mojo Vision — high-density microLED panels</a:t>
            </a:r>
            <a:endParaRPr lang="en-US" sz="1130" dirty="0"/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JBD / Saphlux / Porotech — microLED suppliers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4344314" y="1481328"/>
            <a:ext cx="3503066" cy="3063240"/>
          </a:xfrm>
          <a:prstGeom prst="roundRect">
            <a:avLst>
              <a:gd name="adj" fmla="val 2388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2058" y="1700784"/>
            <a:ext cx="512064" cy="512064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316" y="1839041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85562" y="1682496"/>
            <a:ext cx="24972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AI / AR glasses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00346" y="2304288"/>
            <a:ext cx="299100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XREAL — birdbath; Google Android XR lead HW partner</a:t>
            </a:r>
            <a:endParaRPr lang="en-US" sz="1130" dirty="0"/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Rokid — AI glasses; record XR crowdfund</a:t>
            </a:r>
            <a:endParaRPr lang="en-US" sz="1130" dirty="0"/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Realities — ~43 g HUD, no camera, Rx-ready</a:t>
            </a:r>
            <a:endParaRPr lang="en-US" sz="1130" dirty="0"/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 Labs — open-source Frame (~40 g)</a:t>
            </a:r>
            <a:endParaRPr lang="en-US" sz="1130" dirty="0"/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RayNeo (TCL) · INMO · Thunderbird — China cohort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8121701" y="1481328"/>
            <a:ext cx="3503066" cy="3063240"/>
          </a:xfrm>
          <a:prstGeom prst="roundRect">
            <a:avLst>
              <a:gd name="adj" fmla="val 2388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9445" y="1700784"/>
            <a:ext cx="512064" cy="512064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702" y="1839041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2949" y="1682496"/>
            <a:ext cx="24972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&amp; specialists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77733" y="2304288"/>
            <a:ext cx="299100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Leap — waveguide mfg + Android XR pivot</a:t>
            </a:r>
            <a:endParaRPr lang="en-US" sz="1130" dirty="0"/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Vuzix — diffractive + microLED, enterprise</a:t>
            </a:r>
            <a:endParaRPr lang="en-US" sz="1130" dirty="0"/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Varjo — “human-eye” resolution MR for sim/enterprise</a:t>
            </a:r>
            <a:endParaRPr lang="en-US" sz="1130" dirty="0"/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Five — tabletop AR gaming</a:t>
            </a:r>
            <a:endParaRPr lang="en-US" sz="1130" dirty="0"/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Solos — smart eyewear; claims 100+ patents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566928" y="4727448"/>
            <a:ext cx="2613584" cy="914400"/>
          </a:xfrm>
          <a:prstGeom prst="roundRect">
            <a:avLst>
              <a:gd name="adj" fmla="val 8000"/>
            </a:avLst>
          </a:prstGeom>
          <a:solidFill>
            <a:srgbClr val="0F1230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68096" y="4846320"/>
            <a:ext cx="224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XREAL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68096" y="5184648"/>
            <a:ext cx="224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$433m raised · ~$1bn valuation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381680" y="4727448"/>
            <a:ext cx="2613584" cy="914400"/>
          </a:xfrm>
          <a:prstGeom prst="roundRect">
            <a:avLst>
              <a:gd name="adj" fmla="val 8000"/>
            </a:avLst>
          </a:prstGeom>
          <a:solidFill>
            <a:srgbClr val="0F1230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3582848" y="4846320"/>
            <a:ext cx="224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7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Rokid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3582848" y="5184648"/>
            <a:ext cx="224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$228m raised · ~$1bn · $4m crowdfund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196432" y="4727448"/>
            <a:ext cx="2613584" cy="914400"/>
          </a:xfrm>
          <a:prstGeom prst="roundRect">
            <a:avLst>
              <a:gd name="adj" fmla="val 8000"/>
            </a:avLst>
          </a:prstGeom>
          <a:solidFill>
            <a:srgbClr val="0F1230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397600" y="4846320"/>
            <a:ext cx="224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Magic Leap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397600" y="5184648"/>
            <a:ext cx="224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~3,800 patents · ~1,903 pledged to JPMorgan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9011183" y="4727448"/>
            <a:ext cx="2613584" cy="914400"/>
          </a:xfrm>
          <a:prstGeom prst="roundRect">
            <a:avLst>
              <a:gd name="adj" fmla="val 8000"/>
            </a:avLst>
          </a:prstGeom>
          <a:solidFill>
            <a:srgbClr val="0F1230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9212351" y="4846320"/>
            <a:ext cx="224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9212351" y="5184648"/>
            <a:ext cx="224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pending AR/VR applications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566928" y="64648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portfolio figures: Crunchbase, Bloomberg, PRNewswire, company statements (2025–26). Supply relationships per industry reporting.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PLAYER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solving what — and their IP signal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3246120"/>
                <a:gridCol w="3611880"/>
              </a:tblGrid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technology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it solves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/ funding 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30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XREAL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Birdbath / flat-prism micro-OLED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Wide-FOV AR at low cost, 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$433m raised; X1S chip; Android XR lead HW partner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microLED waveguide + on-device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(49 g) AI glasses with open SDK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$228m; record $4m XR crowdfund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 Realities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Discreet monochrome HUD, no camera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Socially invisible glasses for text/translation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~43 g; prescription-compatible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Reflective (geometric) waveguides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Bright, color-true combiners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7,457,040; Crystal-Optech stake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DigiLens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Switchable Bragg-grating waveguides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Low-cost holographic waveguides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9,933,684; Mojo microLED partner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Mojo Vision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High-density red / RGB microLED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Brightness &amp; efficiency at glasses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Pivoted from AR contact lens to panels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Magic Leap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 diffractive waveguides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Depth-plane AR; waveguide manufacturing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~3,800 patents; licensing &amp; Android XR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Varjo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Dual-display “human-eye” resolution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simulation &amp; design fidelity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High-end MR; defense/industrial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sensing + beamforming audio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Smart-eyewear sensing &amp; private audio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100+ patents; suing Meta (2026)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Brilliant Labs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birdbath +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Hackable, developer-first AR glasses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11,448,879; ~40 g Frame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648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focus &amp; problem framing from product materials and patent filings; signals from public funding/IP disclosures.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CUTTING EDGE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inventions emerging right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03066" cy="2057400"/>
          </a:xfrm>
          <a:prstGeom prst="roundRect">
            <a:avLst>
              <a:gd name="adj" fmla="val 3556"/>
            </a:avLst>
          </a:prstGeom>
          <a:solidFill>
            <a:srgbClr val="1C1F4A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92224"/>
            <a:ext cx="512064" cy="512064"/>
          </a:xfrm>
          <a:prstGeom prst="ellipse">
            <a:avLst/>
          </a:prstGeom>
          <a:solidFill>
            <a:srgbClr val="27D3EE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29" y="1930481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8176" y="1755648"/>
            <a:ext cx="24789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Silicon-carbide single-layer waveguides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414016"/>
            <a:ext cx="299100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Orion uses a high-index SiC plate + slant-etched gratings to hit ~70° FOV without the rainbow stray-light of stacked glass — a new materials frontier the supply chain is now chasing.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4344314" y="1572768"/>
            <a:ext cx="3503066" cy="2057400"/>
          </a:xfrm>
          <a:prstGeom prst="roundRect">
            <a:avLst>
              <a:gd name="adj" fmla="val 3556"/>
            </a:avLst>
          </a:prstGeom>
          <a:solidFill>
            <a:srgbClr val="1C1F4A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2058" y="1792224"/>
            <a:ext cx="512064" cy="512064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316" y="1930481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85562" y="1755648"/>
            <a:ext cx="24789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Backlight-free holographic occlusion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00346" y="2414016"/>
            <a:ext cx="299100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NVIDIA’s digital-holography stack (US 2025/0004275) uses a spatial light modulator + neural net to dim or occlude per-pixel — attacking occlusion and power at once.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8121701" y="1572768"/>
            <a:ext cx="3503066" cy="2057400"/>
          </a:xfrm>
          <a:prstGeom prst="roundRect">
            <a:avLst>
              <a:gd name="adj" fmla="val 3556"/>
            </a:avLst>
          </a:prstGeom>
          <a:solidFill>
            <a:srgbClr val="1C1F4A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9445" y="1792224"/>
            <a:ext cx="512064" cy="512064"/>
          </a:xfrm>
          <a:prstGeom prst="ellipse">
            <a:avLst/>
          </a:prstGeom>
          <a:solidFill>
            <a:srgbClr val="9B7DF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702" y="1930481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2949" y="1755648"/>
            <a:ext cx="24789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Non-invasive neuromotor input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77733" y="2414016"/>
            <a:ext cx="299100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Meta’s sEMG Neural Band reads motor intent at the wrist (Nature 2025) — input without cameras, in the dark, in public. The first mainstream neural interface.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566928" y="3904488"/>
            <a:ext cx="3503066" cy="2057400"/>
          </a:xfrm>
          <a:prstGeom prst="roundRect">
            <a:avLst>
              <a:gd name="adj" fmla="val 3556"/>
            </a:avLst>
          </a:prstGeom>
          <a:solidFill>
            <a:srgbClr val="1C1F4A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123944"/>
            <a:ext cx="512064" cy="512064"/>
          </a:xfrm>
          <a:prstGeom prst="ellipse">
            <a:avLst/>
          </a:prstGeom>
          <a:solidFill>
            <a:srgbClr val="27D3EE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29" y="4262201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08176" y="4087368"/>
            <a:ext cx="24789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Full-color single-panel microLED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22960" y="4745736"/>
            <a:ext cx="299100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JBD/Mojo/Saphlux are racing to one RGB panel at high lumens-per-watt — the component that would unlock bright, slim, all-day glasses.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4344314" y="3904488"/>
            <a:ext cx="3503066" cy="2057400"/>
          </a:xfrm>
          <a:prstGeom prst="roundRect">
            <a:avLst>
              <a:gd name="adj" fmla="val 3556"/>
            </a:avLst>
          </a:prstGeom>
          <a:solidFill>
            <a:srgbClr val="1C1F4A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2058" y="4123944"/>
            <a:ext cx="512064" cy="512064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316" y="4262201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85562" y="4087368"/>
            <a:ext cx="24789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Metasurface &amp; focal-free optics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00346" y="4745736"/>
            <a:ext cx="299100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metasurface lenses and single-layer focal-free designs aim to fix vergence-accommodation and shrink the optical stack — still mostly in academia.</a:t>
            </a:r>
            <a:endParaRPr lang="en-US" sz="1130" dirty="0"/>
          </a:p>
        </p:txBody>
      </p:sp>
      <p:sp>
        <p:nvSpPr>
          <p:cNvPr id="29" name="Shape 22"/>
          <p:cNvSpPr/>
          <p:nvPr/>
        </p:nvSpPr>
        <p:spPr>
          <a:xfrm>
            <a:off x="8121701" y="3904488"/>
            <a:ext cx="3503066" cy="2057400"/>
          </a:xfrm>
          <a:prstGeom prst="roundRect">
            <a:avLst>
              <a:gd name="adj" fmla="val 3556"/>
            </a:avLst>
          </a:prstGeom>
          <a:solidFill>
            <a:srgbClr val="1C1F4A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9445" y="4123944"/>
            <a:ext cx="512064" cy="512064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7702" y="4262201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2949" y="4087368"/>
            <a:ext cx="24789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 “glasses without a display”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77733" y="4745736"/>
            <a:ext cx="299100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Ray-Ban Meta shows the assistant can be the product: camera + mic + voice + on-device AI, no waveguide — the fastest-selling category today.</a:t>
            </a:r>
            <a:endParaRPr lang="en-US" sz="1130" dirty="0"/>
          </a:p>
        </p:txBody>
      </p:sp>
      <p:sp>
        <p:nvSpPr>
          <p:cNvPr id="34" name="Text 26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THE MINEFIELD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risk: litigation &amp; freedom-to-operate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69037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371600"/>
                <a:gridCol w="36576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Immersion v. Meta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Haptics in Quest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patents; settled w/ license (Feb 2024); 2nd suit on Quest 3.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Mullen v. Meta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patents vs. Quest; Meta won a stay pending PTAB review.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 v. Magic Leap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eyewear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Dismissed with prejudice (Mar 2025) — likely settlement.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IngenioSpec (NPE)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Sensored eyewear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72-patent portfolio; ITC actions; settled with Meta.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D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Solos v. Meta + Luxottica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eyewear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patents (Jan 2026); seeks damages “in the multiple billions.”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138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NPE-led XR litigation is rising; E.D. Texas &amp; the ITC remain favored venues.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699248" y="1481328"/>
            <a:ext cx="3925519" cy="3703320"/>
          </a:xfrm>
          <a:prstGeom prst="roundRect">
            <a:avLst>
              <a:gd name="adj" fmla="val 1975"/>
            </a:avLst>
          </a:prstGeom>
          <a:solidFill>
            <a:srgbClr val="0F1230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73568" y="1719072"/>
            <a:ext cx="530352" cy="530352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6763" y="1862267"/>
            <a:ext cx="243962" cy="2439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41080" y="17007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Freedom-to-operate watch-list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991856" y="2377440"/>
            <a:ext cx="34225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these (or license) before commercializing waveguide optics: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991856" y="2898648"/>
            <a:ext cx="346831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7,457,040 — Lumus reflective waveguide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9,372,347 — Microsoft diffractive waveguide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9,791,700 — Magic Leap stacked light-field</a:t>
            </a:r>
            <a:endParaRPr lang="en-US" sz="11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15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HMD optics family (US 10,203,489 + continuations)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991856" y="4681728"/>
            <a:ext cx="34683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note: foundational optics IP is partly tradeable — licensing is realistic.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4648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Litigation summaries from public dockets &amp; reporting (Bloomberg Law, TechCrunch, court filings). Not legal advice — obtain formal FTO counsel.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6D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THIS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 for the inventor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91760" cy="1298448"/>
          </a:xfrm>
          <a:prstGeom prst="roundRect">
            <a:avLst>
              <a:gd name="adj" fmla="val 5634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0784"/>
            <a:ext cx="457200" cy="457200"/>
          </a:xfrm>
          <a:prstGeom prst="ellipse">
            <a:avLst/>
          </a:prstGeom>
          <a:solidFill>
            <a:srgbClr val="6D4FD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9888" y="1645920"/>
            <a:ext cx="436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at the impossible-triangle trade-offs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89888" y="2029968"/>
            <a:ext cx="436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filings on (a) occlusion-capable &amp; selectively-dimming optics, (b) compact low-power varifocal / VAC fixes, (c) high-efficiency full-color microLED + low-eye-glow waveguides. Highest value-per-claim.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3008" y="1481328"/>
            <a:ext cx="5391760" cy="1298448"/>
          </a:xfrm>
          <a:prstGeom prst="roundRect">
            <a:avLst>
              <a:gd name="adj" fmla="val 5634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0752" y="1700784"/>
            <a:ext cx="457200" cy="457200"/>
          </a:xfrm>
          <a:prstGeom prst="ellipse">
            <a:avLst/>
          </a:prstGeom>
          <a:solidFill>
            <a:srgbClr val="6D4FD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7075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55968" y="1645920"/>
            <a:ext cx="436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 the input layer early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55968" y="2029968"/>
            <a:ext cx="436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has a ~238-patent EMG head start. Differentiate on calibration-free generalization, non-wrist biosignals, low-cost EMG, and haptic-confirmed micro-gestures.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999232"/>
            <a:ext cx="5391760" cy="1298448"/>
          </a:xfrm>
          <a:prstGeom prst="roundRect">
            <a:avLst>
              <a:gd name="adj" fmla="val 5634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218688"/>
            <a:ext cx="457200" cy="457200"/>
          </a:xfrm>
          <a:prstGeom prst="ellipse">
            <a:avLst/>
          </a:prstGeom>
          <a:solidFill>
            <a:srgbClr val="6D4FD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89888" y="3163824"/>
            <a:ext cx="436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prescription + sub-40 g comfort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89888" y="3547872"/>
            <a:ext cx="436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IP where big-tech portfolios are thin and consumers are unavoidable — Rx-integrated combiners and all-day-comfort ergonomics (the Even Realities / Ray-Ban Display zone).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3008" y="2999232"/>
            <a:ext cx="5391760" cy="1298448"/>
          </a:xfrm>
          <a:prstGeom prst="roundRect">
            <a:avLst>
              <a:gd name="adj" fmla="val 5634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0752" y="3218688"/>
            <a:ext cx="457200" cy="457200"/>
          </a:xfrm>
          <a:prstGeom prst="ellipse">
            <a:avLst/>
          </a:prstGeom>
          <a:solidFill>
            <a:srgbClr val="6D4FD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70752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55968" y="3163824"/>
            <a:ext cx="436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FTO before you build optics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55968" y="3547872"/>
            <a:ext cx="436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or license US 7,457,040 (Lumus), US 9,372,347 (Microsoft), US 9,791,700 (Magic Leap) and Apple’s optics family. Treat foundational optics IP as licensable, not impassable.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517136"/>
            <a:ext cx="5391760" cy="1298448"/>
          </a:xfrm>
          <a:prstGeom prst="roundRect">
            <a:avLst>
              <a:gd name="adj" fmla="val 5634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736592"/>
            <a:ext cx="457200" cy="457200"/>
          </a:xfrm>
          <a:prstGeom prst="ellipse">
            <a:avLst/>
          </a:prstGeom>
          <a:solidFill>
            <a:srgbClr val="6D4FD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4672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89888" y="4681728"/>
            <a:ext cx="436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US + CN + KR + JP + EP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89888" y="5065776"/>
            <a:ext cx="436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US-only filing leaves the fastest-growing market (China, ~56% CAGR) and the display heartland (KR/JP) open. Match the geography to where the market and the supply chain are.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3008" y="4517136"/>
            <a:ext cx="5391760" cy="1298448"/>
          </a:xfrm>
          <a:prstGeom prst="roundRect">
            <a:avLst>
              <a:gd name="adj" fmla="val 5634"/>
            </a:avLst>
          </a:prstGeom>
          <a:solidFill>
            <a:srgbClr val="F5F6FB"/>
          </a:solidFill>
          <a:ln w="9525">
            <a:solidFill>
              <a:srgbClr val="E3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70752" y="4736592"/>
            <a:ext cx="457200" cy="457200"/>
          </a:xfrm>
          <a:prstGeom prst="ellipse">
            <a:avLst/>
          </a:prstGeom>
          <a:solidFill>
            <a:srgbClr val="6D4FD6"/>
          </a:solidFill>
          <a:ln/>
          <a:effectLst>
            <a:outerShdw sx="100000" sy="100000" kx="0" ky="0" algn="bl" rotWithShape="0" blurRad="114300" dist="38100" dir="16200000">
              <a:srgbClr val="00000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70752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55968" y="4681728"/>
            <a:ext cx="436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1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trigger thresholds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055968" y="5065776"/>
            <a:ext cx="436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Re-prioritize when a shipping device hits &gt;50° FOV at &lt;40 g with all-day battery, or single-panel full-color microLED reaches yield — either event shifts the center of gravity.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277295" y="6464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985455" y="6464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HMD PATENT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657600" cy="3657600"/>
          </a:xfrm>
          <a:prstGeom prst="ellipse">
            <a:avLst/>
          </a:prstGeom>
          <a:ln w="15240">
            <a:solidFill>
              <a:srgbClr val="27D3E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868680"/>
            <a:ext cx="2651760" cy="2651760"/>
          </a:xfrm>
          <a:prstGeom prst="ellipse">
            <a:avLst/>
          </a:prstGeom>
          <a:ln w="15240">
            <a:solidFill>
              <a:srgbClr val="9B7DF6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1371600"/>
            <a:ext cx="1645920" cy="1645920"/>
          </a:xfrm>
          <a:prstGeom prst="ellipse">
            <a:avLst/>
          </a:prstGeom>
          <a:ln w="15240">
            <a:solidFill>
              <a:srgbClr val="27D3E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93976" y="1956816"/>
            <a:ext cx="475488" cy="475488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234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the optics and the input — the apps follow.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572000" y="2880360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AR/HMD patent estate is large, compounding, and concentrated in a handful of optics &amp; display holders. The defensible invention frontier is the hard physics nobody has shipped: hard-edge occlusion, vergence-accommodation, all-day power, prescription optics, and the newly opened neural-input layer. Build a sharp, well-claimed cluster there — in the right jurisdictions — and you are both protected and acquisition-ready.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0" y="4617720"/>
            <a:ext cx="6858000" cy="0"/>
          </a:xfrm>
          <a:prstGeom prst="line">
            <a:avLst/>
          </a:prstGeom>
          <a:noFill/>
          <a:ln w="12700">
            <a:solidFill>
              <a:srgbClr val="3A3F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47548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read: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records examined directly (verified on Google Patents / USPTO) over a synthesized landscape of 140,000+ patents and 67,000+ families.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544068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LexisNexis IPlytics · GlobalData · Vitek IP · Finnegan · PatSnap · Sagacious IP · IFI Claims · IDC · TrendForce · company filings &amp; primary patent records. Counts vary by methodology; recent years understated by publication lag. Not legal advice — obtain formal FTO/patentability opinions before filing or commercializing.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0" y="632764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5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Glasses &amp; Head-Mounted Display Patent Landscape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 Glasses &amp; HMD Patent Landscape</dc:title>
  <dc:subject>PptxGenJS Presentation</dc:subject>
  <dc:creator>Patent Landscape Analysis</dc:creator>
  <cp:lastModifiedBy>Patent Landscape Analysis</cp:lastModifiedBy>
  <cp:revision>1</cp:revision>
  <dcterms:created xsi:type="dcterms:W3CDTF">2026-06-23T05:00:55Z</dcterms:created>
  <dcterms:modified xsi:type="dcterms:W3CDTF">2026-06-23T05:00:55Z</dcterms:modified>
</cp:coreProperties>
</file>