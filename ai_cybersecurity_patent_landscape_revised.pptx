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82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</c:v>
                  </c:pt>
                  <c:pt idx="1">
                    <c:v>EP</c:v>
                  </c:pt>
                  <c:pt idx="2">
                    <c:v>WO</c:v>
                  </c:pt>
                  <c:pt idx="3">
                    <c:v>CN</c:v>
                  </c:pt>
                  <c:pt idx="4">
                    <c:v>IN</c:v>
                  </c:pt>
                  <c:pt idx="5">
                    <c:v>JP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0</c:formatCode>
                <c:ptCount val="6"/>
                <c:pt idx="0">
                  <c:v>558</c:v>
                </c:pt>
                <c:pt idx="1">
                  <c:v>49</c:v>
                </c:pt>
                <c:pt idx="2">
                  <c:v>46</c:v>
                </c:pt>
                <c:pt idx="3">
                  <c:v>16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2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82"/>
          <c:h val="0.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Threat/SOC</c:v>
                  </c:pt>
                  <c:pt idx="1">
                    <c:v>Network/Cloud</c:v>
                  </c:pt>
                  <c:pt idx="2">
                    <c:v>Vuln/Risk</c:v>
                  </c:pt>
                  <c:pt idx="3">
                    <c:v>Identity/Access</c:v>
                  </c:pt>
                  <c:pt idx="4">
                    <c:v>GenAI/LLM</c:v>
                  </c:pt>
                  <c:pt idx="5">
                    <c:v>Malware/Phish</c:v>
                  </c:pt>
                  <c:pt idx="6">
                    <c:v>Automation</c:v>
                  </c:pt>
                  <c:pt idx="7">
                    <c:v>Data/Privacy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0</c:formatCode>
                <c:ptCount val="8"/>
                <c:pt idx="0">
                  <c:v>258</c:v>
                </c:pt>
                <c:pt idx="1">
                  <c:v>146</c:v>
                </c:pt>
                <c:pt idx="2">
                  <c:v>75</c:v>
                </c:pt>
                <c:pt idx="3">
                  <c:v>67</c:v>
                </c:pt>
                <c:pt idx="4">
                  <c:v>60</c:v>
                </c:pt>
                <c:pt idx="5">
                  <c:v>32</c:v>
                </c:pt>
                <c:pt idx="6">
                  <c:v>26</c:v>
                </c:pt>
                <c:pt idx="7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2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82"/>
          <c:h val="0.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  <c:pt idx="8">
                    <c:v>McAfee</c:v>
                  </c:pt>
                  <c:pt idx="9">
                    <c:v>Salesforce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0</c:formatCode>
                <c:ptCount val="10"/>
                <c:pt idx="0">
                  <c:v>167</c:v>
                </c:pt>
                <c:pt idx="1">
                  <c:v>158</c:v>
                </c:pt>
                <c:pt idx="2">
                  <c:v>96</c:v>
                </c:pt>
                <c:pt idx="3">
                  <c:v>96</c:v>
                </c:pt>
                <c:pt idx="4">
                  <c:v>46</c:v>
                </c:pt>
                <c:pt idx="5">
                  <c:v>42</c:v>
                </c:pt>
                <c:pt idx="6">
                  <c:v>27</c:v>
                </c:pt>
                <c:pt idx="7">
                  <c:v>13</c:v>
                </c:pt>
                <c:pt idx="8">
                  <c:v>12</c:v>
                </c:pt>
                <c:pt idx="9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7"/>
          <c:y val="0.04"/>
          <c:w val="0.78"/>
          <c:h val="0.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H04L 63/1425</c:v>
                  </c:pt>
                  <c:pt idx="1">
                    <c:v>H04L 63/1416</c:v>
                  </c:pt>
                  <c:pt idx="2">
                    <c:v>H04L 63/1433</c:v>
                  </c:pt>
                  <c:pt idx="3">
                    <c:v>H04L 63/20</c:v>
                  </c:pt>
                  <c:pt idx="4">
                    <c:v>G06N 20/00</c:v>
                  </c:pt>
                  <c:pt idx="5">
                    <c:v>G06F 21/554</c:v>
                  </c:pt>
                  <c:pt idx="6">
                    <c:v>G06F 21/577</c:v>
                  </c:pt>
                  <c:pt idx="7">
                    <c:v>G06F 21/552</c:v>
                  </c:pt>
                  <c:pt idx="8">
                    <c:v>G06F 2221/034</c:v>
                  </c:pt>
                  <c:pt idx="9">
                    <c:v>H04L 63/1441</c:v>
                  </c:pt>
                  <c:pt idx="10">
                    <c:v>H04L 63/1408</c:v>
                  </c:pt>
                  <c:pt idx="11">
                    <c:v>G06N 3/08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0</c:formatCode>
                <c:ptCount val="12"/>
                <c:pt idx="0">
                  <c:v>189</c:v>
                </c:pt>
                <c:pt idx="1">
                  <c:v>159</c:v>
                </c:pt>
                <c:pt idx="2">
                  <c:v>146</c:v>
                </c:pt>
                <c:pt idx="3">
                  <c:v>127</c:v>
                </c:pt>
                <c:pt idx="4">
                  <c:v>104</c:v>
                </c:pt>
                <c:pt idx="5">
                  <c:v>89</c:v>
                </c:pt>
                <c:pt idx="6">
                  <c:v>85</c:v>
                </c:pt>
                <c:pt idx="7">
                  <c:v>69</c:v>
                </c:pt>
                <c:pt idx="8">
                  <c:v>62</c:v>
                </c:pt>
                <c:pt idx="9">
                  <c:v>62</c:v>
                </c:pt>
                <c:pt idx="10">
                  <c:v>47</c:v>
                </c:pt>
                <c:pt idx="11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3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86"/>
          <c:h val="0.7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Threat/SOC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87</c:v>
                </c:pt>
                <c:pt idx="1">
                  <c:v>51</c:v>
                </c:pt>
                <c:pt idx="2">
                  <c:v>28</c:v>
                </c:pt>
                <c:pt idx="3">
                  <c:v>20</c:v>
                </c:pt>
                <c:pt idx="4">
                  <c:v>21</c:v>
                </c:pt>
                <c:pt idx="5">
                  <c:v>18</c:v>
                </c:pt>
                <c:pt idx="6">
                  <c:v>13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Network/Cloud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</c:v>
                </c:pt>
                <c:pt idx="1">
                  <c:v>41</c:v>
                </c:pt>
                <c:pt idx="2">
                  <c:v>41</c:v>
                </c:pt>
                <c:pt idx="3">
                  <c:v>22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Identity/Access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13</c:v>
                </c:pt>
                <c:pt idx="1">
                  <c:v>21</c:v>
                </c:pt>
                <c:pt idx="2">
                  <c:v>12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Vuln/Risk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13</c:v>
                </c:pt>
                <c:pt idx="1">
                  <c:v>22</c:v>
                </c:pt>
                <c:pt idx="2">
                  <c:v>5</c:v>
                </c:pt>
                <c:pt idx="3">
                  <c:v>10</c:v>
                </c:pt>
                <c:pt idx="4">
                  <c:v>3</c:v>
                </c:pt>
                <c:pt idx="5">
                  <c:v>15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GenAI/LLM</c:v>
                </c:pt>
              </c:strCache>
            </c:strRef>
          </c:tx>
          <c:spPr>
            <a:solidFill>
              <a:srgbClr val="C026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17</c:v>
                </c:pt>
                <c:pt idx="1">
                  <c:v>7</c:v>
                </c:pt>
                <c:pt idx="2">
                  <c:v>1</c:v>
                </c:pt>
                <c:pt idx="3">
                  <c:v>20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Malware/Phish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10</c:v>
                </c:pt>
                <c:pt idx="4">
                  <c:v>3</c:v>
                </c:pt>
                <c:pt idx="5">
                  <c:v>0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Data/Privacy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Sheet1!$H$2:$H$9</c:f>
              <c:numCache>
                <c:formatCode>General</c:formatCode>
                <c:ptCount val="8"/>
                <c:pt idx="0">
                  <c:v>5</c:v>
                </c:pt>
                <c:pt idx="1">
                  <c:v>7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Cisco</c:v>
                  </c:pt>
                  <c:pt idx="2">
                    <c:v>Fortinet</c:v>
                  </c:pt>
                  <c:pt idx="3">
                    <c:v>Palo Alto Networks</c:v>
                  </c:pt>
                  <c:pt idx="4">
                    <c:v>Google</c:v>
                  </c:pt>
                  <c:pt idx="5">
                    <c:v>Rapid7</c:v>
                  </c:pt>
                  <c:pt idx="6">
                    <c:v>Trend Micro</c:v>
                  </c:pt>
                  <c:pt idx="7">
                    <c:v>CyberArk</c:v>
                  </c:pt>
                </c:lvl>
              </c:multiLvlStrCache>
            </c:multiLvlStrRef>
          </c:cat>
          <c:val>
            <c:numRef>
              <c:f>Sheet1!$I$2:$I$9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86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28</c:v>
                </c:pt>
                <c:pt idx="2">
                  <c:v>57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Cisco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</c:v>
                </c:pt>
                <c:pt idx="1">
                  <c:v>29</c:v>
                </c:pt>
                <c:pt idx="2">
                  <c:v>75</c:v>
                </c:pt>
                <c:pt idx="3">
                  <c:v>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Fortinet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39</c:v>
                </c:pt>
                <c:pt idx="3">
                  <c:v>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Palo Alto Networks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42</c:v>
                </c:pt>
                <c:pt idx="3">
                  <c:v>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rgbClr val="C026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Rapid7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Trend Micro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06"/>
          <c:w val="0.86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Threat/SOC</c:v>
                </c:pt>
              </c:strCache>
            </c:strRef>
          </c:tx>
          <c:spPr>
            <a:solidFill>
              <a:srgbClr val="2F5597"/>
            </a:solidFill>
            <a:ln w="25400" cap="flat">
              <a:solidFill>
                <a:srgbClr val="2F55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597"/>
              </a:solidFill>
              <a:ln w="9525" cap="flat">
                <a:solidFill>
                  <a:srgbClr val="2F55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11</c:v>
                </c:pt>
                <c:pt idx="4">
                  <c:v>26</c:v>
                </c:pt>
                <c:pt idx="5">
                  <c:v>44</c:v>
                </c:pt>
                <c:pt idx="6">
                  <c:v>42</c:v>
                </c:pt>
                <c:pt idx="7">
                  <c:v>47</c:v>
                </c:pt>
                <c:pt idx="8">
                  <c:v>55</c:v>
                </c:pt>
                <c:pt idx="9">
                  <c:v>31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Network/Cloud</c:v>
                </c:pt>
              </c:strCache>
            </c:strRef>
          </c:tx>
          <c:spPr>
            <a:solidFill>
              <a:srgbClr val="00A6A6"/>
            </a:solidFill>
            <a:ln w="25400" cap="flat">
              <a:solidFill>
                <a:srgbClr val="00A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6A6"/>
              </a:solidFill>
              <a:ln w="9525" cap="flat">
                <a:solidFill>
                  <a:srgbClr val="00A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7</c:v>
                </c:pt>
                <c:pt idx="5">
                  <c:v>11</c:v>
                </c:pt>
                <c:pt idx="6">
                  <c:v>28</c:v>
                </c:pt>
                <c:pt idx="7">
                  <c:v>46</c:v>
                </c:pt>
                <c:pt idx="8">
                  <c:v>34</c:v>
                </c:pt>
                <c:pt idx="9">
                  <c:v>12</c:v>
                </c:pt>
                <c:pt idx="1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Identity/Access</c:v>
                </c:pt>
              </c:strCache>
            </c:strRef>
          </c:tx>
          <c:spPr>
            <a:solidFill>
              <a:srgbClr val="7B61FF"/>
            </a:solidFill>
            <a:ln w="25400" cap="flat">
              <a:solidFill>
                <a:srgbClr val="7B61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61FF"/>
              </a:solidFill>
              <a:ln w="9525" cap="flat">
                <a:solidFill>
                  <a:srgbClr val="7B61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6</c:v>
                </c:pt>
                <c:pt idx="7">
                  <c:v>14</c:v>
                </c:pt>
                <c:pt idx="8">
                  <c:v>26</c:v>
                </c:pt>
                <c:pt idx="9">
                  <c:v>5</c:v>
                </c:pt>
                <c:pt idx="10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Vuln/Risk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10</c:v>
                </c:pt>
                <c:pt idx="6">
                  <c:v>11</c:v>
                </c:pt>
                <c:pt idx="7">
                  <c:v>23</c:v>
                </c:pt>
                <c:pt idx="8">
                  <c:v>22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GenAI/LLM</c:v>
                </c:pt>
              </c:strCache>
            </c:strRef>
          </c:tx>
          <c:spPr>
            <a:solidFill>
              <a:srgbClr val="C026D3"/>
            </a:solidFill>
            <a:ln w="25400" cap="flat">
              <a:solidFill>
                <a:srgbClr val="C026D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26D3"/>
              </a:solidFill>
              <a:ln w="9525" cap="flat">
                <a:solidFill>
                  <a:srgbClr val="C026D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</c:v>
                </c:pt>
                <c:pt idx="8">
                  <c:v>43</c:v>
                </c:pt>
                <c:pt idx="9">
                  <c:v>8</c:v>
                </c:pt>
                <c:pt idx="10">
                  <c:v>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Malware/Phish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11</c:v>
                </c:pt>
                <c:pt idx="8">
                  <c:v>12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Data/Privacy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3</c:v>
                </c:pt>
                <c:pt idx="6">
                  <c:v>6</c:v>
                </c:pt>
                <c:pt idx="7">
                  <c:v>4</c:v>
                </c:pt>
                <c:pt idx="8">
                  <c:v>9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rgbClr val="6B7280"/>
            </a:solidFill>
            <a:ln w="254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Sheet1!$I$2:$I$12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3</c:v>
                </c:pt>
                <c:pt idx="7">
                  <c:v>6</c:v>
                </c:pt>
                <c:pt idx="8">
                  <c:v>12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8"/>
          <c:y val="0.04"/>
          <c:w val="0.76"/>
          <c:h val="0.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US11647034</c:v>
                  </c:pt>
                  <c:pt idx="1">
                    <c:v>US11783062</c:v>
                  </c:pt>
                  <c:pt idx="2">
                    <c:v>US20230259632</c:v>
                  </c:pt>
                  <c:pt idx="3">
                    <c:v>US20230370452</c:v>
                  </c:pt>
                  <c:pt idx="4">
                    <c:v>US11888870</c:v>
                  </c:pt>
                  <c:pt idx="5">
                    <c:v>US11620379</c:v>
                  </c:pt>
                  <c:pt idx="6">
                    <c:v>US11907368</c:v>
                  </c:pt>
                  <c:pt idx="7">
                    <c:v>US12003541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0</c:formatCode>
                <c:ptCount val="8"/>
                <c:pt idx="0">
                  <c:v>109</c:v>
                </c:pt>
                <c:pt idx="1">
                  <c:v>70</c:v>
                </c:pt>
                <c:pt idx="2">
                  <c:v>38</c:v>
                </c:pt>
                <c:pt idx="3">
                  <c:v>36</c:v>
                </c:pt>
                <c:pt idx="4">
                  <c:v>31</c:v>
                </c:pt>
                <c:pt idx="5">
                  <c:v>28</c:v>
                </c:pt>
                <c:pt idx="6">
                  <c:v>21</c:v>
                </c:pt>
                <c:pt idx="7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4"/>
          <c:y val="0.03"/>
          <c:w val="0.7"/>
          <c:h val="0.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Network and device anomaly dete...</c:v>
                  </c:pt>
                  <c:pt idx="1">
                    <c:v>Alert overload and SOC response...</c:v>
                  </c:pt>
                  <c:pt idx="2">
                    <c:v>Identity, credential and access...</c:v>
                  </c:pt>
                  <c:pt idx="3">
                    <c:v>Cloud workload and configuratio...</c:v>
                  </c:pt>
                  <c:pt idx="4">
                    <c:v>Risk, vulnerability and exposur...</c:v>
                  </c:pt>
                  <c:pt idx="5">
                    <c:v>LLM/prompt attacks and generati...</c:v>
                  </c:pt>
                  <c:pt idx="6">
                    <c:v>Automated remediation and secur...</c:v>
                  </c:pt>
                  <c:pt idx="7">
                    <c:v>Phishing, malware and malicious...</c:v>
                  </c:pt>
                  <c:pt idx="8">
                    <c:v>Data leakage, privacy and secre...</c:v>
                  </c:pt>
                  <c:pt idx="9">
                    <c:v>Secure software, CI/CD and supp...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0</c:formatCode>
                <c:ptCount val="10"/>
                <c:pt idx="0">
                  <c:v>273</c:v>
                </c:pt>
                <c:pt idx="1">
                  <c:v>189</c:v>
                </c:pt>
                <c:pt idx="2">
                  <c:v>152</c:v>
                </c:pt>
                <c:pt idx="3">
                  <c:v>136</c:v>
                </c:pt>
                <c:pt idx="4">
                  <c:v>134</c:v>
                </c:pt>
                <c:pt idx="5">
                  <c:v>81</c:v>
                </c:pt>
                <c:pt idx="6">
                  <c:v>78</c:v>
                </c:pt>
                <c:pt idx="7">
                  <c:v>47</c:v>
                </c:pt>
                <c:pt idx="8">
                  <c:v>42</c:v>
                </c:pt>
                <c:pt idx="9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2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_images/soc_ai.png">    </p:cNvPr>
          <p:cNvPicPr>
            <a:picLocks noChangeAspect="1"/>
          </p:cNvPicPr>
          <p:nvPr/>
        </p:nvPicPr>
        <p:blipFill>
          <a:blip r:embed="rId1"/>
          <a:srcRect l="25860" r="25860" t="0" b="0"/>
          <a:stretch/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71C2E"/>
          </a:solidFill>
          <a:ln w="12700">
            <a:solidFill>
              <a:srgbClr val="071C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" y="162763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Cybersecurity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9077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B8D4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Patent Landscape Analysis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3401568"/>
            <a:ext cx="329184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03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E5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689 patent publication/application records | 22 assignees | 2023-01-05 to 2026-06-18</a:t>
            </a:r>
            <a:endParaRPr lang="en-US" sz="1170" dirty="0"/>
          </a:p>
        </p:txBody>
      </p:sp>
      <p:sp>
        <p:nvSpPr>
          <p:cNvPr id="8" name="Text 5"/>
          <p:cNvSpPr/>
          <p:nvPr/>
        </p:nvSpPr>
        <p:spPr>
          <a:xfrm>
            <a:off x="640080" y="632764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directly from IPCyberPatents2-20260625.xlsx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dimensions verified from the raw workbook before building category and trend pivots.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55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689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publication numbers in the workbook.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8036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880360" y="160934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80360" y="18470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Current Assignee First.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8348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B6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167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983480" y="160934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assignee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8470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86600" y="1188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258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086600" y="1609344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86600" y="184708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 (37.4%)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28116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281160" y="16093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codes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81160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country split.</a:t>
            </a:r>
            <a:endParaRPr lang="en-US" sz="8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788920"/>
          <a:ext cx="49834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080760" y="285292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correctness safeguards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080760" y="3108960"/>
            <a:ext cx="4800600" cy="0"/>
          </a:xfrm>
          <a:prstGeom prst="line">
            <a:avLst/>
          </a:prstGeom>
          <a:noFill/>
          <a:ln w="12700">
            <a:solidFill>
              <a:srgbClr val="1732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246120"/>
            <a:ext cx="5074920" cy="77724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does not invent patent records. Every chart is generated from source columns in CyberPatents2: publication number, dates, assignee, CPC/IPC, title, abstract and first claim.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80760" y="4279392"/>
            <a:ext cx="5074920" cy="73152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counts are primary-category counts; problem counts are non-exclusive theme mentions. 2026 and recent filing years are partial/lagged.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6080760" y="5285232"/>
            <a:ext cx="5074920" cy="502920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four assignees account for 75.0% of the dataset.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methodology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counting and categorization rules used for this patent landscape.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55448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148840" y="1143000"/>
            <a:ext cx="457200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720840" y="1143000"/>
            <a:ext cx="489204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15544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Read raw table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148840" y="1527048"/>
            <a:ext cx="4572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CyberPatents2 sheet; 689 rows and 18 source fields.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720840" y="1527048"/>
            <a:ext cx="48920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all source patent identifiers, dates, assignees, claims and classification fields traceable.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2221992"/>
            <a:ext cx="15544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Count records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148840" y="2221992"/>
            <a:ext cx="4572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= one patent publication/application record.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720840" y="2221992"/>
            <a:ext cx="48920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family deduplication was applied because no patent-family field was supplied.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94360" y="2916936"/>
            <a:ext cx="15544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Normalize years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148840" y="2916936"/>
            <a:ext cx="4572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year from Publication Date; filing year from Application Date.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720840" y="2916936"/>
            <a:ext cx="48920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mixing publication timing with filing activity.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Assign primary category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148840" y="3611880"/>
            <a:ext cx="45720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+ CPC/IPC-assisted scoring on title, abstract and first claim.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720840" y="3611880"/>
            <a:ext cx="48920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record receives one primary category; evidence/confidence is retained in the workbook.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94360" y="4398264"/>
            <a:ext cx="15544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Select important patents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148840" y="4398264"/>
            <a:ext cx="4572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two per category by Citing Patent Count, with Cited Patent Count as secondary signal.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720840" y="4398264"/>
            <a:ext cx="48920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arbitrary example selection while preserving an auditable basis.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68680" y="5715000"/>
            <a:ext cx="10515600" cy="475488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coverage: publication dates 2023-01-05 to 2026-06-18; application dates 2016-05-04 to 2026-01-26.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Introduce AI-driven cybersecurity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cybersecurity uses models to convert security telemetry into prioritized actions, not merely static rules.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pic>
        <p:nvPicPr>
          <p:cNvPr id="6" name="Image 0" descr="/mnt/data/cyber_images/ai_shie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23444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2344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pattern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" y="1490472"/>
            <a:ext cx="6217920" cy="0"/>
          </a:xfrm>
          <a:prstGeom prst="line">
            <a:avLst/>
          </a:prstGeom>
          <a:noFill/>
          <a:ln w="12700">
            <a:solidFill>
              <a:srgbClr val="17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3120" y="2468880"/>
            <a:ext cx="685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86200" y="2468880"/>
            <a:ext cx="685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669280" y="2468880"/>
            <a:ext cx="685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85800" y="205740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5528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alerts, logs, traffic, identity, code, posture</a:t>
            </a:r>
            <a:endParaRPr lang="en-US" sz="770" dirty="0"/>
          </a:p>
        </p:txBody>
      </p:sp>
      <p:sp>
        <p:nvSpPr>
          <p:cNvPr id="15" name="Shape 12"/>
          <p:cNvSpPr/>
          <p:nvPr/>
        </p:nvSpPr>
        <p:spPr>
          <a:xfrm>
            <a:off x="2697480" y="205740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07208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807208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ML, anomaly detection, embeddings, graphs, LLMs</a:t>
            </a:r>
            <a:endParaRPr lang="en-US" sz="770" dirty="0"/>
          </a:p>
        </p:txBody>
      </p:sp>
      <p:sp>
        <p:nvSpPr>
          <p:cNvPr id="18" name="Shape 15"/>
          <p:cNvSpPr/>
          <p:nvPr/>
        </p:nvSpPr>
        <p:spPr>
          <a:xfrm>
            <a:off x="4709160" y="205740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18888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18888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score, detection, response, access control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6720840" y="205740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30568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830568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input, remediation outcome, policy updates</a:t>
            </a:r>
            <a:endParaRPr lang="en-US" sz="770" dirty="0"/>
          </a:p>
        </p:txBody>
      </p:sp>
      <p:sp>
        <p:nvSpPr>
          <p:cNvPr id="24" name="Text 21"/>
          <p:cNvSpPr/>
          <p:nvPr/>
        </p:nvSpPr>
        <p:spPr>
          <a:xfrm>
            <a:off x="685800" y="3703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 landscape implication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85800" y="3959352"/>
            <a:ext cx="6217920" cy="0"/>
          </a:xfrm>
          <a:prstGeom prst="line">
            <a:avLst/>
          </a:prstGeom>
          <a:noFill/>
          <a:ln w="12700">
            <a:solidFill>
              <a:srgbClr val="17324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4096512"/>
            <a:ext cx="6400800" cy="1170432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record set repeatedly claims data collection, feature generation, model-based classification/ranking, automated recommendations and feedback-driven correction. That is why the taxonomy separates detection, network/cloud, identity, vulnerability, GenAI, malware, data/privacy and automation.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92440" y="5349240"/>
            <a:ext cx="3429000" cy="438912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image added for context; numeric claims in the deck come from the uploaded Excel only.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Eight-category patent taxonomy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8 categories; each patent record is counted once in one primary category.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187452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404872" y="109728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154680" y="109728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904488" y="1097280"/>
            <a:ext cx="7781544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30352" y="1444752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404872" y="1444752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154680" y="1444752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37.4%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904488" y="1444752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ML/analytics for alerts, incidents, threat hunting, anomaly detection, SOC triage and response support.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30352" y="2048256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Network/Cloud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404872" y="2048256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146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154680" y="2048256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21.2%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904488" y="2048256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networks, cloud workloads, endpoints, edge/IoT devices, traffic flows, segmentation and infrastructure telemetry.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651760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Vuln/Risk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404872" y="2651760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154680" y="2651760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10.9%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904488" y="2651760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Vulnerability, exploitability, exposure, attack-surface, posture and cyber-risk scoring/prioritization.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30352" y="3255264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Identity/Access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404872" y="3255264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154680" y="3255264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904488" y="3255264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Credential, identity, login, authorization, privilege, account, entitlement and access-risk analytics.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530352" y="3858768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C02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404872" y="3858768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154680" y="3858768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904488" y="3858768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LLM/generative-AI use in security and protection against prompt, jailbreak, hallucination, adversarial and model-risk vectors.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530352" y="4462272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Malware/Phish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2404872" y="4462272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3154680" y="4462272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4.6%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904488" y="4462272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against malware, phishing, ransomware, malicious URLs/files/emails, bot activity, scams and synthetic/deepfake threats.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30352" y="5065776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404872" y="5065776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3154680" y="5065776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3.8%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904488" y="5065776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Pen-testing, CI/CD protection, source/static analysis, policy correction, automated remediation, orchestration and workflow creation.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30352" y="5669280"/>
            <a:ext cx="1874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404872" y="5669280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3154680" y="5669280"/>
            <a:ext cx="749808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3.6%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904488" y="5669280"/>
            <a:ext cx="7781544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leakage/exfiltration, privacy, secrets, encryption, cryptography, certificates and sensitive-data protection.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count graph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category distribution based on the category assignment rules.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21792" y="1097280"/>
          <a:ext cx="681228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818120" y="1234440"/>
            <a:ext cx="502920" cy="32004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8321040" y="1234440"/>
            <a:ext cx="1828800" cy="32004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10149840" y="1234440"/>
            <a:ext cx="777240" cy="32004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Patents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7818120" y="1554480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8321040" y="1554480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149840" y="1554480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258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7818120" y="1947672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8321040" y="1947672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Network/Cloud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10149840" y="1947672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146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7818120" y="2340864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321040" y="2340864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Vuln/Risk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0149840" y="2340864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7818120" y="2734056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21040" y="2734056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Identity/Access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10149840" y="2734056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7818120" y="3127248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8321040" y="31272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C02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0149840" y="3127248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7818120" y="3520440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8321040" y="3520440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Malware/Phish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10149840" y="3520440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7818120" y="3913632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8321040" y="3913632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10149840" y="3913632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7818120" y="4306824"/>
            <a:ext cx="502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8321040" y="4306824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149840" y="4306824"/>
            <a:ext cx="777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7818120" y="5166360"/>
            <a:ext cx="3383280" cy="50292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bucket: Threat/SOC at 258 records (37.4%).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explanations (1 of 2)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high-volume bucket captures in the landscape.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Threat/SOC: 258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4892040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1848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ML/analytics for alerts, incidents, threat hunting, anomaly detection, SOC triage and response support.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Microsoft (87 records).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Network/Cloud: 146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4050792"/>
            <a:ext cx="489204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7880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networks, cloud workloads, endpoints, edge/IoT devices, traffic flows, segmentation and infrastructure telemetry.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Cisco (41 records).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172200" y="1234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Identity/Access: 67 records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490472"/>
            <a:ext cx="489204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1848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Credential, identity, login, authorization, privilege, account, entitlement and access-risk analytics.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Cisco (21 records).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172200" y="37947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Vuln/Risk: 75 records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0792"/>
            <a:ext cx="48920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17880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Vulnerability, exploitability, exposure, attack-surface, posture and cyber-risk scoring/prioritization.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172200" y="507492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Cisco (22 records).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explanations (2 of 2)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Lower-count buckets can still be strong invention areas when combined with cloud, identity and GenAI contexts.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2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GenAI/LLM: 60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4892040" cy="0"/>
          </a:xfrm>
          <a:prstGeom prst="line">
            <a:avLst/>
          </a:prstGeom>
          <a:noFill/>
          <a:ln w="12700">
            <a:solidFill>
              <a:srgbClr val="C026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1848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LLM/generative-AI use in security and protection against prompt, jailbreak, hallucination, adversarial and model-risk vectors.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Palo Alto Networks (20 records).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Malware/Phish: 32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4050792"/>
            <a:ext cx="489204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7880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against malware, phishing, ransomware, malicious URLs/files/emails, bot activity, scams and synthetic/deepfake threats.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Palo Alto Networks (10 records).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172200" y="1234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Data/Privacy: 25 records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490472"/>
            <a:ext cx="489204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1848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leakage/exfiltration, privacy, secrets, encryption, cryptography, certificates and sensitive-data protection.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Cisco (7 records).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172200" y="37947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Automation: 26 records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0792"/>
            <a:ext cx="4892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17880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Pen-testing, CI/CD protection, source/static analysis, policy correction, automated remediation, orchestration and workflow creation.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172200" y="5074920"/>
            <a:ext cx="4983480" cy="41148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assignee in this bucket: Palo Alto Networks (6 records).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patent filing companies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 are ranked by patent publication/application record count.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097280"/>
          <a:ext cx="740664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58200" y="1417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55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167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458200" y="183794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company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8200" y="20756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58200" y="2743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61.1%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458200" y="316382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3 share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58200" y="34015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Microsoft, Cisco and Fortinet.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58200" y="40690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96.8%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8458200" y="44897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share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58200" y="47274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assignees by records.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patent-count table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assignees in the workbook, sorted by patent record count.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133856"/>
            <a:ext cx="3429000" cy="329184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4023360" y="1133856"/>
            <a:ext cx="777240" cy="329184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800600" y="1133856"/>
            <a:ext cx="914400" cy="329184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023360" y="146304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167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24.2%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1837944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023360" y="1837944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158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800600" y="1837944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22.9%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94360" y="2212848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Fortinet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023360" y="2212848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800600" y="2212848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13.9%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94360" y="2587752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023360" y="2587752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00600" y="2587752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13.9%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94360" y="2962656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023360" y="2962656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0600" y="2962656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94360" y="3337560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Rapid7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023360" y="333756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800600" y="3337560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6.1%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94360" y="3712464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Micro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023360" y="3712464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800600" y="3712464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3.9%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94360" y="4087368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CyberArk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023360" y="4087368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800600" y="4087368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1.9%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94360" y="4462272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McAfee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023360" y="4462272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800600" y="4462272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1.7%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94360" y="4837176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023360" y="4837176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800600" y="4837176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1.5%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94360" y="5212080"/>
            <a:ext cx="34290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CITRIX SYS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023360" y="521208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800600" y="5212080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0.7%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236208" y="1133856"/>
            <a:ext cx="3337560" cy="329184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573768" y="1133856"/>
            <a:ext cx="777240" cy="329184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0351008" y="1133856"/>
            <a:ext cx="914400" cy="329184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236208" y="1463040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Israel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9573768" y="146304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351008" y="1463040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0.4%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6236208" y="1837944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OKTA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9573768" y="1837944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10351008" y="1837944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0.4%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6236208" y="2212848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CERTIS CISCO SECURITY PTE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9573768" y="2212848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10351008" y="2212848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0.3%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6236208" y="2587752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POINT SOFTWARE TECH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9573768" y="2587752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10351008" y="2587752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0.3%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6236208" y="2962656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THREATOLOGY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9573768" y="2962656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10351008" y="2962656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6236208" y="3337560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ZILLA SECURITY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9573768" y="333756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10351008" y="3337560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6236208" y="3712464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INFORMATICA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9573768" y="3712464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10351008" y="3712464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6236208" y="4087368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RAPIDMINER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9573768" y="4087368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10351008" y="4087368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6236208" y="4462272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INTELLIGENCE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9573768" y="4462272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10351008" y="4462272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6236208" y="4837176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ZIMPERIUM</a:t>
            </a:r>
            <a:endParaRPr lang="en-US" sz="880" dirty="0"/>
          </a:p>
        </p:txBody>
      </p:sp>
      <p:sp>
        <p:nvSpPr>
          <p:cNvPr id="73" name="Text 71"/>
          <p:cNvSpPr/>
          <p:nvPr/>
        </p:nvSpPr>
        <p:spPr>
          <a:xfrm>
            <a:off x="9573768" y="4837176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10351008" y="4837176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6236208" y="5212080"/>
            <a:ext cx="33375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RAPID7 IRELAND</a:t>
            </a:r>
            <a:endParaRPr lang="en-US" sz="880" dirty="0"/>
          </a:p>
        </p:txBody>
      </p:sp>
      <p:sp>
        <p:nvSpPr>
          <p:cNvPr id="76" name="Text 74"/>
          <p:cNvSpPr/>
          <p:nvPr/>
        </p:nvSpPr>
        <p:spPr>
          <a:xfrm>
            <a:off x="9573768" y="521208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77" name="Text 75"/>
          <p:cNvSpPr/>
          <p:nvPr/>
        </p:nvSpPr>
        <p:spPr>
          <a:xfrm>
            <a:off x="10351008" y="5212080"/>
            <a:ext cx="9144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technical categories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CPC/IPC view is generated directly from classification fields; full-code counts mean records containing that code.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097280"/>
          <a:ext cx="617220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086600" y="1207008"/>
            <a:ext cx="150876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8595360" y="1207008"/>
            <a:ext cx="196596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category/code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10561320" y="1207008"/>
            <a:ext cx="77724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7086600" y="1554480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CPC Subclass First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8595360" y="1554480"/>
            <a:ext cx="1965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H04L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561320" y="1554480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7086600" y="193852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IPC Subclass First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8595360" y="1938528"/>
            <a:ext cx="1965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H04L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10561320" y="1938528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375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7086600" y="232257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CPC Full Code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595360" y="2322576"/>
            <a:ext cx="1965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H04L 63/1425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0561320" y="2322576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7086600" y="27066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IPC Full Code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595360" y="2706624"/>
            <a:ext cx="1965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H04L 9/40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10561320" y="2706624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405</a:t>
            </a:r>
            <a:endParaRPr lang="en-US" sz="880" dirty="0"/>
          </a:p>
        </p:txBody>
      </p:sp>
      <p:pic>
        <p:nvPicPr>
          <p:cNvPr id="22" name="Image 0" descr="/mnt/data/cyber_images/datacenter_lock.jpg">    </p:cNvPr>
          <p:cNvPicPr>
            <a:picLocks noChangeAspect="1"/>
          </p:cNvPicPr>
          <p:nvPr/>
        </p:nvPicPr>
        <p:blipFill>
          <a:blip r:embed="rId2"/>
          <a:srcRect l="0" r="0" t="20112" b="20112"/>
          <a:stretch/>
        </p:blipFill>
        <p:spPr>
          <a:xfrm>
            <a:off x="7223760" y="3474720"/>
            <a:ext cx="4069080" cy="17373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86600" y="5532120"/>
            <a:ext cx="4434840" cy="59436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CPC/IPC is an objective classification signal. The primary landscape taxonomy is text-and-code assisted because CPC/IPC alone is too broad for product-strategy buckets.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assignees v categories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Heatmap counts show where each leading assignee concentrates its filings.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508760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53035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450592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3529584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Network/Cloud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4608576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Identity/Access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687568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Vuln/Risk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766560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7845552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Malware/Phish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924544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0003536" y="1097280"/>
            <a:ext cx="1078992" cy="411480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1480" y="150876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150876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0592" y="1508760"/>
            <a:ext cx="1078992" cy="411480"/>
          </a:xfrm>
          <a:prstGeom prst="rect">
            <a:avLst/>
          </a:prstGeom>
          <a:solidFill>
            <a:srgbClr val="1F4E79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9584" y="150876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8576" y="15087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7568" y="15087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0" y="150876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45552" y="15087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24544" y="15087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03536" y="15087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192024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192024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50592" y="1920240"/>
            <a:ext cx="1078992" cy="411480"/>
          </a:xfrm>
          <a:prstGeom prst="rect">
            <a:avLst/>
          </a:prstGeom>
          <a:solidFill>
            <a:srgbClr val="7EAED4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29584" y="1920240"/>
            <a:ext cx="1078992" cy="411480"/>
          </a:xfrm>
          <a:prstGeom prst="rect">
            <a:avLst/>
          </a:prstGeom>
          <a:solidFill>
            <a:srgbClr val="7EAED4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08576" y="192024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87568" y="192024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0" y="19202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45552" y="19202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924544" y="19202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03536" y="19202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11480" y="233172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Fortinet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20240" y="233172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50592" y="233172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29584" y="2331720"/>
            <a:ext cx="1078992" cy="411480"/>
          </a:xfrm>
          <a:prstGeom prst="rect">
            <a:avLst/>
          </a:prstGeom>
          <a:solidFill>
            <a:srgbClr val="7EAED4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08576" y="23317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87568" y="23317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0" y="23317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45552" y="23317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924544" y="23317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003536" y="23317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" y="274320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920240" y="274320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450592" y="274320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29584" y="274320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08576" y="27432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87568" y="27432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274320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845552" y="27432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924544" y="27432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003536" y="27432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1480" y="315468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20240" y="315468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450592" y="315468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29584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08576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87568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766560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845552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924544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003536" y="315468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11480" y="356616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920240" y="356616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450592" y="356616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529584" y="35661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608576" y="35661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687568" y="3566160"/>
            <a:ext cx="1078992" cy="411480"/>
          </a:xfrm>
          <a:prstGeom prst="rect">
            <a:avLst/>
          </a:prstGeom>
          <a:solidFill>
            <a:srgbClr val="CFE2F3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766560" y="356616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845552" y="356616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924544" y="35661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003536" y="356616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11480" y="397764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Micro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920240" y="397764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450592" y="39776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529584" y="39776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608576" y="397764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687568" y="39776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766560" y="39776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845552" y="39776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924544" y="397764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003536" y="397764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11480" y="438912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CyberArk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920240" y="438912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450592" y="43891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529584" y="438912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608576" y="43891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687568" y="43891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766560" y="43891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845552" y="438912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924544" y="43891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0003536" y="438912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11480" y="4800600"/>
            <a:ext cx="1508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McAfee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920240" y="4800600"/>
            <a:ext cx="53035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450592" y="48006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3529584" y="48006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608576" y="48006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687568" y="480060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766560" y="48006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845552" y="48006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8924544" y="4800600"/>
            <a:ext cx="1078992" cy="411480"/>
          </a:xfrm>
          <a:prstGeom prst="rect">
            <a:avLst/>
          </a:prstGeom>
          <a:solidFill>
            <a:srgbClr val="EAF3F8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10003536" y="4800600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594360" y="5806440"/>
            <a:ext cx="10972800" cy="41148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Reading: darker cells indicate larger record concentration within a category for that assignee. The counts are primary-category counts.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assignees category portfolios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Stacked graph compares category mix for the top assignees.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097280"/>
          <a:ext cx="1083564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Publishing year with company graph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Publication-year trend by assignee; 2026 is partial in the source data.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097280"/>
          <a:ext cx="795528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91540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55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264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915400" y="183794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15400" y="20756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publication year in this dataset.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91540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211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915400" y="325526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partial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15400" y="34930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 2026-06-18.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732520" y="4663440"/>
            <a:ext cx="2697480" cy="621792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extrapolate 2026 as a full-year filing or publication trend without refreshing the dataset.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Filing year with category trend graph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Filing-year trend uses Application Date; recent years can be lagged because applications publish later.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097280"/>
          <a:ext cx="827532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2024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144000" y="1773936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filing year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0" y="2011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213 records by Application Date.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0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026D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144000" y="3163824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 in 2024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0" y="34015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records filed in 2024.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006840" y="4709160"/>
            <a:ext cx="269748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and 2026 filing counts are partial/lagged; use them only as source-table counts, not as market growth proof.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 citation leaders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by Citing Patent Count from the workbook; cited count is shown as a secondary signal.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097280"/>
          <a:ext cx="484632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50992" y="1143000"/>
            <a:ext cx="292608" cy="310896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5943600" y="1143000"/>
            <a:ext cx="1078992" cy="310896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7022592" y="1143000"/>
            <a:ext cx="1024128" cy="310896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8046720" y="1143000"/>
            <a:ext cx="1024128" cy="310896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070848" y="1143000"/>
            <a:ext cx="502920" cy="310896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9573768" y="1143000"/>
            <a:ext cx="2203704" cy="310896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5650992" y="1453896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5943600" y="1453896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US11647034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7022592" y="1453896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046720" y="1453896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070848" y="1453896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9573768" y="1453896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access data enrichment for cybersecurity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5650992" y="1993392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5943600" y="1993392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US11783062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022592" y="1993392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046720" y="1993392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070848" y="1993392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9573768" y="1993392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access to computing environment secrets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5650992" y="2532888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5943600" y="2532888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US20230259632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7022592" y="2532888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046720" y="2532888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070848" y="2532888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9573768" y="2532888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activity-based security coverage management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5650992" y="3072384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5943600" y="3072384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US20230370452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7022592" y="3072384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046720" y="3072384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Network/Cloud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070848" y="3072384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9573768" y="3072384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Networked device security posture management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5650992" y="3611880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5943600" y="3611880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US11888870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7022592" y="3611880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046720" y="3611880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9070848" y="3611880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9573768" y="3611880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Multitenant sharing anomaly cyberattack campaign detection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5650992" y="4151376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44" name="Text 41"/>
          <p:cNvSpPr/>
          <p:nvPr/>
        </p:nvSpPr>
        <p:spPr>
          <a:xfrm>
            <a:off x="5943600" y="4151376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US11620379</a:t>
            </a:r>
            <a:endParaRPr lang="en-US" sz="880" dirty="0"/>
          </a:p>
        </p:txBody>
      </p:sp>
      <p:sp>
        <p:nvSpPr>
          <p:cNvPr id="45" name="Text 42"/>
          <p:cNvSpPr/>
          <p:nvPr/>
        </p:nvSpPr>
        <p:spPr>
          <a:xfrm>
            <a:off x="7022592" y="4151376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046720" y="4151376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9070848" y="4151376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80" dirty="0"/>
          </a:p>
        </p:txBody>
      </p:sp>
      <p:sp>
        <p:nvSpPr>
          <p:cNvPr id="48" name="Text 45"/>
          <p:cNvSpPr/>
          <p:nvPr/>
        </p:nvSpPr>
        <p:spPr>
          <a:xfrm>
            <a:off x="9573768" y="4151376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and apparatus for detecting and preventing obfuscated...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5650992" y="4690872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50" name="Text 47"/>
          <p:cNvSpPr/>
          <p:nvPr/>
        </p:nvSpPr>
        <p:spPr>
          <a:xfrm>
            <a:off x="5943600" y="4690872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US11907368</a:t>
            </a:r>
            <a:endParaRPr lang="en-US" sz="880" dirty="0"/>
          </a:p>
        </p:txBody>
      </p:sp>
      <p:sp>
        <p:nvSpPr>
          <p:cNvPr id="51" name="Text 48"/>
          <p:cNvSpPr/>
          <p:nvPr/>
        </p:nvSpPr>
        <p:spPr>
          <a:xfrm>
            <a:off x="7022592" y="4690872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Micro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046720" y="4690872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9070848" y="4690872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80" dirty="0"/>
          </a:p>
        </p:txBody>
      </p:sp>
      <p:sp>
        <p:nvSpPr>
          <p:cNvPr id="54" name="Text 51"/>
          <p:cNvSpPr/>
          <p:nvPr/>
        </p:nvSpPr>
        <p:spPr>
          <a:xfrm>
            <a:off x="9573768" y="4690872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Graph-based anomaly detection for cybersecurity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5650992" y="5230368"/>
            <a:ext cx="29260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56" name="Text 53"/>
          <p:cNvSpPr/>
          <p:nvPr/>
        </p:nvSpPr>
        <p:spPr>
          <a:xfrm>
            <a:off x="5943600" y="5230368"/>
            <a:ext cx="1078992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US12003541</a:t>
            </a:r>
            <a:endParaRPr lang="en-US" sz="880" dirty="0"/>
          </a:p>
        </p:txBody>
      </p:sp>
      <p:sp>
        <p:nvSpPr>
          <p:cNvPr id="57" name="Text 54"/>
          <p:cNvSpPr/>
          <p:nvPr/>
        </p:nvSpPr>
        <p:spPr>
          <a:xfrm>
            <a:off x="7022592" y="5230368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046720" y="5230368"/>
            <a:ext cx="1024128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Identity/Access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9070848" y="5230368"/>
            <a:ext cx="5029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80" dirty="0"/>
          </a:p>
        </p:txBody>
      </p:sp>
      <p:sp>
        <p:nvSpPr>
          <p:cNvPr id="60" name="Text 57"/>
          <p:cNvSpPr/>
          <p:nvPr/>
        </p:nvSpPr>
        <p:spPr>
          <a:xfrm>
            <a:off x="9573768" y="5230368"/>
            <a:ext cx="2203704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Identifying serverless functions with over-permissive roles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patents by category (1 of 4)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patents per category, selected mechanically by forward citation count.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Threat/SOC: 2 selected patents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99032"/>
            <a:ext cx="5120640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7335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1635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US11647034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167335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81635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109/54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56616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access data enrichment for cybersecurity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US20230259632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167335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81635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38/20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56616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activity-based security coverage management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5257800" cy="100584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ML/analytics for alerts, incidents, threat hunting, anomaly detection, SOC triage and response support.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26364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Network/Cloud: 2 selected patents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399032"/>
            <a:ext cx="512064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4263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8563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23544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26364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US20230370452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734263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48563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36/20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3544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Networked device security posture management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26364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US20250317739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734263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48563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9/0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23544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learning-based wireless intrusion detection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263640" y="4069080"/>
            <a:ext cx="5257800" cy="1005840"/>
          </a:xfrm>
          <a:prstGeom prst="rect">
            <a:avLst/>
          </a:prstGeom>
          <a:solidFill>
            <a:srgbClr val="E7F8F8"/>
          </a:solidFill>
          <a:ln>
            <a:solidFill>
              <a:srgbClr val="E7F8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networks, cloud workloads, endpoints, edge/IoT devices, traffic flows, segmentation and infrastructure telemetry.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777240" y="5806440"/>
            <a:ext cx="10652760" cy="41148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basis: top within category by forward citation count; cited count used only as a secondary signal. This is not a claim-validity opinion.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patents by category (2 of 4)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patents per category, selected mechanically by forward citation count.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Identity/Access: 2 selected patents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99032"/>
            <a:ext cx="512064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7335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1635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US12003541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167335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81635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18/9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56616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Identifying serverless functions with over-permissive roles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US20250080561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167335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CyberArk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81635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56616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and classification of activity requested during privileged sessions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5257800" cy="100584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Credential, identity, login, authorization, privilege, account, entitlement and access-risk analytics.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26364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Vuln/Risk: 2 selected patents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399032"/>
            <a:ext cx="51206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4263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8563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23544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26364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US20240403437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734263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48563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18/0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3544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api vulnerability assessments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26364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US20250047701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734263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48563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10/44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23544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security and risk posture visualization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263640" y="4069080"/>
            <a:ext cx="5257800" cy="1005840"/>
          </a:xfrm>
          <a:prstGeom prst="rect">
            <a:avLst/>
          </a:prstGeom>
          <a:solidFill>
            <a:srgbClr val="E7F8F8"/>
          </a:solidFill>
          <a:ln>
            <a:solidFill>
              <a:srgbClr val="E7F8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Vulnerability, exploitability, exposure, attack-surface, posture and cyber-risk scoring/prioritization.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777240" y="5806440"/>
            <a:ext cx="10652760" cy="41148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basis: top within category by forward citation count; cited count used only as a secondary signal. This is not a claim-validity opinion.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patents by category (3 of 4)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patents per category, selected mechanically by forward citation count.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2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GenAI/LLM: 2 selected patents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99032"/>
            <a:ext cx="5120640" cy="0"/>
          </a:xfrm>
          <a:prstGeom prst="line">
            <a:avLst/>
          </a:prstGeom>
          <a:noFill/>
          <a:ln w="12700">
            <a:solidFill>
              <a:srgbClr val="C026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7335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1635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US20250181836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167335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INTELLIGENCE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81635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8/7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56616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and methods for jailbreaking black-box large language models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US20250335795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167335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81635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56616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Unstructured data extraction with large language models for query resolution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5257800" cy="100584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LLM/generative-AI use in security and protection against prompt, jailbreak, hallucination, adversarial and model-risk vectors.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26364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Malware/Phish: 2 selected patents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399032"/>
            <a:ext cx="512064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4263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8563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23544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26364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US12003535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734263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48563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5/45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3544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URL detection using transformers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26364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US11687652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734263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Micro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48563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23544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of binary files using architecture-agnostic digests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263640" y="4069080"/>
            <a:ext cx="5257800" cy="1005840"/>
          </a:xfrm>
          <a:prstGeom prst="rect">
            <a:avLst/>
          </a:prstGeom>
          <a:solidFill>
            <a:srgbClr val="E7F8F8"/>
          </a:solidFill>
          <a:ln>
            <a:solidFill>
              <a:srgbClr val="E7F8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against malware, phishing, ransomware, malicious URLs/files/emails, bot activity, scams and synthetic/deepfake threats.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777240" y="5806440"/>
            <a:ext cx="10652760" cy="41148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basis: top within category by forward citation count; cited count used only as a secondary signal. This is not a claim-validity opinion.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patents by category (4 of 4)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patents per category, selected mechanically by forward citation count.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Data/Privacy: 2 selected patents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99032"/>
            <a:ext cx="512064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7335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1635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US11783062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167335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81635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70/25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56616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access to computing environment secrets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US11921820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167335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Fortinet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81635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56616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minimal vector labeling scheme for supervised machine learning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5257800" cy="100584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leakage/exfiltration, privacy, secrets, encryption, cryptography, certificates and sensitive-data protection.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263640" y="1143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Automation: 2 selected patents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399032"/>
            <a:ext cx="51206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600200"/>
            <a:ext cx="1078992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42632" y="1600200"/>
            <a:ext cx="1143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85632" y="1600200"/>
            <a:ext cx="749808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Citing/Cited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235440" y="1600200"/>
            <a:ext cx="228600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263640" y="1947672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US11620379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7342632" y="1947672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485632" y="1947672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28/4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35440" y="1947672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and apparatus for detecting and preventing obfuscated cyberattacks usin...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263640" y="2697480"/>
            <a:ext cx="107899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US11550911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7342632" y="2697480"/>
            <a:ext cx="1143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 Alto Networks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485632" y="2697480"/>
            <a:ext cx="74980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13/18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235440" y="2697480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Multi-representational learning models for static analysis of source code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263640" y="4069080"/>
            <a:ext cx="5257800" cy="1005840"/>
          </a:xfrm>
          <a:prstGeom prst="rect">
            <a:avLst/>
          </a:prstGeom>
          <a:solidFill>
            <a:srgbClr val="E7F8F8"/>
          </a:solidFill>
          <a:ln>
            <a:solidFill>
              <a:srgbClr val="E7F8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Pen-testing, CI/CD protection, source/static analysis, policy correction, automated remediation, orchestration and workflow creation.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777240" y="5806440"/>
            <a:ext cx="10652760" cy="41148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basis: top within category by forward citation count; cited count used only as a secondary signal. This is not a claim-validity opinion.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intensity graph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Non-exclusive problem-theme counts; a patent record may match more than one problem.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097280"/>
          <a:ext cx="73152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mage 0" descr="/mnt/data/cyber_images/soc_dashboard.jpg">    </p:cNvPr>
          <p:cNvPicPr>
            <a:picLocks noChangeAspect="1"/>
          </p:cNvPicPr>
          <p:nvPr/>
        </p:nvPicPr>
        <p:blipFill>
          <a:blip r:embed="rId2"/>
          <a:srcRect l="3571" r="3571" t="0" b="0"/>
          <a:stretch/>
        </p:blipFill>
        <p:spPr>
          <a:xfrm>
            <a:off x="8366760" y="1188720"/>
            <a:ext cx="2971800" cy="160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3063240"/>
            <a:ext cx="3246120" cy="82296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problem counts show recurring technical pain points in titles and abstracts, not market size or legal strength.</a:t>
            </a:r>
            <a:endParaRPr lang="en-US" sz="970" dirty="0"/>
          </a:p>
        </p:txBody>
      </p:sp>
      <p:sp>
        <p:nvSpPr>
          <p:cNvPr id="9" name="Text 5"/>
          <p:cNvSpPr/>
          <p:nvPr/>
        </p:nvSpPr>
        <p:spPr>
          <a:xfrm>
            <a:off x="8229600" y="4160520"/>
            <a:ext cx="3246120" cy="96012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Highest-count problems point toward SOC overload, network/device anomaly detection, identity/access abuse, cloud configuration and vulnerability prioritization.</a:t>
            </a:r>
            <a:endParaRPr lang="en-US" sz="9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problems with direction (1 of 2)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counts are non-exclusive theme mentions across patent titles and abstracts.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66928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" y="1115568"/>
            <a:ext cx="288036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950208" y="1115568"/>
            <a:ext cx="86868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818888" y="1115568"/>
            <a:ext cx="6839712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direction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69848" y="1499616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and device anomaly detection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950208" y="1499616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273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818888" y="1499616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multivariate and graph/sequence models to detect anomalous behavior across network, endpoint and edge telemetry.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69848" y="2249424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overload and SOC response prioritization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950208" y="2249424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818888" y="2249424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static alerts to explainable, ranked incident queues with recommended follow-on actions and analyst feedback loops.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999232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69848" y="2999232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credential and access abuse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950208" y="2999232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152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818888" y="2999232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toward continuous access-risk scoring, least-privilege remediation and context-aware authentication.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69848" y="3749040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workload and configuration protection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950208" y="3749040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136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18888" y="3749040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workload posture, runtime behavior and policy state to prevent misconfiguration and over-permissioning.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498848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069848" y="4498848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vulnerability and exposure prioritization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950208" y="4498848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818888" y="4498848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exploit context, asset criticality and threat intelligence to produce actionable exposure scores.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715000"/>
            <a:ext cx="10789920" cy="475488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statements summarize technical vectors visible from repeated patent themes. They are not legal conclusions.</a:t>
            </a:r>
            <a:endParaRPr lang="en-US" sz="9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problems with direction (2 of 2)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Lower-count problem themes can still be valuable where the technical solution is differentiated.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66928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" y="1115568"/>
            <a:ext cx="288036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950208" y="1115568"/>
            <a:ext cx="86868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818888" y="1115568"/>
            <a:ext cx="6839712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direction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69848" y="1499616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LLM/prompt attacks and generative AI risk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950208" y="1499616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818888" y="1499616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guardrails, prompt/classification models and verification layers for GenAI outputs and tool invocation.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69848" y="2249424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remediation and security workflow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950208" y="2249424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818888" y="2249424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detections into auditable automated actions, policy corrections and rollback-capable workflows.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999232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69848" y="2999232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Phishing, malware and malicious content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950208" y="2999232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818888" y="2999232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transformer/LLM, behavior and content signals to detect evasive URLs, malware variants and synthetic deception.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69848" y="3749040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leakage, privacy and secrets protection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950208" y="3749040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18888" y="3749040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leakage in GenAI, cloud and network workflows while preserving privacy and secrets at runtime.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498848"/>
            <a:ext cx="566928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069848" y="4498848"/>
            <a:ext cx="2880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software, CI/CD and supply chain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950208" y="4498848"/>
            <a:ext cx="868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818888" y="4498848"/>
            <a:ext cx="683971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detection, static analysis and package-risk evaluation directly into CI/CD and developer tooling.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687568"/>
            <a:ext cx="10789920" cy="530352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Whitespace reading: Data/privacy, secure software and malware/phishing have lower primary-category counts than SOC/network, but may produce stronger differentiated inventions when combined with GenAI, cloud or identity contexts.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Ideation opportunities (1 of 2)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areas derived from category counts, problem themes and repeated technology directions.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24028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374904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signal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492240" y="1097280"/>
            <a:ext cx="521208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Patentable direction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security control plane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2743200" y="1444752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GenAI creates prompt-injection, data-leakage and hallucination risks.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6492240" y="1444752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around policy-driven prompt inspection, tool-call verification, output validation and audit trails.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autonomous SOC triage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2743200" y="2377440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Alert/SOC problem volume is the highest in the dataset.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incidents using evidence graphs, generate response actions, and capture analyst feedback for model updates.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Exposure-aware vulnerability prioritization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743200" y="3310128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Risk/vulnerability filings concentrate on scoring, posture and exploit context.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6492240" y="3310128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asset criticality, exploit proof, threat-intel recency and compensating controls into a dynamic priority score.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remediation for cloud workloads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2743200" y="4242816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Cloud/identity overlap suggests pain around permissions, roles and workload posture.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6492240" y="4242816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and verify minimal permission changes using observed runtime behavior and policy simulation.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as invention directions, not as final claim language. Each direction still needs novelty search, claim charting and enablement review.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Ideation opportunities (2 of 2)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opportunity areas linked to category and problem evidence in the workbook.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24028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374904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signal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492240" y="1097280"/>
            <a:ext cx="5212080" cy="347472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Patentable direction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malware/phishing hardening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2743200" y="1444752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Malware/phishing is smaller than SOC/network but uses GenAI and classifier-hardening techniques.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6492240" y="1444752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safe synthetic variants, evaluate detector drift and update classifiers without live harmful samples.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Privacy-preserving threat intelligence sharing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2743200" y="2377440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Data/privacy/crypto is a low-count category, indicating potential whitespace.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or privacy-preserving telemetry exchange for cross-tenant threat models without exposing raw logs.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security copilot with guardrails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743200" y="3310128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Software/CI/CD appears as a focused problem with limited patent density.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6492240" y="3310128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risky changes, map code findings to attack paths, and gate deployment with explainable remediation.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22402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Edge/IoT behavioral baseline defense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2743200" y="4242816"/>
            <a:ext cx="374904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Network/device anomaly filings are high but edge/IoT environments remain heterogeneous.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6492240" y="4242816"/>
            <a:ext cx="5212080" cy="9326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local anomaly baselines with cloud-assisted model updates and attack-confidence scoring.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patentability route: combine a concrete data source, model architecture, security decision, feedback mechanism and deployment context.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white-space reading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interpretation of where invention effort may be easier to differentiate within this dataset.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pic>
        <p:nvPicPr>
          <p:cNvPr id="6" name="Image 0" descr="/mnt/data/cyber_images/datacenter_lock.jpg">    </p:cNvPr>
          <p:cNvPicPr>
            <a:picLocks noChangeAspect="1"/>
          </p:cNvPicPr>
          <p:nvPr/>
        </p:nvPicPr>
        <p:blipFill>
          <a:blip r:embed="rId1"/>
          <a:srcRect l="0" r="0" t="10127" b="10127"/>
          <a:stretch/>
        </p:blipFill>
        <p:spPr>
          <a:xfrm>
            <a:off x="7818120" y="1143000"/>
            <a:ext cx="3611880" cy="2057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234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Crowded zones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" y="1490472"/>
            <a:ext cx="31089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645920"/>
            <a:ext cx="6400800" cy="96012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High-volume categories are Threat/SOC (258), Network/Cloud (146), Vuln/Risk (75). These areas need tighter claim differentiation around data fusion, feedback, explainability, model update path or deployment environment.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685800" y="2971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Lower-count zones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227832"/>
            <a:ext cx="31089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383280"/>
            <a:ext cx="6400800" cy="960120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primary-category counts are Data/Privacy (25), Automation (26), Malware/Phish (32). They may be useful whitespace, particularly when joined to cloud, identity or GenAI-specific constraints.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direction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4965192"/>
            <a:ext cx="3108960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5120640"/>
            <a:ext cx="6400800" cy="914400"/>
          </a:xfrm>
          <a:prstGeom prst="rect">
            <a:avLst/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inventions that state a concrete security object, a model-driven transformation, a decision output, and a feedback/remediation loop. Avoid merely claiming generic AI for cybersecurity.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7818120" y="3520440"/>
            <a:ext cx="3611880" cy="1005840"/>
          </a:xfrm>
          <a:prstGeom prst="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an interpretation from the dataset; verify with claim-level prior-art analysis before drafting.</a:t>
            </a:r>
            <a:endParaRPr lang="en-US" sz="9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Actionable conclusions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2064" y="6675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deck for landscape presentation and the workbook for evidence review and graph recreation.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IPCyberPatents2-20260625.xlsx / CyberPatents2 | Count unit: publication/application record; no family deduplication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01752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657600" y="1143000"/>
            <a:ext cx="7863840" cy="384048"/>
          </a:xfrm>
          <a:prstGeom prst="rect">
            <a:avLst/>
          </a:prstGeom>
          <a:solidFill>
            <a:srgbClr val="17324D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40080" y="1527048"/>
            <a:ext cx="30175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 concentration is high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657600" y="1527048"/>
            <a:ext cx="7863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FTO and claim-differentiation review with Microsoft, Cisco, Fortinet and Palo Alto portfolios.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40080" y="2203704"/>
            <a:ext cx="30175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Threat/SOC is the largest bucket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657600" y="2203704"/>
            <a:ext cx="7863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Crowded area; stronger patentability likely requires specific data fusion, feedback, explainability or deployment constraints.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0175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GenAI/LLM is visible but not dominant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57600" y="2880360"/>
            <a:ext cx="7863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exists around prompt inspection, tool-call validation, hallucination controls and AI-agent governance.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30175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Data/privacy and DevSecOps are smaller buckets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657600" y="3557016"/>
            <a:ext cx="7863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whitespace when combined with cloud/identity context or GenAI-specific attack paths.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40080" y="4233672"/>
            <a:ext cx="30175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charts are date-sensitive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657600" y="4233672"/>
            <a:ext cx="7863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and recent filing years are partial/lagged. Refresh the dataset before making annual-growth claims.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10561320" cy="530352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Deliverables: revised landscape PowerPoint with graphs and cybersecurity visuals, plus graph-ready Excel workbook containing raw categorized data, pivots, problem directions, important patents and ideation opportunities.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Cybersecurity Patent Landscape</dc:title>
  <dc:subject>AI-driven cybersecurity patent landscape</dc:subject>
  <dc:creator>OpenAI</dc:creator>
  <cp:lastModifiedBy>OpenAI</cp:lastModifiedBy>
  <cp:revision>1</cp:revision>
  <dcterms:created xsi:type="dcterms:W3CDTF">2026-06-25T08:41:31Z</dcterms:created>
  <dcterms:modified xsi:type="dcterms:W3CDTF">2026-06-25T08:41:31Z</dcterms:modified>
</cp:coreProperties>
</file>