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internship as a lifecycle story: not only learning patent law, but seeing how legal work turns technical R&amp;D into protectable and governable IP assets. Mention that the deck is non-confidential and uses generic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will use CLAIM as a memory device. Capture is about understanding the invention; Locate is prior art; Analyse is legal tests; Interpret is claims and prosecution; Manage is governance. This gives the audience a clean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in a research institute, IP law operates at the intersection of engineers, legal teams and business decision-makers. The legal answer is only as good as the technical facts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your role as support work: reviewing disclosures, preparing notes, mapping evidence and helping seniors evaluate protection and risk. Avoid saying you independently gave final legal opinions if that was not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assure the audience that the presentation is not abstract. Every later slide corresponds to a real type of IP-law workstream: disclosure, search, analysis, claims, prosecution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you learned to read invention disclosures with a legal eye: not merely understanding the technology, but separating essential features from optional details and preparing clarification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transition: after disclosure capture, the next stage is locating prior art. Emphasise that documentation discipline is a real IP-law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prior-art search is an evidence exercise. The key is to avoid broad random searching and instead build queries from the invention’s technical features and claimed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patent intelligence: not final strategy, but research support that helps identify dense patent areas, active players and references needing closer legal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that your patentability work combined prior-art evidence with legal tests. Keep it non-confidential. You may mention Indian patent-law concepts generally: novelty, inventive step, industrial application, exclusions and support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legal distinction. Use the speaker line on the slide. Explain that FTO requires attention to active claims, jurisdiction and product implementation, not simply prior-art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strong technical-legal slide. Say that claims are not ordinary prose. You learned to break them into elements and map each element to evidence before drawing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overstate your role as final prosecution counsel. Say you supported by reading office-action issues, checking cited references and preparing structured inputs under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IP law in a corporate setting includes more than patents: confidentiality, ownership, contracts, disclosures and recordkeeping all determine whether rights are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30-second summary. Keep it controlled and confident. Invite questions after the thank-you line. If asked for details, stay non-confidential and talk in general workstream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6F8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A2B"/>
          </a:solidFill>
          <a:ln w="12700">
            <a:solidFill>
              <a:srgbClr val="071A2B"/>
            </a:solidFill>
            <a:prstDash val="solid"/>
          </a:ln>
        </p:spPr>
      </p:sp>
      <p:sp>
        <p:nvSpPr>
          <p:cNvPr id="3" name="Shape 1"/>
          <p:cNvSpPr/>
          <p:nvPr/>
        </p:nvSpPr>
        <p:spPr>
          <a:xfrm rot="1080000">
            <a:off x="7635240" y="-1097280"/>
            <a:ext cx="5212080" cy="5212080"/>
          </a:xfrm>
          <a:prstGeom prst="arc">
            <a:avLst/>
          </a:prstGeom>
          <a:noFill/>
          <a:ln w="15240">
            <a:solidFill>
              <a:srgbClr val="00A6D6">
                <a:alpha val="26000"/>
              </a:srgbClr>
            </a:solidFill>
            <a:prstDash val="solid"/>
          </a:ln>
        </p:spPr>
      </p:sp>
      <p:sp>
        <p:nvSpPr>
          <p:cNvPr id="4" name="Shape 2"/>
          <p:cNvSpPr/>
          <p:nvPr/>
        </p:nvSpPr>
        <p:spPr>
          <a:xfrm rot="1080000">
            <a:off x="8001000" y="-713232"/>
            <a:ext cx="4434840" cy="4434840"/>
          </a:xfrm>
          <a:prstGeom prst="arc">
            <a:avLst/>
          </a:prstGeom>
          <a:noFill/>
          <a:ln w="13970">
            <a:solidFill>
              <a:srgbClr val="1D4ED8">
                <a:alpha val="30000"/>
              </a:srgbClr>
            </a:solidFill>
            <a:prstDash val="solid"/>
          </a:ln>
        </p:spPr>
      </p:sp>
      <p:sp>
        <p:nvSpPr>
          <p:cNvPr id="5" name="Shape 3"/>
          <p:cNvSpPr/>
          <p:nvPr/>
        </p:nvSpPr>
        <p:spPr>
          <a:xfrm rot="-840000">
            <a:off x="-914400" y="5349240"/>
            <a:ext cx="5943600" cy="201168"/>
          </a:xfrm>
          <a:prstGeom prst="rect">
            <a:avLst/>
          </a:prstGeom>
          <a:solidFill>
            <a:srgbClr val="1D4ED8">
              <a:alpha val="85000"/>
            </a:srgbClr>
          </a:solidFill>
          <a:ln w="12700">
            <a:solidFill>
              <a:srgbClr val="1D4ED8">
                <a:alpha val="0"/>
              </a:srgbClr>
            </a:solidFill>
            <a:prstDash val="solid"/>
          </a:ln>
        </p:spPr>
      </p:sp>
      <p:sp>
        <p:nvSpPr>
          <p:cNvPr id="6" name="Shape 4"/>
          <p:cNvSpPr/>
          <p:nvPr/>
        </p:nvSpPr>
        <p:spPr>
          <a:xfrm rot="-840000">
            <a:off x="6126480" y="6355080"/>
            <a:ext cx="6949440" cy="164592"/>
          </a:xfrm>
          <a:prstGeom prst="rect">
            <a:avLst/>
          </a:prstGeom>
          <a:solidFill>
            <a:srgbClr val="00A6D6">
              <a:alpha val="90000"/>
            </a:srgbClr>
          </a:solidFill>
          <a:ln w="12700">
            <a:solidFill>
              <a:srgbClr val="00A6D6">
                <a:alpha val="0"/>
              </a:srgbClr>
            </a:solidFill>
            <a:prstDash val="solid"/>
          </a:ln>
        </p:spPr>
      </p:sp>
      <p:sp>
        <p:nvSpPr>
          <p:cNvPr id="7" name="Shape 5"/>
          <p:cNvSpPr/>
          <p:nvPr/>
        </p:nvSpPr>
        <p:spPr>
          <a:xfrm>
            <a:off x="640080" y="1005840"/>
            <a:ext cx="1280160" cy="0"/>
          </a:xfrm>
          <a:prstGeom prst="line">
            <a:avLst/>
          </a:prstGeom>
          <a:noFill/>
          <a:ln w="12700">
            <a:solidFill>
              <a:srgbClr val="00A6D6">
                <a:alpha val="26000"/>
              </a:srgbClr>
            </a:solidFill>
            <a:prstDash val="solid"/>
          </a:ln>
        </p:spPr>
      </p:sp>
      <p:sp>
        <p:nvSpPr>
          <p:cNvPr id="8" name="Shape 6"/>
          <p:cNvSpPr/>
          <p:nvPr/>
        </p:nvSpPr>
        <p:spPr>
          <a:xfrm>
            <a:off x="1920240" y="1005840"/>
            <a:ext cx="0" cy="411480"/>
          </a:xfrm>
          <a:prstGeom prst="line">
            <a:avLst/>
          </a:prstGeom>
          <a:noFill/>
          <a:ln w="12700">
            <a:solidFill>
              <a:srgbClr val="00A6D6">
                <a:alpha val="26000"/>
              </a:srgbClr>
            </a:solidFill>
            <a:prstDash val="solid"/>
          </a:ln>
        </p:spPr>
      </p:sp>
      <p:sp>
        <p:nvSpPr>
          <p:cNvPr id="9" name="Shape 7"/>
          <p:cNvSpPr/>
          <p:nvPr/>
        </p:nvSpPr>
        <p:spPr>
          <a:xfrm>
            <a:off x="1920240" y="1417320"/>
            <a:ext cx="1005840" cy="0"/>
          </a:xfrm>
          <a:prstGeom prst="line">
            <a:avLst/>
          </a:prstGeom>
          <a:noFill/>
          <a:ln w="12700">
            <a:solidFill>
              <a:srgbClr val="00A6D6">
                <a:alpha val="26000"/>
              </a:srgbClr>
            </a:solidFill>
            <a:prstDash val="solid"/>
          </a:ln>
        </p:spPr>
      </p:sp>
      <p:sp>
        <p:nvSpPr>
          <p:cNvPr id="10" name="Shape 8"/>
          <p:cNvSpPr/>
          <p:nvPr/>
        </p:nvSpPr>
        <p:spPr>
          <a:xfrm>
            <a:off x="8229600" y="4663440"/>
            <a:ext cx="1280160" cy="0"/>
          </a:xfrm>
          <a:prstGeom prst="line">
            <a:avLst/>
          </a:prstGeom>
          <a:noFill/>
          <a:ln w="12700">
            <a:solidFill>
              <a:srgbClr val="00A6D6">
                <a:alpha val="26000"/>
              </a:srgbClr>
            </a:solidFill>
            <a:prstDash val="solid"/>
          </a:ln>
        </p:spPr>
      </p:sp>
      <p:sp>
        <p:nvSpPr>
          <p:cNvPr id="11" name="Shape 9"/>
          <p:cNvSpPr/>
          <p:nvPr/>
        </p:nvSpPr>
        <p:spPr>
          <a:xfrm>
            <a:off x="9509760" y="4663440"/>
            <a:ext cx="0" cy="-502920"/>
          </a:xfrm>
          <a:prstGeom prst="line">
            <a:avLst/>
          </a:prstGeom>
          <a:noFill/>
          <a:ln w="12700">
            <a:solidFill>
              <a:srgbClr val="00A6D6">
                <a:alpha val="26000"/>
              </a:srgbClr>
            </a:solidFill>
            <a:prstDash val="solid"/>
          </a:ln>
        </p:spPr>
      </p:sp>
      <p:sp>
        <p:nvSpPr>
          <p:cNvPr id="12" name="Shape 10"/>
          <p:cNvSpPr/>
          <p:nvPr/>
        </p:nvSpPr>
        <p:spPr>
          <a:xfrm>
            <a:off x="9509760" y="4160520"/>
            <a:ext cx="1234440" cy="0"/>
          </a:xfrm>
          <a:prstGeom prst="line">
            <a:avLst/>
          </a:prstGeom>
          <a:noFill/>
          <a:ln w="12700">
            <a:solidFill>
              <a:srgbClr val="00A6D6">
                <a:alpha val="26000"/>
              </a:srgbClr>
            </a:solidFill>
            <a:prstDash val="solid"/>
          </a:ln>
        </p:spPr>
      </p:sp>
      <p:sp>
        <p:nvSpPr>
          <p:cNvPr id="13" name="Shape 11"/>
          <p:cNvSpPr/>
          <p:nvPr/>
        </p:nvSpPr>
        <p:spPr>
          <a:xfrm>
            <a:off x="822960" y="5806440"/>
            <a:ext cx="1005840" cy="0"/>
          </a:xfrm>
          <a:prstGeom prst="line">
            <a:avLst/>
          </a:prstGeom>
          <a:noFill/>
          <a:ln w="12700">
            <a:solidFill>
              <a:srgbClr val="00A6D6">
                <a:alpha val="26000"/>
              </a:srgbClr>
            </a:solidFill>
            <a:prstDash val="solid"/>
          </a:ln>
        </p:spPr>
      </p:sp>
      <p:sp>
        <p:nvSpPr>
          <p:cNvPr id="14" name="Shape 12"/>
          <p:cNvSpPr/>
          <p:nvPr/>
        </p:nvSpPr>
        <p:spPr>
          <a:xfrm>
            <a:off x="1828800" y="5806440"/>
            <a:ext cx="320040" cy="-320040"/>
          </a:xfrm>
          <a:prstGeom prst="line">
            <a:avLst/>
          </a:prstGeom>
          <a:noFill/>
          <a:ln w="12700">
            <a:solidFill>
              <a:srgbClr val="00A6D6">
                <a:alpha val="26000"/>
              </a:srgbClr>
            </a:solidFill>
            <a:prstDash val="solid"/>
          </a:ln>
        </p:spPr>
      </p:sp>
      <p:sp>
        <p:nvSpPr>
          <p:cNvPr id="15" name="Shape 13"/>
          <p:cNvSpPr/>
          <p:nvPr/>
        </p:nvSpPr>
        <p:spPr>
          <a:xfrm>
            <a:off x="2894076" y="1385316"/>
            <a:ext cx="64008" cy="64008"/>
          </a:xfrm>
          <a:prstGeom prst="ellipse">
            <a:avLst/>
          </a:prstGeom>
          <a:solidFill>
            <a:srgbClr val="00A6D6">
              <a:alpha val="80000"/>
            </a:srgbClr>
          </a:solidFill>
          <a:ln w="12700">
            <a:solidFill>
              <a:srgbClr val="00A6D6">
                <a:alpha val="60000"/>
              </a:srgbClr>
            </a:solidFill>
            <a:prstDash val="solid"/>
          </a:ln>
        </p:spPr>
      </p:sp>
      <p:sp>
        <p:nvSpPr>
          <p:cNvPr id="16" name="Shape 14"/>
          <p:cNvSpPr/>
          <p:nvPr/>
        </p:nvSpPr>
        <p:spPr>
          <a:xfrm>
            <a:off x="10712196" y="4128516"/>
            <a:ext cx="64008" cy="64008"/>
          </a:xfrm>
          <a:prstGeom prst="ellipse">
            <a:avLst/>
          </a:prstGeom>
          <a:solidFill>
            <a:srgbClr val="00A6D6">
              <a:alpha val="80000"/>
            </a:srgbClr>
          </a:solidFill>
          <a:ln w="12700">
            <a:solidFill>
              <a:srgbClr val="00A6D6">
                <a:alpha val="60000"/>
              </a:srgbClr>
            </a:solidFill>
            <a:prstDash val="solid"/>
          </a:ln>
        </p:spPr>
      </p:sp>
      <p:sp>
        <p:nvSpPr>
          <p:cNvPr id="17" name="Shape 15"/>
          <p:cNvSpPr/>
          <p:nvPr/>
        </p:nvSpPr>
        <p:spPr>
          <a:xfrm>
            <a:off x="2116836" y="5454396"/>
            <a:ext cx="64008" cy="64008"/>
          </a:xfrm>
          <a:prstGeom prst="ellipse">
            <a:avLst/>
          </a:prstGeom>
          <a:solidFill>
            <a:srgbClr val="00A6D6">
              <a:alpha val="80000"/>
            </a:srgbClr>
          </a:solidFill>
          <a:ln w="12700">
            <a:solidFill>
              <a:srgbClr val="00A6D6">
                <a:alpha val="60000"/>
              </a:srgbClr>
            </a:solidFill>
            <a:prstDash val="solid"/>
          </a:ln>
        </p:spPr>
      </p:sp>
      <p:sp>
        <p:nvSpPr>
          <p:cNvPr id="18" name="Shape 16"/>
          <p:cNvSpPr/>
          <p:nvPr/>
        </p:nvSpPr>
        <p:spPr>
          <a:xfrm>
            <a:off x="608076" y="973836"/>
            <a:ext cx="64008" cy="64008"/>
          </a:xfrm>
          <a:prstGeom prst="ellipse">
            <a:avLst/>
          </a:prstGeom>
          <a:solidFill>
            <a:srgbClr val="00A6D6">
              <a:alpha val="80000"/>
            </a:srgbClr>
          </a:solidFill>
          <a:ln w="12700">
            <a:solidFill>
              <a:srgbClr val="00A6D6">
                <a:alpha val="60000"/>
              </a:srgbClr>
            </a:solidFill>
            <a:prstDash val="solid"/>
          </a:ln>
        </p:spPr>
      </p:sp>
      <p:sp>
        <p:nvSpPr>
          <p:cNvPr id="19" name="Shape 17"/>
          <p:cNvSpPr/>
          <p:nvPr/>
        </p:nvSpPr>
        <p:spPr>
          <a:xfrm>
            <a:off x="8197596" y="4631436"/>
            <a:ext cx="64008" cy="64008"/>
          </a:xfrm>
          <a:prstGeom prst="ellipse">
            <a:avLst/>
          </a:prstGeom>
          <a:solidFill>
            <a:srgbClr val="00A6D6">
              <a:alpha val="80000"/>
            </a:srgbClr>
          </a:solidFill>
          <a:ln w="12700">
            <a:solidFill>
              <a:srgbClr val="00A6D6">
                <a:alpha val="60000"/>
              </a:srgbClr>
            </a:solidFill>
            <a:prstDash val="solid"/>
          </a:ln>
        </p:spPr>
      </p:sp>
      <p:sp>
        <p:nvSpPr>
          <p:cNvPr id="20" name="Text 18"/>
          <p:cNvSpPr/>
          <p:nvPr/>
        </p:nvSpPr>
        <p:spPr>
          <a:xfrm>
            <a:off x="658368" y="658368"/>
            <a:ext cx="5486400" cy="411480"/>
          </a:xfrm>
          <a:prstGeom prst="rect">
            <a:avLst/>
          </a:prstGeom>
          <a:noFill/>
          <a:ln/>
        </p:spPr>
        <p:txBody>
          <a:bodyPr wrap="square" lIns="0" tIns="0" rIns="0" bIns="0" rtlCol="0" anchor="ctr"/>
          <a:lstStyle/>
          <a:p>
            <a:pPr indent="0" marL="0">
              <a:buNone/>
            </a:pPr>
            <a:r>
              <a:rPr lang="en-US" sz="2700" b="1" dirty="0">
                <a:solidFill>
                  <a:srgbClr val="FFFFFF"/>
                </a:solidFill>
                <a:latin typeface="Aptos Display" pitchFamily="34" charset="0"/>
                <a:ea typeface="Aptos Display" pitchFamily="34" charset="-122"/>
                <a:cs typeface="Aptos Display" pitchFamily="34" charset="-120"/>
              </a:rPr>
              <a:t>FROM R&amp;D IDEA</a:t>
            </a:r>
            <a:endParaRPr lang="en-US" sz="2700" dirty="0"/>
          </a:p>
        </p:txBody>
      </p:sp>
      <p:sp>
        <p:nvSpPr>
          <p:cNvPr id="21" name="Text 19"/>
          <p:cNvSpPr/>
          <p:nvPr/>
        </p:nvSpPr>
        <p:spPr>
          <a:xfrm>
            <a:off x="658368" y="1097280"/>
            <a:ext cx="4937760" cy="502920"/>
          </a:xfrm>
          <a:prstGeom prst="rect">
            <a:avLst/>
          </a:prstGeom>
          <a:noFill/>
          <a:ln/>
        </p:spPr>
        <p:txBody>
          <a:bodyPr wrap="square" lIns="0" tIns="0" rIns="0" bIns="0" rtlCol="0" anchor="ctr"/>
          <a:lstStyle/>
          <a:p>
            <a:pPr indent="0" marL="0">
              <a:buNone/>
            </a:pPr>
            <a:r>
              <a:rPr lang="en-US" sz="3300" b="1" dirty="0">
                <a:solidFill>
                  <a:srgbClr val="00A6D6"/>
                </a:solidFill>
                <a:latin typeface="Aptos Display" pitchFamily="34" charset="0"/>
                <a:ea typeface="Aptos Display" pitchFamily="34" charset="-122"/>
                <a:cs typeface="Aptos Display" pitchFamily="34" charset="-120"/>
              </a:rPr>
              <a:t>TO IP ASSET</a:t>
            </a:r>
            <a:endParaRPr lang="en-US" sz="3300" dirty="0"/>
          </a:p>
        </p:txBody>
      </p:sp>
      <p:sp>
        <p:nvSpPr>
          <p:cNvPr id="22" name="Shape 20"/>
          <p:cNvSpPr/>
          <p:nvPr/>
        </p:nvSpPr>
        <p:spPr>
          <a:xfrm>
            <a:off x="676656" y="1783080"/>
            <a:ext cx="2011680" cy="0"/>
          </a:xfrm>
          <a:prstGeom prst="line">
            <a:avLst/>
          </a:prstGeom>
          <a:noFill/>
          <a:ln w="33020">
            <a:solidFill>
              <a:srgbClr val="00A6D6"/>
            </a:solidFill>
            <a:prstDash val="solid"/>
          </a:ln>
        </p:spPr>
      </p:sp>
      <p:sp>
        <p:nvSpPr>
          <p:cNvPr id="23" name="Text 21"/>
          <p:cNvSpPr/>
          <p:nvPr/>
        </p:nvSpPr>
        <p:spPr>
          <a:xfrm>
            <a:off x="694944" y="2084832"/>
            <a:ext cx="4937760" cy="256032"/>
          </a:xfrm>
          <a:prstGeom prst="rect">
            <a:avLst/>
          </a:prstGeom>
          <a:noFill/>
          <a:ln/>
        </p:spPr>
        <p:txBody>
          <a:bodyPr wrap="square" lIns="0" tIns="0" rIns="0" bIns="0" rtlCol="0" anchor="t">
            <a:normAutofit/>
          </a:bodyPr>
          <a:lstStyle/>
          <a:p>
            <a:pPr algn="l" indent="0" marL="0">
              <a:buNone/>
            </a:pPr>
            <a:r>
              <a:rPr lang="en-US" sz="1200" b="1" dirty="0">
                <a:solidFill>
                  <a:srgbClr val="D7E8F7"/>
                </a:solidFill>
                <a:latin typeface="Aptos" pitchFamily="34" charset="0"/>
                <a:ea typeface="Aptos" pitchFamily="34" charset="-122"/>
                <a:cs typeface="Aptos" pitchFamily="34" charset="-120"/>
              </a:rPr>
              <a:t>Two-Month IP Law Internship Presentation</a:t>
            </a:r>
            <a:endParaRPr lang="en-US" sz="1200" dirty="0"/>
          </a:p>
        </p:txBody>
      </p:sp>
      <p:sp>
        <p:nvSpPr>
          <p:cNvPr id="24" name="Text 22"/>
          <p:cNvSpPr/>
          <p:nvPr/>
        </p:nvSpPr>
        <p:spPr>
          <a:xfrm>
            <a:off x="694944" y="2432304"/>
            <a:ext cx="5120640" cy="219456"/>
          </a:xfrm>
          <a:prstGeom prst="rect">
            <a:avLst/>
          </a:prstGeom>
          <a:noFill/>
          <a:ln/>
        </p:spPr>
        <p:txBody>
          <a:bodyPr wrap="square" lIns="0" tIns="0" rIns="0" bIns="0" rtlCol="0" anchor="t">
            <a:normAutofit/>
          </a:bodyPr>
          <a:lstStyle/>
          <a:p>
            <a:pPr algn="l" indent="0" marL="0">
              <a:buNone/>
            </a:pPr>
            <a:r>
              <a:rPr lang="en-US" sz="1120" dirty="0">
                <a:solidFill>
                  <a:srgbClr val="BFD6EA"/>
                </a:solidFill>
                <a:latin typeface="Aptos" pitchFamily="34" charset="0"/>
                <a:ea typeface="Aptos" pitchFamily="34" charset="-122"/>
                <a:cs typeface="Aptos" pitchFamily="34" charset="-120"/>
              </a:rPr>
              <a:t>Samsung Research Institute Bangalore</a:t>
            </a:r>
            <a:endParaRPr lang="en-US" sz="1120" dirty="0"/>
          </a:p>
        </p:txBody>
      </p:sp>
      <p:sp>
        <p:nvSpPr>
          <p:cNvPr id="25" name="Text 23"/>
          <p:cNvSpPr/>
          <p:nvPr/>
        </p:nvSpPr>
        <p:spPr>
          <a:xfrm>
            <a:off x="694944" y="2761488"/>
            <a:ext cx="6309360" cy="274320"/>
          </a:xfrm>
          <a:prstGeom prst="rect">
            <a:avLst/>
          </a:prstGeom>
          <a:noFill/>
          <a:ln/>
        </p:spPr>
        <p:txBody>
          <a:bodyPr wrap="square" lIns="0" tIns="0" rIns="0" bIns="0" rtlCol="0" anchor="t">
            <a:normAutofit/>
          </a:bodyPr>
          <a:lstStyle/>
          <a:p>
            <a:pPr algn="l" indent="0" marL="0">
              <a:buNone/>
            </a:pPr>
            <a:r>
              <a:rPr lang="en-US" sz="1020" dirty="0">
                <a:solidFill>
                  <a:srgbClr val="AFC8DD"/>
                </a:solidFill>
                <a:latin typeface="Aptos" pitchFamily="34" charset="0"/>
                <a:ea typeface="Aptos" pitchFamily="34" charset="-122"/>
                <a:cs typeface="Aptos" pitchFamily="34" charset="-120"/>
              </a:rPr>
              <a:t>Surendra Mundvadiya | Rajiv Gandhi School of Intellectual Property Law, IIT Kharagpur</a:t>
            </a:r>
            <a:endParaRPr lang="en-US" sz="1020" dirty="0"/>
          </a:p>
        </p:txBody>
      </p:sp>
      <p:sp>
        <p:nvSpPr>
          <p:cNvPr id="26" name="Text 24"/>
          <p:cNvSpPr/>
          <p:nvPr/>
        </p:nvSpPr>
        <p:spPr>
          <a:xfrm>
            <a:off x="694944" y="3081528"/>
            <a:ext cx="4297680" cy="182880"/>
          </a:xfrm>
          <a:prstGeom prst="rect">
            <a:avLst/>
          </a:prstGeom>
          <a:noFill/>
          <a:ln/>
        </p:spPr>
        <p:txBody>
          <a:bodyPr wrap="square" lIns="0" tIns="0" rIns="0" bIns="0" rtlCol="0" anchor="t">
            <a:normAutofit/>
          </a:bodyPr>
          <a:lstStyle/>
          <a:p>
            <a:pPr algn="l" indent="0" marL="0">
              <a:buNone/>
            </a:pPr>
            <a:r>
              <a:rPr lang="en-US" sz="890" dirty="0">
                <a:solidFill>
                  <a:srgbClr val="8FB0C9"/>
                </a:solidFill>
                <a:latin typeface="Aptos" pitchFamily="34" charset="0"/>
                <a:ea typeface="Aptos" pitchFamily="34" charset="-122"/>
                <a:cs typeface="Aptos" pitchFamily="34" charset="-120"/>
              </a:rPr>
              <a:t>[Month–Month, Year] | Non-confidential summary</a:t>
            </a:r>
            <a:endParaRPr lang="en-US" sz="890" dirty="0"/>
          </a:p>
        </p:txBody>
      </p:sp>
      <p:sp>
        <p:nvSpPr>
          <p:cNvPr id="27" name="Shape 25"/>
          <p:cNvSpPr/>
          <p:nvPr/>
        </p:nvSpPr>
        <p:spPr>
          <a:xfrm>
            <a:off x="6446520" y="960120"/>
            <a:ext cx="4187952" cy="530352"/>
          </a:xfrm>
          <a:prstGeom prst="roundRect">
            <a:avLst>
              <a:gd name="adj" fmla="val 13793"/>
            </a:avLst>
          </a:prstGeom>
          <a:solidFill>
            <a:srgbClr val="0F2B43"/>
          </a:solidFill>
          <a:ln w="15240">
            <a:solidFill>
              <a:srgbClr val="1D4ED8"/>
            </a:solidFill>
            <a:prstDash val="solid"/>
          </a:ln>
        </p:spPr>
      </p:sp>
      <p:sp>
        <p:nvSpPr>
          <p:cNvPr id="28" name="Shape 26"/>
          <p:cNvSpPr/>
          <p:nvPr/>
        </p:nvSpPr>
        <p:spPr>
          <a:xfrm>
            <a:off x="6446520" y="960120"/>
            <a:ext cx="91440" cy="530352"/>
          </a:xfrm>
          <a:prstGeom prst="rect">
            <a:avLst/>
          </a:prstGeom>
          <a:solidFill>
            <a:srgbClr val="1D4ED8"/>
          </a:solidFill>
          <a:ln w="12700">
            <a:solidFill>
              <a:srgbClr val="1D4ED8"/>
            </a:solidFill>
            <a:prstDash val="solid"/>
          </a:ln>
        </p:spPr>
      </p:sp>
      <p:sp>
        <p:nvSpPr>
          <p:cNvPr id="29" name="Text 27"/>
          <p:cNvSpPr/>
          <p:nvPr/>
        </p:nvSpPr>
        <p:spPr>
          <a:xfrm>
            <a:off x="6739128" y="1051560"/>
            <a:ext cx="347472" cy="228600"/>
          </a:xfrm>
          <a:prstGeom prst="rect">
            <a:avLst/>
          </a:prstGeom>
          <a:noFill/>
          <a:ln/>
        </p:spPr>
        <p:txBody>
          <a:bodyPr wrap="square" lIns="0" tIns="0" rIns="0" bIns="0" rtlCol="0" anchor="t">
            <a:normAutofit/>
          </a:bodyPr>
          <a:lstStyle/>
          <a:p>
            <a:pPr algn="l" indent="0" marL="0">
              <a:buNone/>
            </a:pPr>
            <a:r>
              <a:rPr lang="en-US" sz="1700" b="1" dirty="0">
                <a:solidFill>
                  <a:srgbClr val="1D4ED8"/>
                </a:solidFill>
                <a:latin typeface="Aptos Display" pitchFamily="34" charset="0"/>
                <a:ea typeface="Aptos Display" pitchFamily="34" charset="-122"/>
                <a:cs typeface="Aptos Display" pitchFamily="34" charset="-120"/>
              </a:rPr>
              <a:t>C</a:t>
            </a:r>
            <a:endParaRPr lang="en-US" sz="1700" dirty="0"/>
          </a:p>
        </p:txBody>
      </p:sp>
      <p:sp>
        <p:nvSpPr>
          <p:cNvPr id="30" name="Text 28"/>
          <p:cNvSpPr/>
          <p:nvPr/>
        </p:nvSpPr>
        <p:spPr>
          <a:xfrm>
            <a:off x="7287768" y="1097280"/>
            <a:ext cx="1298448" cy="182880"/>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Capture</a:t>
            </a:r>
            <a:endParaRPr lang="en-US" sz="1120" dirty="0"/>
          </a:p>
        </p:txBody>
      </p:sp>
      <p:sp>
        <p:nvSpPr>
          <p:cNvPr id="31" name="Text 29"/>
          <p:cNvSpPr/>
          <p:nvPr/>
        </p:nvSpPr>
        <p:spPr>
          <a:xfrm>
            <a:off x="8293608" y="1115568"/>
            <a:ext cx="2011680" cy="146304"/>
          </a:xfrm>
          <a:prstGeom prst="rect">
            <a:avLst/>
          </a:prstGeom>
          <a:noFill/>
          <a:ln/>
        </p:spPr>
        <p:txBody>
          <a:bodyPr wrap="square" lIns="0" tIns="0" rIns="0" bIns="0" rtlCol="0" anchor="t">
            <a:normAutofit/>
          </a:bodyPr>
          <a:lstStyle/>
          <a:p>
            <a:pPr algn="l" indent="0" marL="0">
              <a:buNone/>
            </a:pPr>
            <a:r>
              <a:rPr lang="en-US" sz="740" dirty="0">
                <a:solidFill>
                  <a:srgbClr val="BFD6EA"/>
                </a:solidFill>
                <a:latin typeface="Aptos" pitchFamily="34" charset="0"/>
                <a:ea typeface="Aptos" pitchFamily="34" charset="-122"/>
                <a:cs typeface="Aptos" pitchFamily="34" charset="-120"/>
              </a:rPr>
              <a:t>invention facts and disclosures</a:t>
            </a:r>
            <a:endParaRPr lang="en-US" sz="740" dirty="0"/>
          </a:p>
        </p:txBody>
      </p:sp>
      <p:sp>
        <p:nvSpPr>
          <p:cNvPr id="32" name="Shape 30"/>
          <p:cNvSpPr/>
          <p:nvPr/>
        </p:nvSpPr>
        <p:spPr>
          <a:xfrm>
            <a:off x="6446520" y="1746504"/>
            <a:ext cx="4187952" cy="530352"/>
          </a:xfrm>
          <a:prstGeom prst="roundRect">
            <a:avLst>
              <a:gd name="adj" fmla="val 13793"/>
            </a:avLst>
          </a:prstGeom>
          <a:solidFill>
            <a:srgbClr val="0F2B43"/>
          </a:solidFill>
          <a:ln w="15240">
            <a:solidFill>
              <a:srgbClr val="00A6D6"/>
            </a:solidFill>
            <a:prstDash val="solid"/>
          </a:ln>
        </p:spPr>
      </p:sp>
      <p:sp>
        <p:nvSpPr>
          <p:cNvPr id="33" name="Shape 31"/>
          <p:cNvSpPr/>
          <p:nvPr/>
        </p:nvSpPr>
        <p:spPr>
          <a:xfrm>
            <a:off x="6446520" y="1746504"/>
            <a:ext cx="91440" cy="530352"/>
          </a:xfrm>
          <a:prstGeom prst="rect">
            <a:avLst/>
          </a:prstGeom>
          <a:solidFill>
            <a:srgbClr val="00A6D6"/>
          </a:solidFill>
          <a:ln w="12700">
            <a:solidFill>
              <a:srgbClr val="00A6D6"/>
            </a:solidFill>
            <a:prstDash val="solid"/>
          </a:ln>
        </p:spPr>
      </p:sp>
      <p:sp>
        <p:nvSpPr>
          <p:cNvPr id="34" name="Text 32"/>
          <p:cNvSpPr/>
          <p:nvPr/>
        </p:nvSpPr>
        <p:spPr>
          <a:xfrm>
            <a:off x="6739128" y="1837944"/>
            <a:ext cx="347472" cy="228600"/>
          </a:xfrm>
          <a:prstGeom prst="rect">
            <a:avLst/>
          </a:prstGeom>
          <a:noFill/>
          <a:ln/>
        </p:spPr>
        <p:txBody>
          <a:bodyPr wrap="square" lIns="0" tIns="0" rIns="0" bIns="0" rtlCol="0" anchor="t">
            <a:normAutofit/>
          </a:bodyPr>
          <a:lstStyle/>
          <a:p>
            <a:pPr algn="l" indent="0" marL="0">
              <a:buNone/>
            </a:pPr>
            <a:r>
              <a:rPr lang="en-US" sz="1700" b="1" dirty="0">
                <a:solidFill>
                  <a:srgbClr val="00A6D6"/>
                </a:solidFill>
                <a:latin typeface="Aptos Display" pitchFamily="34" charset="0"/>
                <a:ea typeface="Aptos Display" pitchFamily="34" charset="-122"/>
                <a:cs typeface="Aptos Display" pitchFamily="34" charset="-120"/>
              </a:rPr>
              <a:t>L</a:t>
            </a:r>
            <a:endParaRPr lang="en-US" sz="1700" dirty="0"/>
          </a:p>
        </p:txBody>
      </p:sp>
      <p:sp>
        <p:nvSpPr>
          <p:cNvPr id="35" name="Text 33"/>
          <p:cNvSpPr/>
          <p:nvPr/>
        </p:nvSpPr>
        <p:spPr>
          <a:xfrm>
            <a:off x="7287768" y="1883664"/>
            <a:ext cx="1298448" cy="182880"/>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Locate</a:t>
            </a:r>
            <a:endParaRPr lang="en-US" sz="1120" dirty="0"/>
          </a:p>
        </p:txBody>
      </p:sp>
      <p:sp>
        <p:nvSpPr>
          <p:cNvPr id="36" name="Text 34"/>
          <p:cNvSpPr/>
          <p:nvPr/>
        </p:nvSpPr>
        <p:spPr>
          <a:xfrm>
            <a:off x="8293608" y="1901952"/>
            <a:ext cx="2011680" cy="146304"/>
          </a:xfrm>
          <a:prstGeom prst="rect">
            <a:avLst/>
          </a:prstGeom>
          <a:noFill/>
          <a:ln/>
        </p:spPr>
        <p:txBody>
          <a:bodyPr wrap="square" lIns="0" tIns="0" rIns="0" bIns="0" rtlCol="0" anchor="t">
            <a:normAutofit/>
          </a:bodyPr>
          <a:lstStyle/>
          <a:p>
            <a:pPr algn="l" indent="0" marL="0">
              <a:buNone/>
            </a:pPr>
            <a:r>
              <a:rPr lang="en-US" sz="740" dirty="0">
                <a:solidFill>
                  <a:srgbClr val="BFD6EA"/>
                </a:solidFill>
                <a:latin typeface="Aptos" pitchFamily="34" charset="0"/>
                <a:ea typeface="Aptos" pitchFamily="34" charset="-122"/>
                <a:cs typeface="Aptos" pitchFamily="34" charset="-120"/>
              </a:rPr>
              <a:t>closest prior art and patent signals</a:t>
            </a:r>
            <a:endParaRPr lang="en-US" sz="740" dirty="0"/>
          </a:p>
        </p:txBody>
      </p:sp>
      <p:sp>
        <p:nvSpPr>
          <p:cNvPr id="37" name="Shape 35"/>
          <p:cNvSpPr/>
          <p:nvPr/>
        </p:nvSpPr>
        <p:spPr>
          <a:xfrm>
            <a:off x="6446520" y="2532888"/>
            <a:ext cx="4187952" cy="530352"/>
          </a:xfrm>
          <a:prstGeom prst="roundRect">
            <a:avLst>
              <a:gd name="adj" fmla="val 13793"/>
            </a:avLst>
          </a:prstGeom>
          <a:solidFill>
            <a:srgbClr val="0F2B43"/>
          </a:solidFill>
          <a:ln w="15240">
            <a:solidFill>
              <a:srgbClr val="F59E0B"/>
            </a:solidFill>
            <a:prstDash val="solid"/>
          </a:ln>
        </p:spPr>
      </p:sp>
      <p:sp>
        <p:nvSpPr>
          <p:cNvPr id="38" name="Shape 36"/>
          <p:cNvSpPr/>
          <p:nvPr/>
        </p:nvSpPr>
        <p:spPr>
          <a:xfrm>
            <a:off x="6446520" y="2532888"/>
            <a:ext cx="91440" cy="530352"/>
          </a:xfrm>
          <a:prstGeom prst="rect">
            <a:avLst/>
          </a:prstGeom>
          <a:solidFill>
            <a:srgbClr val="F59E0B"/>
          </a:solidFill>
          <a:ln w="12700">
            <a:solidFill>
              <a:srgbClr val="F59E0B"/>
            </a:solidFill>
            <a:prstDash val="solid"/>
          </a:ln>
        </p:spPr>
      </p:sp>
      <p:sp>
        <p:nvSpPr>
          <p:cNvPr id="39" name="Text 37"/>
          <p:cNvSpPr/>
          <p:nvPr/>
        </p:nvSpPr>
        <p:spPr>
          <a:xfrm>
            <a:off x="6739128" y="2624328"/>
            <a:ext cx="347472" cy="228600"/>
          </a:xfrm>
          <a:prstGeom prst="rect">
            <a:avLst/>
          </a:prstGeom>
          <a:noFill/>
          <a:ln/>
        </p:spPr>
        <p:txBody>
          <a:bodyPr wrap="square" lIns="0" tIns="0" rIns="0" bIns="0" rtlCol="0" anchor="t">
            <a:normAutofit/>
          </a:bodyPr>
          <a:lstStyle/>
          <a:p>
            <a:pPr algn="l" indent="0" marL="0">
              <a:buNone/>
            </a:pPr>
            <a:r>
              <a:rPr lang="en-US" sz="1700" b="1" dirty="0">
                <a:solidFill>
                  <a:srgbClr val="F59E0B"/>
                </a:solidFill>
                <a:latin typeface="Aptos Display" pitchFamily="34" charset="0"/>
                <a:ea typeface="Aptos Display" pitchFamily="34" charset="-122"/>
                <a:cs typeface="Aptos Display" pitchFamily="34" charset="-120"/>
              </a:rPr>
              <a:t>A</a:t>
            </a:r>
            <a:endParaRPr lang="en-US" sz="1700" dirty="0"/>
          </a:p>
        </p:txBody>
      </p:sp>
      <p:sp>
        <p:nvSpPr>
          <p:cNvPr id="40" name="Text 38"/>
          <p:cNvSpPr/>
          <p:nvPr/>
        </p:nvSpPr>
        <p:spPr>
          <a:xfrm>
            <a:off x="7287768" y="2670048"/>
            <a:ext cx="1298448" cy="182880"/>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Analyse</a:t>
            </a:r>
            <a:endParaRPr lang="en-US" sz="1120" dirty="0"/>
          </a:p>
        </p:txBody>
      </p:sp>
      <p:sp>
        <p:nvSpPr>
          <p:cNvPr id="41" name="Text 39"/>
          <p:cNvSpPr/>
          <p:nvPr/>
        </p:nvSpPr>
        <p:spPr>
          <a:xfrm>
            <a:off x="8293608" y="2688336"/>
            <a:ext cx="2011680" cy="146304"/>
          </a:xfrm>
          <a:prstGeom prst="rect">
            <a:avLst/>
          </a:prstGeom>
          <a:noFill/>
          <a:ln/>
        </p:spPr>
        <p:txBody>
          <a:bodyPr wrap="square" lIns="0" tIns="0" rIns="0" bIns="0" rtlCol="0" anchor="t">
            <a:normAutofit/>
          </a:bodyPr>
          <a:lstStyle/>
          <a:p>
            <a:pPr algn="l" indent="0" marL="0">
              <a:buNone/>
            </a:pPr>
            <a:r>
              <a:rPr lang="en-US" sz="740" dirty="0">
                <a:solidFill>
                  <a:srgbClr val="BFD6EA"/>
                </a:solidFill>
                <a:latin typeface="Aptos" pitchFamily="34" charset="0"/>
                <a:ea typeface="Aptos" pitchFamily="34" charset="-122"/>
                <a:cs typeface="Aptos" pitchFamily="34" charset="-120"/>
              </a:rPr>
              <a:t>patentability, FTO and legal risks</a:t>
            </a:r>
            <a:endParaRPr lang="en-US" sz="740" dirty="0"/>
          </a:p>
        </p:txBody>
      </p:sp>
      <p:sp>
        <p:nvSpPr>
          <p:cNvPr id="42" name="Shape 40"/>
          <p:cNvSpPr/>
          <p:nvPr/>
        </p:nvSpPr>
        <p:spPr>
          <a:xfrm>
            <a:off x="6446520" y="3319272"/>
            <a:ext cx="4187952" cy="530352"/>
          </a:xfrm>
          <a:prstGeom prst="roundRect">
            <a:avLst>
              <a:gd name="adj" fmla="val 13793"/>
            </a:avLst>
          </a:prstGeom>
          <a:solidFill>
            <a:srgbClr val="0F2B43"/>
          </a:solidFill>
          <a:ln w="15240">
            <a:solidFill>
              <a:srgbClr val="7C3AED"/>
            </a:solidFill>
            <a:prstDash val="solid"/>
          </a:ln>
        </p:spPr>
      </p:sp>
      <p:sp>
        <p:nvSpPr>
          <p:cNvPr id="43" name="Shape 41"/>
          <p:cNvSpPr/>
          <p:nvPr/>
        </p:nvSpPr>
        <p:spPr>
          <a:xfrm>
            <a:off x="6446520" y="3319272"/>
            <a:ext cx="91440" cy="530352"/>
          </a:xfrm>
          <a:prstGeom prst="rect">
            <a:avLst/>
          </a:prstGeom>
          <a:solidFill>
            <a:srgbClr val="7C3AED"/>
          </a:solidFill>
          <a:ln w="12700">
            <a:solidFill>
              <a:srgbClr val="7C3AED"/>
            </a:solidFill>
            <a:prstDash val="solid"/>
          </a:ln>
        </p:spPr>
      </p:sp>
      <p:sp>
        <p:nvSpPr>
          <p:cNvPr id="44" name="Text 42"/>
          <p:cNvSpPr/>
          <p:nvPr/>
        </p:nvSpPr>
        <p:spPr>
          <a:xfrm>
            <a:off x="6739128" y="3410712"/>
            <a:ext cx="347472" cy="228600"/>
          </a:xfrm>
          <a:prstGeom prst="rect">
            <a:avLst/>
          </a:prstGeom>
          <a:noFill/>
          <a:ln/>
        </p:spPr>
        <p:txBody>
          <a:bodyPr wrap="square" lIns="0" tIns="0" rIns="0" bIns="0" rtlCol="0" anchor="t">
            <a:normAutofit/>
          </a:bodyPr>
          <a:lstStyle/>
          <a:p>
            <a:pPr algn="l" indent="0" marL="0">
              <a:buNone/>
            </a:pPr>
            <a:r>
              <a:rPr lang="en-US" sz="1700" b="1" dirty="0">
                <a:solidFill>
                  <a:srgbClr val="7C3AED"/>
                </a:solidFill>
                <a:latin typeface="Aptos Display" pitchFamily="34" charset="0"/>
                <a:ea typeface="Aptos Display" pitchFamily="34" charset="-122"/>
                <a:cs typeface="Aptos Display" pitchFamily="34" charset="-120"/>
              </a:rPr>
              <a:t>I</a:t>
            </a:r>
            <a:endParaRPr lang="en-US" sz="1700" dirty="0"/>
          </a:p>
        </p:txBody>
      </p:sp>
      <p:sp>
        <p:nvSpPr>
          <p:cNvPr id="45" name="Text 43"/>
          <p:cNvSpPr/>
          <p:nvPr/>
        </p:nvSpPr>
        <p:spPr>
          <a:xfrm>
            <a:off x="7287768" y="3456432"/>
            <a:ext cx="1298448" cy="182880"/>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Interpret</a:t>
            </a:r>
            <a:endParaRPr lang="en-US" sz="1120" dirty="0"/>
          </a:p>
        </p:txBody>
      </p:sp>
      <p:sp>
        <p:nvSpPr>
          <p:cNvPr id="46" name="Text 44"/>
          <p:cNvSpPr/>
          <p:nvPr/>
        </p:nvSpPr>
        <p:spPr>
          <a:xfrm>
            <a:off x="8293608" y="3474720"/>
            <a:ext cx="2011680" cy="146304"/>
          </a:xfrm>
          <a:prstGeom prst="rect">
            <a:avLst/>
          </a:prstGeom>
          <a:noFill/>
          <a:ln/>
        </p:spPr>
        <p:txBody>
          <a:bodyPr wrap="square" lIns="0" tIns="0" rIns="0" bIns="0" rtlCol="0" anchor="t">
            <a:normAutofit/>
          </a:bodyPr>
          <a:lstStyle/>
          <a:p>
            <a:pPr algn="l" indent="0" marL="0">
              <a:buNone/>
            </a:pPr>
            <a:r>
              <a:rPr lang="en-US" sz="740" dirty="0">
                <a:solidFill>
                  <a:srgbClr val="BFD6EA"/>
                </a:solidFill>
                <a:latin typeface="Aptos" pitchFamily="34" charset="0"/>
                <a:ea typeface="Aptos" pitchFamily="34" charset="-122"/>
                <a:cs typeface="Aptos" pitchFamily="34" charset="-120"/>
              </a:rPr>
              <a:t>claims, objections and response logic</a:t>
            </a:r>
            <a:endParaRPr lang="en-US" sz="740" dirty="0"/>
          </a:p>
        </p:txBody>
      </p:sp>
      <p:sp>
        <p:nvSpPr>
          <p:cNvPr id="47" name="Shape 45"/>
          <p:cNvSpPr/>
          <p:nvPr/>
        </p:nvSpPr>
        <p:spPr>
          <a:xfrm>
            <a:off x="6446520" y="4105656"/>
            <a:ext cx="4187952" cy="530352"/>
          </a:xfrm>
          <a:prstGeom prst="roundRect">
            <a:avLst>
              <a:gd name="adj" fmla="val 13793"/>
            </a:avLst>
          </a:prstGeom>
          <a:solidFill>
            <a:srgbClr val="0F2B43"/>
          </a:solidFill>
          <a:ln w="15240">
            <a:solidFill>
              <a:srgbClr val="0EA5A4"/>
            </a:solidFill>
            <a:prstDash val="solid"/>
          </a:ln>
        </p:spPr>
      </p:sp>
      <p:sp>
        <p:nvSpPr>
          <p:cNvPr id="48" name="Shape 46"/>
          <p:cNvSpPr/>
          <p:nvPr/>
        </p:nvSpPr>
        <p:spPr>
          <a:xfrm>
            <a:off x="6446520" y="4105656"/>
            <a:ext cx="91440" cy="530352"/>
          </a:xfrm>
          <a:prstGeom prst="rect">
            <a:avLst/>
          </a:prstGeom>
          <a:solidFill>
            <a:srgbClr val="0EA5A4"/>
          </a:solidFill>
          <a:ln w="12700">
            <a:solidFill>
              <a:srgbClr val="0EA5A4"/>
            </a:solidFill>
            <a:prstDash val="solid"/>
          </a:ln>
        </p:spPr>
      </p:sp>
      <p:sp>
        <p:nvSpPr>
          <p:cNvPr id="49" name="Text 47"/>
          <p:cNvSpPr/>
          <p:nvPr/>
        </p:nvSpPr>
        <p:spPr>
          <a:xfrm>
            <a:off x="6739128" y="4197096"/>
            <a:ext cx="347472" cy="228600"/>
          </a:xfrm>
          <a:prstGeom prst="rect">
            <a:avLst/>
          </a:prstGeom>
          <a:noFill/>
          <a:ln/>
        </p:spPr>
        <p:txBody>
          <a:bodyPr wrap="square" lIns="0" tIns="0" rIns="0" bIns="0" rtlCol="0" anchor="t">
            <a:normAutofit/>
          </a:bodyPr>
          <a:lstStyle/>
          <a:p>
            <a:pPr algn="l" indent="0" marL="0">
              <a:buNone/>
            </a:pPr>
            <a:r>
              <a:rPr lang="en-US" sz="1700" b="1" dirty="0">
                <a:solidFill>
                  <a:srgbClr val="0EA5A4"/>
                </a:solidFill>
                <a:latin typeface="Aptos Display" pitchFamily="34" charset="0"/>
                <a:ea typeface="Aptos Display" pitchFamily="34" charset="-122"/>
                <a:cs typeface="Aptos Display" pitchFamily="34" charset="-120"/>
              </a:rPr>
              <a:t>M</a:t>
            </a:r>
            <a:endParaRPr lang="en-US" sz="1700" dirty="0"/>
          </a:p>
        </p:txBody>
      </p:sp>
      <p:sp>
        <p:nvSpPr>
          <p:cNvPr id="50" name="Text 48"/>
          <p:cNvSpPr/>
          <p:nvPr/>
        </p:nvSpPr>
        <p:spPr>
          <a:xfrm>
            <a:off x="7287768" y="4242816"/>
            <a:ext cx="1298448" cy="182880"/>
          </a:xfrm>
          <a:prstGeom prst="rect">
            <a:avLst/>
          </a:prstGeom>
          <a:noFill/>
          <a:ln/>
        </p:spPr>
        <p:txBody>
          <a:bodyPr wrap="square" lIns="0" tIns="0" rIns="0" bIns="0" rtlCol="0" anchor="t">
            <a:normAutofit/>
          </a:bodyPr>
          <a:lstStyle/>
          <a:p>
            <a:pPr algn="l" indent="0" marL="0">
              <a:buNone/>
            </a:pPr>
            <a:r>
              <a:rPr lang="en-US" sz="1120" b="1" dirty="0">
                <a:solidFill>
                  <a:srgbClr val="FFFFFF"/>
                </a:solidFill>
                <a:latin typeface="Aptos" pitchFamily="34" charset="0"/>
                <a:ea typeface="Aptos" pitchFamily="34" charset="-122"/>
                <a:cs typeface="Aptos" pitchFamily="34" charset="-120"/>
              </a:rPr>
              <a:t>Manage</a:t>
            </a:r>
            <a:endParaRPr lang="en-US" sz="1120" dirty="0"/>
          </a:p>
        </p:txBody>
      </p:sp>
      <p:sp>
        <p:nvSpPr>
          <p:cNvPr id="51" name="Text 49"/>
          <p:cNvSpPr/>
          <p:nvPr/>
        </p:nvSpPr>
        <p:spPr>
          <a:xfrm>
            <a:off x="8293608" y="4261104"/>
            <a:ext cx="2011680" cy="146304"/>
          </a:xfrm>
          <a:prstGeom prst="rect">
            <a:avLst/>
          </a:prstGeom>
          <a:noFill/>
          <a:ln/>
        </p:spPr>
        <p:txBody>
          <a:bodyPr wrap="square" lIns="0" tIns="0" rIns="0" bIns="0" rtlCol="0" anchor="t">
            <a:normAutofit/>
          </a:bodyPr>
          <a:lstStyle/>
          <a:p>
            <a:pPr algn="l" indent="0" marL="0">
              <a:buNone/>
            </a:pPr>
            <a:r>
              <a:rPr lang="en-US" sz="740" dirty="0">
                <a:solidFill>
                  <a:srgbClr val="BFD6EA"/>
                </a:solidFill>
                <a:latin typeface="Aptos" pitchFamily="34" charset="0"/>
                <a:ea typeface="Aptos" pitchFamily="34" charset="-122"/>
                <a:cs typeface="Aptos" pitchFamily="34" charset="-120"/>
              </a:rPr>
              <a:t>confidentiality, ownership and records</a:t>
            </a:r>
            <a:endParaRPr lang="en-US" sz="740" dirty="0"/>
          </a:p>
        </p:txBody>
      </p:sp>
      <p:sp>
        <p:nvSpPr>
          <p:cNvPr id="52" name="Shape 50"/>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53" name="Text 51"/>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54" name="Text 52"/>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55" name="Shape 53"/>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56" name="Text 54"/>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57" name="Text 55"/>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58" name="Shape 56"/>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59" name="Text 57"/>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60" name="Text 58"/>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61" name="Shape 59"/>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62" name="Text 60"/>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63" name="Text 61"/>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64" name="Shape 62"/>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65" name="Text 63"/>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66" name="Text 64"/>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67" name="Text 65"/>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BFD6EA"/>
                </a:solidFill>
              </a:rPr>
              <a:t>Non-confidential internship summary</a:t>
            </a:r>
            <a:endParaRPr lang="en-US" sz="680" dirty="0"/>
          </a:p>
        </p:txBody>
      </p:sp>
      <p:sp>
        <p:nvSpPr>
          <p:cNvPr id="68" name="Text 66"/>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BFD6EA"/>
                </a:solidFill>
                <a:latin typeface="Aptos Display" pitchFamily="34" charset="0"/>
                <a:ea typeface="Aptos Display" pitchFamily="34" charset="-122"/>
                <a:cs typeface="Aptos Display"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428A0"/>
                </a:solidFill>
              </a:rPr>
              <a:t>MEMORY STRUCTURE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Remember the internship as “CLAIM”</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A simple presentation spine: every task fits into one of five IP-law functions.</a:t>
            </a:r>
            <a:endParaRPr lang="en-US" sz="1050" dirty="0"/>
          </a:p>
        </p:txBody>
      </p:sp>
      <p:sp>
        <p:nvSpPr>
          <p:cNvPr id="9" name="Shape 7"/>
          <p:cNvSpPr/>
          <p:nvPr/>
        </p:nvSpPr>
        <p:spPr>
          <a:xfrm>
            <a:off x="566928" y="1499616"/>
            <a:ext cx="1920240" cy="0"/>
          </a:xfrm>
          <a:prstGeom prst="line">
            <a:avLst/>
          </a:prstGeom>
          <a:noFill/>
          <a:ln w="27940">
            <a:solidFill>
              <a:srgbClr val="1428A0"/>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02</a:t>
            </a:r>
            <a:endParaRPr lang="en-US" sz="800" dirty="0"/>
          </a:p>
        </p:txBody>
      </p:sp>
      <p:sp>
        <p:nvSpPr>
          <p:cNvPr id="27" name="Shape 25"/>
          <p:cNvSpPr/>
          <p:nvPr/>
        </p:nvSpPr>
        <p:spPr>
          <a:xfrm>
            <a:off x="749808" y="1938528"/>
            <a:ext cx="1874520" cy="2395728"/>
          </a:xfrm>
          <a:prstGeom prst="roundRect">
            <a:avLst>
              <a:gd name="adj" fmla="val 3902"/>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28" name="Shape 26"/>
          <p:cNvSpPr/>
          <p:nvPr/>
        </p:nvSpPr>
        <p:spPr>
          <a:xfrm>
            <a:off x="1252728" y="2157984"/>
            <a:ext cx="868680" cy="868680"/>
          </a:xfrm>
          <a:prstGeom prst="ellipse">
            <a:avLst/>
          </a:prstGeom>
          <a:solidFill>
            <a:srgbClr val="1D4ED8"/>
          </a:solidFill>
          <a:ln w="12700">
            <a:solidFill>
              <a:srgbClr val="1D4ED8"/>
            </a:solidFill>
            <a:prstDash val="solid"/>
          </a:ln>
        </p:spPr>
      </p:sp>
      <p:sp>
        <p:nvSpPr>
          <p:cNvPr id="29" name="Text 27"/>
          <p:cNvSpPr/>
          <p:nvPr/>
        </p:nvSpPr>
        <p:spPr>
          <a:xfrm>
            <a:off x="1252728" y="2340864"/>
            <a:ext cx="868680" cy="246888"/>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Aptos Display" pitchFamily="34" charset="0"/>
                <a:ea typeface="Aptos Display" pitchFamily="34" charset="-122"/>
                <a:cs typeface="Aptos Display" pitchFamily="34" charset="-120"/>
              </a:rPr>
              <a:t>C</a:t>
            </a:r>
            <a:endParaRPr lang="en-US" sz="2400" dirty="0"/>
          </a:p>
        </p:txBody>
      </p:sp>
      <p:sp>
        <p:nvSpPr>
          <p:cNvPr id="30" name="Text 28"/>
          <p:cNvSpPr/>
          <p:nvPr/>
        </p:nvSpPr>
        <p:spPr>
          <a:xfrm>
            <a:off x="914400" y="3182112"/>
            <a:ext cx="1536192" cy="228600"/>
          </a:xfrm>
          <a:prstGeom prst="rect">
            <a:avLst/>
          </a:prstGeom>
          <a:noFill/>
          <a:ln/>
        </p:spPr>
        <p:txBody>
          <a:bodyPr wrap="square" lIns="0" tIns="0" rIns="0" bIns="0" rtlCol="0" anchor="t">
            <a:normAutofit/>
          </a:bodyPr>
          <a:lstStyle/>
          <a:p>
            <a:pPr algn="ctr" indent="0" marL="0">
              <a:buNone/>
            </a:pPr>
            <a:r>
              <a:rPr lang="en-US" sz="1250" b="1" dirty="0">
                <a:solidFill>
                  <a:srgbClr val="111827"/>
                </a:solidFill>
                <a:latin typeface="Aptos" pitchFamily="34" charset="0"/>
                <a:ea typeface="Aptos" pitchFamily="34" charset="-122"/>
                <a:cs typeface="Aptos" pitchFamily="34" charset="-120"/>
              </a:rPr>
              <a:t>Capture</a:t>
            </a:r>
            <a:endParaRPr lang="en-US" sz="1250" dirty="0"/>
          </a:p>
        </p:txBody>
      </p:sp>
      <p:sp>
        <p:nvSpPr>
          <p:cNvPr id="31" name="Text 29"/>
          <p:cNvSpPr/>
          <p:nvPr/>
        </p:nvSpPr>
        <p:spPr>
          <a:xfrm>
            <a:off x="914400" y="3557016"/>
            <a:ext cx="1536192" cy="512064"/>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Record invention facts accurately before legal analysis begins.</a:t>
            </a:r>
            <a:endParaRPr lang="en-US" sz="840" dirty="0"/>
          </a:p>
        </p:txBody>
      </p:sp>
      <p:sp>
        <p:nvSpPr>
          <p:cNvPr id="32" name="Shape 30"/>
          <p:cNvSpPr/>
          <p:nvPr/>
        </p:nvSpPr>
        <p:spPr>
          <a:xfrm>
            <a:off x="2642616" y="3054096"/>
            <a:ext cx="301752" cy="164592"/>
          </a:xfrm>
          <a:prstGeom prst="rightArrow">
            <a:avLst/>
          </a:prstGeom>
          <a:solidFill>
            <a:srgbClr val="C6D3E1">
              <a:alpha val="94000"/>
            </a:srgbClr>
          </a:solidFill>
          <a:ln w="12700">
            <a:solidFill>
              <a:srgbClr val="C6D3E1"/>
            </a:solidFill>
            <a:prstDash val="solid"/>
          </a:ln>
        </p:spPr>
      </p:sp>
      <p:sp>
        <p:nvSpPr>
          <p:cNvPr id="33" name="Shape 31"/>
          <p:cNvSpPr/>
          <p:nvPr/>
        </p:nvSpPr>
        <p:spPr>
          <a:xfrm>
            <a:off x="3017520" y="1938528"/>
            <a:ext cx="1874520" cy="2395728"/>
          </a:xfrm>
          <a:prstGeom prst="roundRect">
            <a:avLst>
              <a:gd name="adj" fmla="val 3902"/>
            </a:avLst>
          </a:prstGeom>
          <a:solidFill>
            <a:srgbClr val="FFFFFF"/>
          </a:solidFill>
          <a:ln w="13970">
            <a:solidFill>
              <a:srgbClr val="00A6D6"/>
            </a:solidFill>
            <a:prstDash val="solid"/>
          </a:ln>
          <a:effectLst>
            <a:outerShdw sx="100000" sy="100000" kx="0" ky="0" algn="bl" rotWithShape="0" blurRad="12700" dist="50800" dir="2700000">
              <a:srgbClr val="9AA6B2">
                <a:alpha val="16000"/>
              </a:srgbClr>
            </a:outerShdw>
          </a:effectLst>
        </p:spPr>
      </p:sp>
      <p:sp>
        <p:nvSpPr>
          <p:cNvPr id="34" name="Shape 32"/>
          <p:cNvSpPr/>
          <p:nvPr/>
        </p:nvSpPr>
        <p:spPr>
          <a:xfrm>
            <a:off x="3520440" y="2157984"/>
            <a:ext cx="868680" cy="868680"/>
          </a:xfrm>
          <a:prstGeom prst="ellipse">
            <a:avLst/>
          </a:prstGeom>
          <a:solidFill>
            <a:srgbClr val="00A6D6"/>
          </a:solidFill>
          <a:ln w="12700">
            <a:solidFill>
              <a:srgbClr val="00A6D6"/>
            </a:solidFill>
            <a:prstDash val="solid"/>
          </a:ln>
        </p:spPr>
      </p:sp>
      <p:sp>
        <p:nvSpPr>
          <p:cNvPr id="35" name="Text 33"/>
          <p:cNvSpPr/>
          <p:nvPr/>
        </p:nvSpPr>
        <p:spPr>
          <a:xfrm>
            <a:off x="3520440" y="2340864"/>
            <a:ext cx="868680" cy="246888"/>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Aptos Display" pitchFamily="34" charset="0"/>
                <a:ea typeface="Aptos Display" pitchFamily="34" charset="-122"/>
                <a:cs typeface="Aptos Display" pitchFamily="34" charset="-120"/>
              </a:rPr>
              <a:t>L</a:t>
            </a:r>
            <a:endParaRPr lang="en-US" sz="2400" dirty="0"/>
          </a:p>
        </p:txBody>
      </p:sp>
      <p:sp>
        <p:nvSpPr>
          <p:cNvPr id="36" name="Text 34"/>
          <p:cNvSpPr/>
          <p:nvPr/>
        </p:nvSpPr>
        <p:spPr>
          <a:xfrm>
            <a:off x="3182112" y="3182112"/>
            <a:ext cx="1536192" cy="228600"/>
          </a:xfrm>
          <a:prstGeom prst="rect">
            <a:avLst/>
          </a:prstGeom>
          <a:noFill/>
          <a:ln/>
        </p:spPr>
        <p:txBody>
          <a:bodyPr wrap="square" lIns="0" tIns="0" rIns="0" bIns="0" rtlCol="0" anchor="t">
            <a:normAutofit/>
          </a:bodyPr>
          <a:lstStyle/>
          <a:p>
            <a:pPr algn="ctr" indent="0" marL="0">
              <a:buNone/>
            </a:pPr>
            <a:r>
              <a:rPr lang="en-US" sz="1250" b="1" dirty="0">
                <a:solidFill>
                  <a:srgbClr val="111827"/>
                </a:solidFill>
                <a:latin typeface="Aptos" pitchFamily="34" charset="0"/>
                <a:ea typeface="Aptos" pitchFamily="34" charset="-122"/>
                <a:cs typeface="Aptos" pitchFamily="34" charset="-120"/>
              </a:rPr>
              <a:t>Locate</a:t>
            </a:r>
            <a:endParaRPr lang="en-US" sz="1250" dirty="0"/>
          </a:p>
        </p:txBody>
      </p:sp>
      <p:sp>
        <p:nvSpPr>
          <p:cNvPr id="37" name="Text 35"/>
          <p:cNvSpPr/>
          <p:nvPr/>
        </p:nvSpPr>
        <p:spPr>
          <a:xfrm>
            <a:off x="3182112" y="3557016"/>
            <a:ext cx="1536192" cy="512064"/>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Find the closest prior art and patent activity around the technology.</a:t>
            </a:r>
            <a:endParaRPr lang="en-US" sz="840" dirty="0"/>
          </a:p>
        </p:txBody>
      </p:sp>
      <p:sp>
        <p:nvSpPr>
          <p:cNvPr id="38" name="Shape 36"/>
          <p:cNvSpPr/>
          <p:nvPr/>
        </p:nvSpPr>
        <p:spPr>
          <a:xfrm>
            <a:off x="4910328" y="3054096"/>
            <a:ext cx="301752" cy="164592"/>
          </a:xfrm>
          <a:prstGeom prst="rightArrow">
            <a:avLst/>
          </a:prstGeom>
          <a:solidFill>
            <a:srgbClr val="C6D3E1">
              <a:alpha val="94000"/>
            </a:srgbClr>
          </a:solidFill>
          <a:ln w="12700">
            <a:solidFill>
              <a:srgbClr val="C6D3E1"/>
            </a:solidFill>
            <a:prstDash val="solid"/>
          </a:ln>
        </p:spPr>
      </p:sp>
      <p:sp>
        <p:nvSpPr>
          <p:cNvPr id="39" name="Shape 37"/>
          <p:cNvSpPr/>
          <p:nvPr/>
        </p:nvSpPr>
        <p:spPr>
          <a:xfrm>
            <a:off x="5285232" y="1938528"/>
            <a:ext cx="1874520" cy="2395728"/>
          </a:xfrm>
          <a:prstGeom prst="roundRect">
            <a:avLst>
              <a:gd name="adj" fmla="val 3902"/>
            </a:avLst>
          </a:prstGeom>
          <a:solidFill>
            <a:srgbClr val="FFFFFF"/>
          </a:solidFill>
          <a:ln w="13970">
            <a:solidFill>
              <a:srgbClr val="F59E0B"/>
            </a:solidFill>
            <a:prstDash val="solid"/>
          </a:ln>
          <a:effectLst>
            <a:outerShdw sx="100000" sy="100000" kx="0" ky="0" algn="bl" rotWithShape="0" blurRad="12700" dist="50800" dir="2700000">
              <a:srgbClr val="9AA6B2">
                <a:alpha val="16000"/>
              </a:srgbClr>
            </a:outerShdw>
          </a:effectLst>
        </p:spPr>
      </p:sp>
      <p:sp>
        <p:nvSpPr>
          <p:cNvPr id="40" name="Shape 38"/>
          <p:cNvSpPr/>
          <p:nvPr/>
        </p:nvSpPr>
        <p:spPr>
          <a:xfrm>
            <a:off x="5788152" y="2157984"/>
            <a:ext cx="868680" cy="868680"/>
          </a:xfrm>
          <a:prstGeom prst="ellipse">
            <a:avLst/>
          </a:prstGeom>
          <a:solidFill>
            <a:srgbClr val="F59E0B"/>
          </a:solidFill>
          <a:ln w="12700">
            <a:solidFill>
              <a:srgbClr val="F59E0B"/>
            </a:solidFill>
            <a:prstDash val="solid"/>
          </a:ln>
        </p:spPr>
      </p:sp>
      <p:sp>
        <p:nvSpPr>
          <p:cNvPr id="41" name="Text 39"/>
          <p:cNvSpPr/>
          <p:nvPr/>
        </p:nvSpPr>
        <p:spPr>
          <a:xfrm>
            <a:off x="5788152" y="2340864"/>
            <a:ext cx="868680" cy="246888"/>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Aptos Display" pitchFamily="34" charset="0"/>
                <a:ea typeface="Aptos Display" pitchFamily="34" charset="-122"/>
                <a:cs typeface="Aptos Display" pitchFamily="34" charset="-120"/>
              </a:rPr>
              <a:t>A</a:t>
            </a:r>
            <a:endParaRPr lang="en-US" sz="2400" dirty="0"/>
          </a:p>
        </p:txBody>
      </p:sp>
      <p:sp>
        <p:nvSpPr>
          <p:cNvPr id="42" name="Text 40"/>
          <p:cNvSpPr/>
          <p:nvPr/>
        </p:nvSpPr>
        <p:spPr>
          <a:xfrm>
            <a:off x="5449824" y="3182112"/>
            <a:ext cx="1536192" cy="228600"/>
          </a:xfrm>
          <a:prstGeom prst="rect">
            <a:avLst/>
          </a:prstGeom>
          <a:noFill/>
          <a:ln/>
        </p:spPr>
        <p:txBody>
          <a:bodyPr wrap="square" lIns="0" tIns="0" rIns="0" bIns="0" rtlCol="0" anchor="t">
            <a:normAutofit/>
          </a:bodyPr>
          <a:lstStyle/>
          <a:p>
            <a:pPr algn="ctr" indent="0" marL="0">
              <a:buNone/>
            </a:pPr>
            <a:r>
              <a:rPr lang="en-US" sz="1250" b="1" dirty="0">
                <a:solidFill>
                  <a:srgbClr val="111827"/>
                </a:solidFill>
                <a:latin typeface="Aptos" pitchFamily="34" charset="0"/>
                <a:ea typeface="Aptos" pitchFamily="34" charset="-122"/>
                <a:cs typeface="Aptos" pitchFamily="34" charset="-120"/>
              </a:rPr>
              <a:t>Analyse</a:t>
            </a:r>
            <a:endParaRPr lang="en-US" sz="1250" dirty="0"/>
          </a:p>
        </p:txBody>
      </p:sp>
      <p:sp>
        <p:nvSpPr>
          <p:cNvPr id="43" name="Text 41"/>
          <p:cNvSpPr/>
          <p:nvPr/>
        </p:nvSpPr>
        <p:spPr>
          <a:xfrm>
            <a:off x="5449824" y="3557016"/>
            <a:ext cx="1536192" cy="512064"/>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Apply patentability, FTO and risk tests to the evidence.</a:t>
            </a:r>
            <a:endParaRPr lang="en-US" sz="840" dirty="0"/>
          </a:p>
        </p:txBody>
      </p:sp>
      <p:sp>
        <p:nvSpPr>
          <p:cNvPr id="44" name="Shape 42"/>
          <p:cNvSpPr/>
          <p:nvPr/>
        </p:nvSpPr>
        <p:spPr>
          <a:xfrm>
            <a:off x="7178040" y="3054096"/>
            <a:ext cx="301752" cy="164592"/>
          </a:xfrm>
          <a:prstGeom prst="rightArrow">
            <a:avLst/>
          </a:prstGeom>
          <a:solidFill>
            <a:srgbClr val="C6D3E1">
              <a:alpha val="94000"/>
            </a:srgbClr>
          </a:solidFill>
          <a:ln w="12700">
            <a:solidFill>
              <a:srgbClr val="C6D3E1"/>
            </a:solidFill>
            <a:prstDash val="solid"/>
          </a:ln>
        </p:spPr>
      </p:sp>
      <p:sp>
        <p:nvSpPr>
          <p:cNvPr id="45" name="Shape 43"/>
          <p:cNvSpPr/>
          <p:nvPr/>
        </p:nvSpPr>
        <p:spPr>
          <a:xfrm>
            <a:off x="7552944" y="1938528"/>
            <a:ext cx="1874520" cy="2395728"/>
          </a:xfrm>
          <a:prstGeom prst="roundRect">
            <a:avLst>
              <a:gd name="adj" fmla="val 3902"/>
            </a:avLst>
          </a:prstGeom>
          <a:solidFill>
            <a:srgbClr val="FFFFFF"/>
          </a:solidFill>
          <a:ln w="13970">
            <a:solidFill>
              <a:srgbClr val="7C3AED"/>
            </a:solidFill>
            <a:prstDash val="solid"/>
          </a:ln>
          <a:effectLst>
            <a:outerShdw sx="100000" sy="100000" kx="0" ky="0" algn="bl" rotWithShape="0" blurRad="12700" dist="50800" dir="2700000">
              <a:srgbClr val="9AA6B2">
                <a:alpha val="16000"/>
              </a:srgbClr>
            </a:outerShdw>
          </a:effectLst>
        </p:spPr>
      </p:sp>
      <p:sp>
        <p:nvSpPr>
          <p:cNvPr id="46" name="Shape 44"/>
          <p:cNvSpPr/>
          <p:nvPr/>
        </p:nvSpPr>
        <p:spPr>
          <a:xfrm>
            <a:off x="8055864" y="2157984"/>
            <a:ext cx="868680" cy="868680"/>
          </a:xfrm>
          <a:prstGeom prst="ellipse">
            <a:avLst/>
          </a:prstGeom>
          <a:solidFill>
            <a:srgbClr val="7C3AED"/>
          </a:solidFill>
          <a:ln w="12700">
            <a:solidFill>
              <a:srgbClr val="7C3AED"/>
            </a:solidFill>
            <a:prstDash val="solid"/>
          </a:ln>
        </p:spPr>
      </p:sp>
      <p:sp>
        <p:nvSpPr>
          <p:cNvPr id="47" name="Text 45"/>
          <p:cNvSpPr/>
          <p:nvPr/>
        </p:nvSpPr>
        <p:spPr>
          <a:xfrm>
            <a:off x="8055864" y="2340864"/>
            <a:ext cx="868680" cy="246888"/>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Aptos Display" pitchFamily="34" charset="0"/>
                <a:ea typeface="Aptos Display" pitchFamily="34" charset="-122"/>
                <a:cs typeface="Aptos Display" pitchFamily="34" charset="-120"/>
              </a:rPr>
              <a:t>I</a:t>
            </a:r>
            <a:endParaRPr lang="en-US" sz="2400" dirty="0"/>
          </a:p>
        </p:txBody>
      </p:sp>
      <p:sp>
        <p:nvSpPr>
          <p:cNvPr id="48" name="Text 46"/>
          <p:cNvSpPr/>
          <p:nvPr/>
        </p:nvSpPr>
        <p:spPr>
          <a:xfrm>
            <a:off x="7717536" y="3182112"/>
            <a:ext cx="1536192" cy="228600"/>
          </a:xfrm>
          <a:prstGeom prst="rect">
            <a:avLst/>
          </a:prstGeom>
          <a:noFill/>
          <a:ln/>
        </p:spPr>
        <p:txBody>
          <a:bodyPr wrap="square" lIns="0" tIns="0" rIns="0" bIns="0" rtlCol="0" anchor="t">
            <a:normAutofit/>
          </a:bodyPr>
          <a:lstStyle/>
          <a:p>
            <a:pPr algn="ctr" indent="0" marL="0">
              <a:buNone/>
            </a:pPr>
            <a:r>
              <a:rPr lang="en-US" sz="1250" b="1" dirty="0">
                <a:solidFill>
                  <a:srgbClr val="111827"/>
                </a:solidFill>
                <a:latin typeface="Aptos" pitchFamily="34" charset="0"/>
                <a:ea typeface="Aptos" pitchFamily="34" charset="-122"/>
                <a:cs typeface="Aptos" pitchFamily="34" charset="-120"/>
              </a:rPr>
              <a:t>Interpret</a:t>
            </a:r>
            <a:endParaRPr lang="en-US" sz="1250" dirty="0"/>
          </a:p>
        </p:txBody>
      </p:sp>
      <p:sp>
        <p:nvSpPr>
          <p:cNvPr id="49" name="Text 47"/>
          <p:cNvSpPr/>
          <p:nvPr/>
        </p:nvSpPr>
        <p:spPr>
          <a:xfrm>
            <a:off x="7717536" y="3557016"/>
            <a:ext cx="1536192" cy="512064"/>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Read claims element-by-element and support prosecution strategy.</a:t>
            </a:r>
            <a:endParaRPr lang="en-US" sz="840" dirty="0"/>
          </a:p>
        </p:txBody>
      </p:sp>
      <p:sp>
        <p:nvSpPr>
          <p:cNvPr id="50" name="Shape 48"/>
          <p:cNvSpPr/>
          <p:nvPr/>
        </p:nvSpPr>
        <p:spPr>
          <a:xfrm>
            <a:off x="9445752" y="3054096"/>
            <a:ext cx="301752" cy="164592"/>
          </a:xfrm>
          <a:prstGeom prst="rightArrow">
            <a:avLst/>
          </a:prstGeom>
          <a:solidFill>
            <a:srgbClr val="C6D3E1">
              <a:alpha val="94000"/>
            </a:srgbClr>
          </a:solidFill>
          <a:ln w="12700">
            <a:solidFill>
              <a:srgbClr val="C6D3E1"/>
            </a:solidFill>
            <a:prstDash val="solid"/>
          </a:ln>
        </p:spPr>
      </p:sp>
      <p:sp>
        <p:nvSpPr>
          <p:cNvPr id="51" name="Shape 49"/>
          <p:cNvSpPr/>
          <p:nvPr/>
        </p:nvSpPr>
        <p:spPr>
          <a:xfrm>
            <a:off x="9820656" y="1938528"/>
            <a:ext cx="1874520" cy="2395728"/>
          </a:xfrm>
          <a:prstGeom prst="roundRect">
            <a:avLst>
              <a:gd name="adj" fmla="val 3902"/>
            </a:avLst>
          </a:prstGeom>
          <a:solidFill>
            <a:srgbClr val="FFFFFF"/>
          </a:solidFill>
          <a:ln w="13970">
            <a:solidFill>
              <a:srgbClr val="0EA5A4"/>
            </a:solidFill>
            <a:prstDash val="solid"/>
          </a:ln>
          <a:effectLst>
            <a:outerShdw sx="100000" sy="100000" kx="0" ky="0" algn="bl" rotWithShape="0" blurRad="12700" dist="50800" dir="2700000">
              <a:srgbClr val="9AA6B2">
                <a:alpha val="16000"/>
              </a:srgbClr>
            </a:outerShdw>
          </a:effectLst>
        </p:spPr>
      </p:sp>
      <p:sp>
        <p:nvSpPr>
          <p:cNvPr id="52" name="Shape 50"/>
          <p:cNvSpPr/>
          <p:nvPr/>
        </p:nvSpPr>
        <p:spPr>
          <a:xfrm>
            <a:off x="10323576" y="2157984"/>
            <a:ext cx="868680" cy="868680"/>
          </a:xfrm>
          <a:prstGeom prst="ellipse">
            <a:avLst/>
          </a:prstGeom>
          <a:solidFill>
            <a:srgbClr val="0EA5A4"/>
          </a:solidFill>
          <a:ln w="12700">
            <a:solidFill>
              <a:srgbClr val="0EA5A4"/>
            </a:solidFill>
            <a:prstDash val="solid"/>
          </a:ln>
        </p:spPr>
      </p:sp>
      <p:sp>
        <p:nvSpPr>
          <p:cNvPr id="53" name="Text 51"/>
          <p:cNvSpPr/>
          <p:nvPr/>
        </p:nvSpPr>
        <p:spPr>
          <a:xfrm>
            <a:off x="10323576" y="2340864"/>
            <a:ext cx="868680" cy="246888"/>
          </a:xfrm>
          <a:prstGeom prst="rect">
            <a:avLst/>
          </a:prstGeom>
          <a:noFill/>
          <a:ln/>
        </p:spPr>
        <p:txBody>
          <a:bodyPr wrap="square" lIns="0" tIns="0" rIns="0" bIns="0" rtlCol="0" anchor="t">
            <a:normAutofit/>
          </a:bodyPr>
          <a:lstStyle/>
          <a:p>
            <a:pPr algn="ctr" indent="0" marL="0">
              <a:buNone/>
            </a:pPr>
            <a:r>
              <a:rPr lang="en-US" sz="2400" b="1" dirty="0">
                <a:solidFill>
                  <a:srgbClr val="FFFFFF"/>
                </a:solidFill>
                <a:latin typeface="Aptos Display" pitchFamily="34" charset="0"/>
                <a:ea typeface="Aptos Display" pitchFamily="34" charset="-122"/>
                <a:cs typeface="Aptos Display" pitchFamily="34" charset="-120"/>
              </a:rPr>
              <a:t>M</a:t>
            </a:r>
            <a:endParaRPr lang="en-US" sz="2400" dirty="0"/>
          </a:p>
        </p:txBody>
      </p:sp>
      <p:sp>
        <p:nvSpPr>
          <p:cNvPr id="54" name="Text 52"/>
          <p:cNvSpPr/>
          <p:nvPr/>
        </p:nvSpPr>
        <p:spPr>
          <a:xfrm>
            <a:off x="9985248" y="3182112"/>
            <a:ext cx="1536192" cy="228600"/>
          </a:xfrm>
          <a:prstGeom prst="rect">
            <a:avLst/>
          </a:prstGeom>
          <a:noFill/>
          <a:ln/>
        </p:spPr>
        <p:txBody>
          <a:bodyPr wrap="square" lIns="0" tIns="0" rIns="0" bIns="0" rtlCol="0" anchor="t">
            <a:normAutofit/>
          </a:bodyPr>
          <a:lstStyle/>
          <a:p>
            <a:pPr algn="ctr" indent="0" marL="0">
              <a:buNone/>
            </a:pPr>
            <a:r>
              <a:rPr lang="en-US" sz="1250" b="1" dirty="0">
                <a:solidFill>
                  <a:srgbClr val="111827"/>
                </a:solidFill>
                <a:latin typeface="Aptos" pitchFamily="34" charset="0"/>
                <a:ea typeface="Aptos" pitchFamily="34" charset="-122"/>
                <a:cs typeface="Aptos" pitchFamily="34" charset="-120"/>
              </a:rPr>
              <a:t>Manage</a:t>
            </a:r>
            <a:endParaRPr lang="en-US" sz="1250" dirty="0"/>
          </a:p>
        </p:txBody>
      </p:sp>
      <p:sp>
        <p:nvSpPr>
          <p:cNvPr id="55" name="Text 53"/>
          <p:cNvSpPr/>
          <p:nvPr/>
        </p:nvSpPr>
        <p:spPr>
          <a:xfrm>
            <a:off x="9985248" y="3557016"/>
            <a:ext cx="1536192" cy="512064"/>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Protect confidentiality, ownership, contracts and IP documentation.</a:t>
            </a:r>
            <a:endParaRPr lang="en-US" sz="840" dirty="0"/>
          </a:p>
        </p:txBody>
      </p:sp>
      <p:sp>
        <p:nvSpPr>
          <p:cNvPr id="56" name="Shape 54"/>
          <p:cNvSpPr/>
          <p:nvPr/>
        </p:nvSpPr>
        <p:spPr>
          <a:xfrm>
            <a:off x="658368" y="5632704"/>
            <a:ext cx="10881360" cy="429768"/>
          </a:xfrm>
          <a:prstGeom prst="roundRect">
            <a:avLst>
              <a:gd name="adj" fmla="val 17021"/>
            </a:avLst>
          </a:prstGeom>
          <a:solidFill>
            <a:srgbClr val="F8FAFC"/>
          </a:solidFill>
          <a:ln w="13970">
            <a:solidFill>
              <a:srgbClr val="1428A0"/>
            </a:solidFill>
            <a:prstDash val="solid"/>
          </a:ln>
        </p:spPr>
      </p:sp>
      <p:sp>
        <p:nvSpPr>
          <p:cNvPr id="57" name="Shape 55"/>
          <p:cNvSpPr/>
          <p:nvPr/>
        </p:nvSpPr>
        <p:spPr>
          <a:xfrm>
            <a:off x="658368" y="5632704"/>
            <a:ext cx="91440" cy="429768"/>
          </a:xfrm>
          <a:prstGeom prst="rect">
            <a:avLst/>
          </a:prstGeom>
          <a:solidFill>
            <a:srgbClr val="1428A0"/>
          </a:solidFill>
          <a:ln w="12700">
            <a:solidFill>
              <a:srgbClr val="1428A0"/>
            </a:solidFill>
            <a:prstDash val="solid"/>
          </a:ln>
        </p:spPr>
      </p:sp>
      <p:sp>
        <p:nvSpPr>
          <p:cNvPr id="58" name="Text 56"/>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Use “CLAIM” as the speaking map. It prevents the presentation from becoming a scattered task list.</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428A0"/>
                </a:solidFill>
              </a:rPr>
              <a:t>CONTEXT</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IP law inside a technology R&amp;D centre</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The legal function is closest to value creation when it understands the engineering problem and the business use of protection.</a:t>
            </a:r>
            <a:endParaRPr lang="en-US" sz="1050" dirty="0"/>
          </a:p>
        </p:txBody>
      </p:sp>
      <p:sp>
        <p:nvSpPr>
          <p:cNvPr id="9" name="Shape 7"/>
          <p:cNvSpPr/>
          <p:nvPr/>
        </p:nvSpPr>
        <p:spPr>
          <a:xfrm>
            <a:off x="566928" y="1499616"/>
            <a:ext cx="1920240" cy="0"/>
          </a:xfrm>
          <a:prstGeom prst="line">
            <a:avLst/>
          </a:prstGeom>
          <a:noFill/>
          <a:ln w="27940">
            <a:solidFill>
              <a:srgbClr val="1428A0"/>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03</a:t>
            </a:r>
            <a:endParaRPr lang="en-US" sz="800" dirty="0"/>
          </a:p>
        </p:txBody>
      </p:sp>
      <p:sp>
        <p:nvSpPr>
          <p:cNvPr id="27" name="Shape 25"/>
          <p:cNvSpPr/>
          <p:nvPr/>
        </p:nvSpPr>
        <p:spPr>
          <a:xfrm>
            <a:off x="749808" y="1828800"/>
            <a:ext cx="3163824" cy="2606040"/>
          </a:xfrm>
          <a:prstGeom prst="roundRect">
            <a:avLst>
              <a:gd name="adj" fmla="val 2807"/>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28" name="Shape 26"/>
          <p:cNvSpPr/>
          <p:nvPr/>
        </p:nvSpPr>
        <p:spPr>
          <a:xfrm>
            <a:off x="978408" y="2057400"/>
            <a:ext cx="1325880" cy="256032"/>
          </a:xfrm>
          <a:prstGeom prst="roundRect">
            <a:avLst>
              <a:gd name="adj" fmla="val 21429"/>
            </a:avLst>
          </a:prstGeom>
          <a:solidFill>
            <a:srgbClr val="1D4ED8"/>
          </a:solidFill>
          <a:ln w="12700">
            <a:solidFill>
              <a:srgbClr val="1D4ED8"/>
            </a:solidFill>
            <a:prstDash val="solid"/>
          </a:ln>
        </p:spPr>
      </p:sp>
      <p:sp>
        <p:nvSpPr>
          <p:cNvPr id="29" name="Text 27"/>
          <p:cNvSpPr/>
          <p:nvPr/>
        </p:nvSpPr>
        <p:spPr>
          <a:xfrm>
            <a:off x="978408" y="2098548"/>
            <a:ext cx="1325880" cy="109728"/>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Engineering</a:t>
            </a:r>
            <a:endParaRPr lang="en-US" sz="820" dirty="0"/>
          </a:p>
        </p:txBody>
      </p:sp>
      <p:sp>
        <p:nvSpPr>
          <p:cNvPr id="30" name="Text 28"/>
          <p:cNvSpPr/>
          <p:nvPr/>
        </p:nvSpPr>
        <p:spPr>
          <a:xfrm>
            <a:off x="1005840" y="2514600"/>
            <a:ext cx="2596896" cy="411480"/>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Creates technical solutions, prototypes and implementation detail.</a:t>
            </a:r>
            <a:endParaRPr lang="en-US" sz="920" dirty="0"/>
          </a:p>
        </p:txBody>
      </p:sp>
      <p:sp>
        <p:nvSpPr>
          <p:cNvPr id="31" name="Shape 29"/>
          <p:cNvSpPr/>
          <p:nvPr/>
        </p:nvSpPr>
        <p:spPr>
          <a:xfrm>
            <a:off x="1005840" y="3099816"/>
            <a:ext cx="2615184" cy="0"/>
          </a:xfrm>
          <a:prstGeom prst="line">
            <a:avLst/>
          </a:prstGeom>
          <a:noFill/>
          <a:ln w="12700">
            <a:solidFill>
              <a:srgbClr val="D7DEE8"/>
            </a:solidFill>
            <a:prstDash val="solid"/>
          </a:ln>
        </p:spPr>
      </p:sp>
      <p:sp>
        <p:nvSpPr>
          <p:cNvPr id="32" name="Text 30"/>
          <p:cNvSpPr/>
          <p:nvPr/>
        </p:nvSpPr>
        <p:spPr>
          <a:xfrm>
            <a:off x="1005840" y="3291840"/>
            <a:ext cx="2514600" cy="749808"/>
          </a:xfrm>
          <a:prstGeom prst="rect">
            <a:avLst/>
          </a:prstGeom>
          <a:noFill/>
          <a:ln/>
        </p:spPr>
        <p:txBody>
          <a:bodyPr wrap="square" lIns="0" tIns="0" rIns="0" bIns="0" rtlCol="0" anchor="t">
            <a:normAutofit/>
          </a:bodyPr>
          <a:lstStyle/>
          <a:p>
            <a:pPr algn="l" indent="0" marL="0">
              <a:buNone/>
            </a:pPr>
            <a:r>
              <a:rPr lang="en-US" sz="910" b="1" dirty="0">
                <a:solidFill>
                  <a:srgbClr val="111827"/>
                </a:solidFill>
                <a:latin typeface="Aptos" pitchFamily="34" charset="0"/>
                <a:ea typeface="Aptos" pitchFamily="34" charset="-122"/>
                <a:cs typeface="Aptos" pitchFamily="34" charset="-120"/>
              </a:rPr>
              <a:t>Problem solved</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Technical features</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Design alternatives</a:t>
            </a:r>
            <a:endParaRPr lang="en-US" sz="910" dirty="0"/>
          </a:p>
        </p:txBody>
      </p:sp>
      <p:sp>
        <p:nvSpPr>
          <p:cNvPr id="33" name="Shape 31"/>
          <p:cNvSpPr/>
          <p:nvPr/>
        </p:nvSpPr>
        <p:spPr>
          <a:xfrm>
            <a:off x="4059936" y="2880360"/>
            <a:ext cx="310896" cy="219456"/>
          </a:xfrm>
          <a:prstGeom prst="rightArrow">
            <a:avLst/>
          </a:prstGeom>
          <a:solidFill>
            <a:srgbClr val="CBD5E1">
              <a:alpha val="94000"/>
            </a:srgbClr>
          </a:solidFill>
          <a:ln w="12700">
            <a:solidFill>
              <a:srgbClr val="CBD5E1"/>
            </a:solidFill>
            <a:prstDash val="solid"/>
          </a:ln>
        </p:spPr>
      </p:sp>
      <p:sp>
        <p:nvSpPr>
          <p:cNvPr id="34" name="Shape 32"/>
          <p:cNvSpPr/>
          <p:nvPr/>
        </p:nvSpPr>
        <p:spPr>
          <a:xfrm>
            <a:off x="4526280" y="1828800"/>
            <a:ext cx="3163824" cy="2606040"/>
          </a:xfrm>
          <a:prstGeom prst="roundRect">
            <a:avLst>
              <a:gd name="adj" fmla="val 2807"/>
            </a:avLst>
          </a:prstGeom>
          <a:solidFill>
            <a:srgbClr val="FFFFFF"/>
          </a:solidFill>
          <a:ln w="13970">
            <a:solidFill>
              <a:srgbClr val="00A6D6"/>
            </a:solidFill>
            <a:prstDash val="solid"/>
          </a:ln>
          <a:effectLst>
            <a:outerShdw sx="100000" sy="100000" kx="0" ky="0" algn="bl" rotWithShape="0" blurRad="12700" dist="50800" dir="2700000">
              <a:srgbClr val="9AA6B2">
                <a:alpha val="16000"/>
              </a:srgbClr>
            </a:outerShdw>
          </a:effectLst>
        </p:spPr>
      </p:sp>
      <p:sp>
        <p:nvSpPr>
          <p:cNvPr id="35" name="Shape 33"/>
          <p:cNvSpPr/>
          <p:nvPr/>
        </p:nvSpPr>
        <p:spPr>
          <a:xfrm>
            <a:off x="4754880" y="2057400"/>
            <a:ext cx="1325880" cy="256032"/>
          </a:xfrm>
          <a:prstGeom prst="roundRect">
            <a:avLst>
              <a:gd name="adj" fmla="val 21429"/>
            </a:avLst>
          </a:prstGeom>
          <a:solidFill>
            <a:srgbClr val="00A6D6"/>
          </a:solidFill>
          <a:ln w="12700">
            <a:solidFill>
              <a:srgbClr val="00A6D6"/>
            </a:solidFill>
            <a:prstDash val="solid"/>
          </a:ln>
        </p:spPr>
      </p:sp>
      <p:sp>
        <p:nvSpPr>
          <p:cNvPr id="36" name="Text 34"/>
          <p:cNvSpPr/>
          <p:nvPr/>
        </p:nvSpPr>
        <p:spPr>
          <a:xfrm>
            <a:off x="4754880" y="2098548"/>
            <a:ext cx="1325880" cy="109728"/>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IP / Legal</a:t>
            </a:r>
            <a:endParaRPr lang="en-US" sz="820" dirty="0"/>
          </a:p>
        </p:txBody>
      </p:sp>
      <p:sp>
        <p:nvSpPr>
          <p:cNvPr id="37" name="Text 35"/>
          <p:cNvSpPr/>
          <p:nvPr/>
        </p:nvSpPr>
        <p:spPr>
          <a:xfrm>
            <a:off x="4782312" y="2514600"/>
            <a:ext cx="2596896" cy="411480"/>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Translates technical facts into rights, risks and filing strategy.</a:t>
            </a:r>
            <a:endParaRPr lang="en-US" sz="920" dirty="0"/>
          </a:p>
        </p:txBody>
      </p:sp>
      <p:sp>
        <p:nvSpPr>
          <p:cNvPr id="38" name="Shape 36"/>
          <p:cNvSpPr/>
          <p:nvPr/>
        </p:nvSpPr>
        <p:spPr>
          <a:xfrm>
            <a:off x="4782312" y="3099816"/>
            <a:ext cx="2615184" cy="0"/>
          </a:xfrm>
          <a:prstGeom prst="line">
            <a:avLst/>
          </a:prstGeom>
          <a:noFill/>
          <a:ln w="12700">
            <a:solidFill>
              <a:srgbClr val="D7DEE8"/>
            </a:solidFill>
            <a:prstDash val="solid"/>
          </a:ln>
        </p:spPr>
      </p:sp>
      <p:sp>
        <p:nvSpPr>
          <p:cNvPr id="39" name="Text 37"/>
          <p:cNvSpPr/>
          <p:nvPr/>
        </p:nvSpPr>
        <p:spPr>
          <a:xfrm>
            <a:off x="4782312" y="3291840"/>
            <a:ext cx="2514600" cy="749808"/>
          </a:xfrm>
          <a:prstGeom prst="rect">
            <a:avLst/>
          </a:prstGeom>
          <a:noFill/>
          <a:ln/>
        </p:spPr>
        <p:txBody>
          <a:bodyPr wrap="square" lIns="0" tIns="0" rIns="0" bIns="0" rtlCol="0" anchor="t">
            <a:normAutofit/>
          </a:bodyPr>
          <a:lstStyle/>
          <a:p>
            <a:pPr algn="l" indent="0" marL="0">
              <a:buNone/>
            </a:pPr>
            <a:r>
              <a:rPr lang="en-US" sz="910" b="1" dirty="0">
                <a:solidFill>
                  <a:srgbClr val="111827"/>
                </a:solidFill>
                <a:latin typeface="Aptos" pitchFamily="34" charset="0"/>
                <a:ea typeface="Aptos" pitchFamily="34" charset="-122"/>
                <a:cs typeface="Aptos" pitchFamily="34" charset="-120"/>
              </a:rPr>
              <a:t>Patentability</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Claim scope</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FTO risk</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Confidentiality</a:t>
            </a:r>
            <a:endParaRPr lang="en-US" sz="910" dirty="0"/>
          </a:p>
        </p:txBody>
      </p:sp>
      <p:sp>
        <p:nvSpPr>
          <p:cNvPr id="40" name="Shape 38"/>
          <p:cNvSpPr/>
          <p:nvPr/>
        </p:nvSpPr>
        <p:spPr>
          <a:xfrm>
            <a:off x="7836408" y="2880360"/>
            <a:ext cx="310896" cy="219456"/>
          </a:xfrm>
          <a:prstGeom prst="rightArrow">
            <a:avLst/>
          </a:prstGeom>
          <a:solidFill>
            <a:srgbClr val="CBD5E1">
              <a:alpha val="94000"/>
            </a:srgbClr>
          </a:solidFill>
          <a:ln w="12700">
            <a:solidFill>
              <a:srgbClr val="CBD5E1"/>
            </a:solidFill>
            <a:prstDash val="solid"/>
          </a:ln>
        </p:spPr>
      </p:sp>
      <p:sp>
        <p:nvSpPr>
          <p:cNvPr id="41" name="Shape 39"/>
          <p:cNvSpPr/>
          <p:nvPr/>
        </p:nvSpPr>
        <p:spPr>
          <a:xfrm>
            <a:off x="8302752" y="1828800"/>
            <a:ext cx="3163824" cy="2606040"/>
          </a:xfrm>
          <a:prstGeom prst="roundRect">
            <a:avLst>
              <a:gd name="adj" fmla="val 2807"/>
            </a:avLst>
          </a:prstGeom>
          <a:solidFill>
            <a:srgbClr val="FFFFFF"/>
          </a:solidFill>
          <a:ln w="13970">
            <a:solidFill>
              <a:srgbClr val="0EA5A4"/>
            </a:solidFill>
            <a:prstDash val="solid"/>
          </a:ln>
          <a:effectLst>
            <a:outerShdw sx="100000" sy="100000" kx="0" ky="0" algn="bl" rotWithShape="0" blurRad="12700" dist="50800" dir="2700000">
              <a:srgbClr val="9AA6B2">
                <a:alpha val="16000"/>
              </a:srgbClr>
            </a:outerShdw>
          </a:effectLst>
        </p:spPr>
      </p:sp>
      <p:sp>
        <p:nvSpPr>
          <p:cNvPr id="42" name="Shape 40"/>
          <p:cNvSpPr/>
          <p:nvPr/>
        </p:nvSpPr>
        <p:spPr>
          <a:xfrm>
            <a:off x="8531352" y="2057400"/>
            <a:ext cx="1325880" cy="256032"/>
          </a:xfrm>
          <a:prstGeom prst="roundRect">
            <a:avLst>
              <a:gd name="adj" fmla="val 21429"/>
            </a:avLst>
          </a:prstGeom>
          <a:solidFill>
            <a:srgbClr val="0EA5A4"/>
          </a:solidFill>
          <a:ln w="12700">
            <a:solidFill>
              <a:srgbClr val="0EA5A4"/>
            </a:solidFill>
            <a:prstDash val="solid"/>
          </a:ln>
        </p:spPr>
      </p:sp>
      <p:sp>
        <p:nvSpPr>
          <p:cNvPr id="43" name="Text 41"/>
          <p:cNvSpPr/>
          <p:nvPr/>
        </p:nvSpPr>
        <p:spPr>
          <a:xfrm>
            <a:off x="8531352" y="2098548"/>
            <a:ext cx="1325880" cy="109728"/>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Product / Business</a:t>
            </a:r>
            <a:endParaRPr lang="en-US" sz="820" dirty="0"/>
          </a:p>
        </p:txBody>
      </p:sp>
      <p:sp>
        <p:nvSpPr>
          <p:cNvPr id="44" name="Text 42"/>
          <p:cNvSpPr/>
          <p:nvPr/>
        </p:nvSpPr>
        <p:spPr>
          <a:xfrm>
            <a:off x="8558784" y="2514600"/>
            <a:ext cx="2596896" cy="411480"/>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Uses IP inputs for launch, collaboration and competitive positioning.</a:t>
            </a:r>
            <a:endParaRPr lang="en-US" sz="920" dirty="0"/>
          </a:p>
        </p:txBody>
      </p:sp>
      <p:sp>
        <p:nvSpPr>
          <p:cNvPr id="45" name="Shape 43"/>
          <p:cNvSpPr/>
          <p:nvPr/>
        </p:nvSpPr>
        <p:spPr>
          <a:xfrm>
            <a:off x="8558784" y="3099816"/>
            <a:ext cx="2615184" cy="0"/>
          </a:xfrm>
          <a:prstGeom prst="line">
            <a:avLst/>
          </a:prstGeom>
          <a:noFill/>
          <a:ln w="12700">
            <a:solidFill>
              <a:srgbClr val="D7DEE8"/>
            </a:solidFill>
            <a:prstDash val="solid"/>
          </a:ln>
        </p:spPr>
      </p:sp>
      <p:sp>
        <p:nvSpPr>
          <p:cNvPr id="46" name="Text 44"/>
          <p:cNvSpPr/>
          <p:nvPr/>
        </p:nvSpPr>
        <p:spPr>
          <a:xfrm>
            <a:off x="8558784" y="3291840"/>
            <a:ext cx="2514600" cy="749808"/>
          </a:xfrm>
          <a:prstGeom prst="rect">
            <a:avLst/>
          </a:prstGeom>
          <a:noFill/>
          <a:ln/>
        </p:spPr>
        <p:txBody>
          <a:bodyPr wrap="square" lIns="0" tIns="0" rIns="0" bIns="0" rtlCol="0" anchor="t">
            <a:normAutofit/>
          </a:bodyPr>
          <a:lstStyle/>
          <a:p>
            <a:pPr algn="l" indent="0" marL="0">
              <a:buNone/>
            </a:pPr>
            <a:r>
              <a:rPr lang="en-US" sz="910" b="1" dirty="0">
                <a:solidFill>
                  <a:srgbClr val="111827"/>
                </a:solidFill>
                <a:latin typeface="Aptos" pitchFamily="34" charset="0"/>
                <a:ea typeface="Aptos" pitchFamily="34" charset="-122"/>
                <a:cs typeface="Aptos" pitchFamily="34" charset="-120"/>
              </a:rPr>
              <a:t>Launch risk</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Exclusivity</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Partnering</a:t>
            </a:r>
            <a:endParaRPr lang="en-US" sz="910" dirty="0"/>
          </a:p>
          <a:p>
            <a:pPr algn="l" indent="0" marL="0">
              <a:buNone/>
            </a:pPr>
            <a:r>
              <a:rPr lang="en-US" sz="910" b="1" dirty="0">
                <a:solidFill>
                  <a:srgbClr val="111827"/>
                </a:solidFill>
                <a:latin typeface="Aptos" pitchFamily="34" charset="0"/>
                <a:ea typeface="Aptos" pitchFamily="34" charset="-122"/>
                <a:cs typeface="Aptos" pitchFamily="34" charset="-120"/>
              </a:rPr>
              <a:t>Portfolio value</a:t>
            </a:r>
            <a:endParaRPr lang="en-US" sz="910" dirty="0"/>
          </a:p>
        </p:txBody>
      </p:sp>
      <p:sp>
        <p:nvSpPr>
          <p:cNvPr id="47" name="Shape 45"/>
          <p:cNvSpPr/>
          <p:nvPr/>
        </p:nvSpPr>
        <p:spPr>
          <a:xfrm>
            <a:off x="658368" y="5632704"/>
            <a:ext cx="10881360" cy="429768"/>
          </a:xfrm>
          <a:prstGeom prst="roundRect">
            <a:avLst>
              <a:gd name="adj" fmla="val 17021"/>
            </a:avLst>
          </a:prstGeom>
          <a:solidFill>
            <a:srgbClr val="F8FAFC"/>
          </a:solidFill>
          <a:ln w="13970">
            <a:solidFill>
              <a:srgbClr val="00A6D6"/>
            </a:solidFill>
            <a:prstDash val="solid"/>
          </a:ln>
        </p:spPr>
      </p:sp>
      <p:sp>
        <p:nvSpPr>
          <p:cNvPr id="48" name="Shape 46"/>
          <p:cNvSpPr/>
          <p:nvPr/>
        </p:nvSpPr>
        <p:spPr>
          <a:xfrm>
            <a:off x="658368" y="5632704"/>
            <a:ext cx="91440" cy="429768"/>
          </a:xfrm>
          <a:prstGeom prst="rect">
            <a:avLst/>
          </a:prstGeom>
          <a:solidFill>
            <a:srgbClr val="00A6D6"/>
          </a:solidFill>
          <a:ln w="12700">
            <a:solidFill>
              <a:srgbClr val="00A6D6"/>
            </a:solidFill>
            <a:prstDash val="solid"/>
          </a:ln>
        </p:spPr>
      </p:sp>
      <p:sp>
        <p:nvSpPr>
          <p:cNvPr id="49" name="Text 47"/>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Corporate IP work is not only filing; it starts when an invention is being understood and documented.</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428A0"/>
                </a:solidFill>
              </a:rPr>
              <a:t>ROLE CLARITY</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My role: legal-technical bridge</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The internship trained me to convert technical disclosures into legal questions, evidence maps and decision-ready notes.</a:t>
            </a:r>
            <a:endParaRPr lang="en-US" sz="1050" dirty="0"/>
          </a:p>
        </p:txBody>
      </p:sp>
      <p:sp>
        <p:nvSpPr>
          <p:cNvPr id="9" name="Shape 7"/>
          <p:cNvSpPr/>
          <p:nvPr/>
        </p:nvSpPr>
        <p:spPr>
          <a:xfrm>
            <a:off x="566928" y="1499616"/>
            <a:ext cx="1920240" cy="0"/>
          </a:xfrm>
          <a:prstGeom prst="line">
            <a:avLst/>
          </a:prstGeom>
          <a:noFill/>
          <a:ln w="27940">
            <a:solidFill>
              <a:srgbClr val="1428A0"/>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04</a:t>
            </a:r>
            <a:endParaRPr lang="en-US" sz="800" dirty="0"/>
          </a:p>
        </p:txBody>
      </p:sp>
      <p:sp>
        <p:nvSpPr>
          <p:cNvPr id="27" name="Shape 25"/>
          <p:cNvSpPr/>
          <p:nvPr/>
        </p:nvSpPr>
        <p:spPr>
          <a:xfrm>
            <a:off x="777240" y="1874520"/>
            <a:ext cx="3246120" cy="2606040"/>
          </a:xfrm>
          <a:prstGeom prst="roundRect">
            <a:avLst>
              <a:gd name="adj" fmla="val 2807"/>
            </a:avLst>
          </a:prstGeom>
          <a:solidFill>
            <a:srgbClr val="F8FBFF"/>
          </a:solidFill>
          <a:ln w="12700">
            <a:solidFill>
              <a:srgbClr val="1D4ED8"/>
            </a:solidFill>
            <a:prstDash val="solid"/>
          </a:ln>
          <a:effectLst>
            <a:outerShdw sx="100000" sy="100000" kx="0" ky="0" algn="bl" rotWithShape="0" blurRad="12700" dist="50800" dir="2700000">
              <a:srgbClr val="9AA6B2">
                <a:alpha val="16000"/>
              </a:srgbClr>
            </a:outerShdw>
          </a:effectLst>
        </p:spPr>
      </p:sp>
      <p:sp>
        <p:nvSpPr>
          <p:cNvPr id="28" name="Shape 26"/>
          <p:cNvSpPr/>
          <p:nvPr/>
        </p:nvSpPr>
        <p:spPr>
          <a:xfrm>
            <a:off x="1024128" y="2084832"/>
            <a:ext cx="749808" cy="256032"/>
          </a:xfrm>
          <a:prstGeom prst="roundRect">
            <a:avLst>
              <a:gd name="adj" fmla="val 21429"/>
            </a:avLst>
          </a:prstGeom>
          <a:solidFill>
            <a:srgbClr val="1D4ED8"/>
          </a:solidFill>
          <a:ln w="12700">
            <a:solidFill>
              <a:srgbClr val="1D4ED8"/>
            </a:solidFill>
            <a:prstDash val="solid"/>
          </a:ln>
        </p:spPr>
      </p:sp>
      <p:sp>
        <p:nvSpPr>
          <p:cNvPr id="29" name="Text 27"/>
          <p:cNvSpPr/>
          <p:nvPr/>
        </p:nvSpPr>
        <p:spPr>
          <a:xfrm>
            <a:off x="1024128" y="2125980"/>
            <a:ext cx="749808"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Input</a:t>
            </a:r>
            <a:endParaRPr lang="en-US" sz="720" dirty="0"/>
          </a:p>
        </p:txBody>
      </p:sp>
      <p:sp>
        <p:nvSpPr>
          <p:cNvPr id="30" name="Text 28"/>
          <p:cNvSpPr/>
          <p:nvPr/>
        </p:nvSpPr>
        <p:spPr>
          <a:xfrm>
            <a:off x="1024128" y="2615184"/>
            <a:ext cx="2514600" cy="228600"/>
          </a:xfrm>
          <a:prstGeom prst="rect">
            <a:avLst/>
          </a:prstGeom>
          <a:noFill/>
          <a:ln/>
        </p:spPr>
        <p:txBody>
          <a:bodyPr wrap="square" lIns="0" tIns="0" rIns="0" bIns="0" rtlCol="0" anchor="t">
            <a:normAutofit/>
          </a:bodyPr>
          <a:lstStyle/>
          <a:p>
            <a:pPr algn="l" indent="0" marL="0">
              <a:buNone/>
            </a:pPr>
            <a:r>
              <a:rPr lang="en-US" sz="1320" b="1" dirty="0">
                <a:solidFill>
                  <a:srgbClr val="111827"/>
                </a:solidFill>
                <a:latin typeface="Aptos" pitchFamily="34" charset="0"/>
                <a:ea typeface="Aptos" pitchFamily="34" charset="-122"/>
                <a:cs typeface="Aptos" pitchFamily="34" charset="-120"/>
              </a:rPr>
              <a:t>Technical disclosure</a:t>
            </a:r>
            <a:endParaRPr lang="en-US" sz="1320" dirty="0"/>
          </a:p>
        </p:txBody>
      </p:sp>
      <p:sp>
        <p:nvSpPr>
          <p:cNvPr id="31" name="Shape 29"/>
          <p:cNvSpPr/>
          <p:nvPr/>
        </p:nvSpPr>
        <p:spPr>
          <a:xfrm>
            <a:off x="1033272" y="3140964"/>
            <a:ext cx="68580" cy="68580"/>
          </a:xfrm>
          <a:prstGeom prst="ellipse">
            <a:avLst/>
          </a:prstGeom>
          <a:solidFill>
            <a:srgbClr val="1D4ED8"/>
          </a:solidFill>
          <a:ln w="12700">
            <a:solidFill>
              <a:srgbClr val="1D4ED8"/>
            </a:solidFill>
            <a:prstDash val="solid"/>
          </a:ln>
        </p:spPr>
      </p:sp>
      <p:sp>
        <p:nvSpPr>
          <p:cNvPr id="32" name="Text 30"/>
          <p:cNvSpPr/>
          <p:nvPr/>
        </p:nvSpPr>
        <p:spPr>
          <a:xfrm>
            <a:off x="1179576" y="3063240"/>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Problem statement</a:t>
            </a:r>
            <a:endParaRPr lang="en-US" sz="920" dirty="0"/>
          </a:p>
        </p:txBody>
      </p:sp>
      <p:sp>
        <p:nvSpPr>
          <p:cNvPr id="33" name="Shape 31"/>
          <p:cNvSpPr/>
          <p:nvPr/>
        </p:nvSpPr>
        <p:spPr>
          <a:xfrm>
            <a:off x="1033272" y="3406140"/>
            <a:ext cx="68580" cy="68580"/>
          </a:xfrm>
          <a:prstGeom prst="ellipse">
            <a:avLst/>
          </a:prstGeom>
          <a:solidFill>
            <a:srgbClr val="1D4ED8"/>
          </a:solidFill>
          <a:ln w="12700">
            <a:solidFill>
              <a:srgbClr val="1D4ED8"/>
            </a:solidFill>
            <a:prstDash val="solid"/>
          </a:ln>
        </p:spPr>
      </p:sp>
      <p:sp>
        <p:nvSpPr>
          <p:cNvPr id="34" name="Text 32"/>
          <p:cNvSpPr/>
          <p:nvPr/>
        </p:nvSpPr>
        <p:spPr>
          <a:xfrm>
            <a:off x="1179576" y="3328416"/>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Core technical features</a:t>
            </a:r>
            <a:endParaRPr lang="en-US" sz="920" dirty="0"/>
          </a:p>
        </p:txBody>
      </p:sp>
      <p:sp>
        <p:nvSpPr>
          <p:cNvPr id="35" name="Shape 33"/>
          <p:cNvSpPr/>
          <p:nvPr/>
        </p:nvSpPr>
        <p:spPr>
          <a:xfrm>
            <a:off x="1033272" y="3671316"/>
            <a:ext cx="68580" cy="68580"/>
          </a:xfrm>
          <a:prstGeom prst="ellipse">
            <a:avLst/>
          </a:prstGeom>
          <a:solidFill>
            <a:srgbClr val="1D4ED8"/>
          </a:solidFill>
          <a:ln w="12700">
            <a:solidFill>
              <a:srgbClr val="1D4ED8"/>
            </a:solidFill>
            <a:prstDash val="solid"/>
          </a:ln>
        </p:spPr>
      </p:sp>
      <p:sp>
        <p:nvSpPr>
          <p:cNvPr id="36" name="Text 34"/>
          <p:cNvSpPr/>
          <p:nvPr/>
        </p:nvSpPr>
        <p:spPr>
          <a:xfrm>
            <a:off x="1179576" y="3593592"/>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Embodiments / variants</a:t>
            </a:r>
            <a:endParaRPr lang="en-US" sz="920" dirty="0"/>
          </a:p>
        </p:txBody>
      </p:sp>
      <p:sp>
        <p:nvSpPr>
          <p:cNvPr id="37" name="Shape 35"/>
          <p:cNvSpPr/>
          <p:nvPr/>
        </p:nvSpPr>
        <p:spPr>
          <a:xfrm>
            <a:off x="1033272" y="3936492"/>
            <a:ext cx="68580" cy="68580"/>
          </a:xfrm>
          <a:prstGeom prst="ellipse">
            <a:avLst/>
          </a:prstGeom>
          <a:solidFill>
            <a:srgbClr val="1D4ED8"/>
          </a:solidFill>
          <a:ln w="12700">
            <a:solidFill>
              <a:srgbClr val="1D4ED8"/>
            </a:solidFill>
            <a:prstDash val="solid"/>
          </a:ln>
        </p:spPr>
      </p:sp>
      <p:sp>
        <p:nvSpPr>
          <p:cNvPr id="38" name="Text 36"/>
          <p:cNvSpPr/>
          <p:nvPr/>
        </p:nvSpPr>
        <p:spPr>
          <a:xfrm>
            <a:off x="1179576" y="3858768"/>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Known references and gaps</a:t>
            </a:r>
            <a:endParaRPr lang="en-US" sz="920" dirty="0"/>
          </a:p>
        </p:txBody>
      </p:sp>
      <p:sp>
        <p:nvSpPr>
          <p:cNvPr id="39" name="Shape 37"/>
          <p:cNvSpPr/>
          <p:nvPr/>
        </p:nvSpPr>
        <p:spPr>
          <a:xfrm>
            <a:off x="4233672" y="2926080"/>
            <a:ext cx="594360" cy="365760"/>
          </a:xfrm>
          <a:prstGeom prst="rightArrow">
            <a:avLst/>
          </a:prstGeom>
          <a:solidFill>
            <a:srgbClr val="1D4ED8">
              <a:alpha val="94000"/>
            </a:srgbClr>
          </a:solidFill>
          <a:ln w="12700">
            <a:solidFill>
              <a:srgbClr val="1D4ED8"/>
            </a:solidFill>
            <a:prstDash val="solid"/>
          </a:ln>
        </p:spPr>
      </p:sp>
      <p:sp>
        <p:nvSpPr>
          <p:cNvPr id="40" name="Shape 38"/>
          <p:cNvSpPr/>
          <p:nvPr/>
        </p:nvSpPr>
        <p:spPr>
          <a:xfrm>
            <a:off x="5056632" y="1664208"/>
            <a:ext cx="2084832" cy="3044952"/>
          </a:xfrm>
          <a:prstGeom prst="roundRect">
            <a:avLst>
              <a:gd name="adj" fmla="val 3509"/>
            </a:avLst>
          </a:prstGeom>
          <a:solidFill>
            <a:srgbClr val="FFFFFF"/>
          </a:solidFill>
          <a:ln w="15240">
            <a:solidFill>
              <a:srgbClr val="00A6D6"/>
            </a:solidFill>
            <a:prstDash val="solid"/>
          </a:ln>
          <a:effectLst>
            <a:outerShdw sx="100000" sy="100000" kx="0" ky="0" algn="bl" rotWithShape="0" blurRad="12700" dist="50800" dir="2700000">
              <a:srgbClr val="9AA6B2">
                <a:alpha val="16000"/>
              </a:srgbClr>
            </a:outerShdw>
          </a:effectLst>
        </p:spPr>
      </p:sp>
      <p:sp>
        <p:nvSpPr>
          <p:cNvPr id="41" name="Shape 39"/>
          <p:cNvSpPr/>
          <p:nvPr/>
        </p:nvSpPr>
        <p:spPr>
          <a:xfrm>
            <a:off x="5641848" y="2057400"/>
            <a:ext cx="804672" cy="804672"/>
          </a:xfrm>
          <a:prstGeom prst="ellipse">
            <a:avLst/>
          </a:prstGeom>
          <a:solidFill>
            <a:srgbClr val="00A6D6"/>
          </a:solidFill>
          <a:ln w="12700">
            <a:solidFill>
              <a:srgbClr val="00A6D6"/>
            </a:solidFill>
            <a:prstDash val="solid"/>
          </a:ln>
        </p:spPr>
      </p:sp>
      <p:sp>
        <p:nvSpPr>
          <p:cNvPr id="42" name="Text 40"/>
          <p:cNvSpPr/>
          <p:nvPr/>
        </p:nvSpPr>
        <p:spPr>
          <a:xfrm>
            <a:off x="5641848" y="2267712"/>
            <a:ext cx="804672" cy="182880"/>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IP</a:t>
            </a:r>
            <a:endParaRPr lang="en-US" sz="1600" dirty="0"/>
          </a:p>
        </p:txBody>
      </p:sp>
      <p:sp>
        <p:nvSpPr>
          <p:cNvPr id="43" name="Text 41"/>
          <p:cNvSpPr/>
          <p:nvPr/>
        </p:nvSpPr>
        <p:spPr>
          <a:xfrm>
            <a:off x="5349240" y="3072384"/>
            <a:ext cx="1499616" cy="310896"/>
          </a:xfrm>
          <a:prstGeom prst="rect">
            <a:avLst/>
          </a:prstGeom>
          <a:noFill/>
          <a:ln/>
        </p:spPr>
        <p:txBody>
          <a:bodyPr wrap="square" lIns="0" tIns="0" rIns="0" bIns="0" rtlCol="0" anchor="t">
            <a:normAutofit/>
          </a:bodyPr>
          <a:lstStyle/>
          <a:p>
            <a:pPr algn="ctr" indent="0" marL="0">
              <a:buNone/>
            </a:pPr>
            <a:r>
              <a:rPr lang="en-US" sz="1200" b="1" dirty="0">
                <a:solidFill>
                  <a:srgbClr val="111827"/>
                </a:solidFill>
                <a:latin typeface="Aptos" pitchFamily="34" charset="0"/>
                <a:ea typeface="Aptos" pitchFamily="34" charset="-122"/>
                <a:cs typeface="Aptos" pitchFamily="34" charset="-120"/>
              </a:rPr>
              <a:t>Legal analysis</a:t>
            </a:r>
            <a:endParaRPr lang="en-US" sz="1200" dirty="0"/>
          </a:p>
          <a:p>
            <a:pPr algn="ctr" indent="0" marL="0">
              <a:buNone/>
            </a:pPr>
            <a:r>
              <a:rPr lang="en-US" sz="1200" b="1" dirty="0">
                <a:solidFill>
                  <a:srgbClr val="111827"/>
                </a:solidFill>
                <a:latin typeface="Aptos" pitchFamily="34" charset="0"/>
                <a:ea typeface="Aptos" pitchFamily="34" charset="-122"/>
                <a:cs typeface="Aptos" pitchFamily="34" charset="-120"/>
              </a:rPr>
              <a:t>layer</a:t>
            </a:r>
            <a:endParaRPr lang="en-US" sz="1200" dirty="0"/>
          </a:p>
        </p:txBody>
      </p:sp>
      <p:sp>
        <p:nvSpPr>
          <p:cNvPr id="44" name="Text 42"/>
          <p:cNvSpPr/>
          <p:nvPr/>
        </p:nvSpPr>
        <p:spPr>
          <a:xfrm>
            <a:off x="5266944" y="3685032"/>
            <a:ext cx="1691640" cy="411480"/>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Novelty • inventive step • claim scope • risk • documentation</a:t>
            </a:r>
            <a:endParaRPr lang="en-US" sz="840" dirty="0"/>
          </a:p>
        </p:txBody>
      </p:sp>
      <p:sp>
        <p:nvSpPr>
          <p:cNvPr id="45" name="Shape 43"/>
          <p:cNvSpPr/>
          <p:nvPr/>
        </p:nvSpPr>
        <p:spPr>
          <a:xfrm>
            <a:off x="7342632" y="2926080"/>
            <a:ext cx="594360" cy="365760"/>
          </a:xfrm>
          <a:prstGeom prst="rightArrow">
            <a:avLst/>
          </a:prstGeom>
          <a:solidFill>
            <a:srgbClr val="0EA5A4">
              <a:alpha val="94000"/>
            </a:srgbClr>
          </a:solidFill>
          <a:ln w="12700">
            <a:solidFill>
              <a:srgbClr val="0EA5A4"/>
            </a:solidFill>
            <a:prstDash val="solid"/>
          </a:ln>
        </p:spPr>
      </p:sp>
      <p:sp>
        <p:nvSpPr>
          <p:cNvPr id="46" name="Shape 44"/>
          <p:cNvSpPr/>
          <p:nvPr/>
        </p:nvSpPr>
        <p:spPr>
          <a:xfrm>
            <a:off x="8193024" y="1874520"/>
            <a:ext cx="3246120" cy="2606040"/>
          </a:xfrm>
          <a:prstGeom prst="roundRect">
            <a:avLst>
              <a:gd name="adj" fmla="val 2807"/>
            </a:avLst>
          </a:prstGeom>
          <a:solidFill>
            <a:srgbClr val="F7FFFB"/>
          </a:solidFill>
          <a:ln w="12700">
            <a:solidFill>
              <a:srgbClr val="0EA5A4"/>
            </a:solidFill>
            <a:prstDash val="solid"/>
          </a:ln>
          <a:effectLst>
            <a:outerShdw sx="100000" sy="100000" kx="0" ky="0" algn="bl" rotWithShape="0" blurRad="12700" dist="50800" dir="2700000">
              <a:srgbClr val="9AA6B2">
                <a:alpha val="16000"/>
              </a:srgbClr>
            </a:outerShdw>
          </a:effectLst>
        </p:spPr>
      </p:sp>
      <p:sp>
        <p:nvSpPr>
          <p:cNvPr id="47" name="Shape 45"/>
          <p:cNvSpPr/>
          <p:nvPr/>
        </p:nvSpPr>
        <p:spPr>
          <a:xfrm>
            <a:off x="8439912" y="2084832"/>
            <a:ext cx="868680" cy="256032"/>
          </a:xfrm>
          <a:prstGeom prst="roundRect">
            <a:avLst>
              <a:gd name="adj" fmla="val 21429"/>
            </a:avLst>
          </a:prstGeom>
          <a:solidFill>
            <a:srgbClr val="0EA5A4"/>
          </a:solidFill>
          <a:ln w="12700">
            <a:solidFill>
              <a:srgbClr val="0EA5A4"/>
            </a:solidFill>
            <a:prstDash val="solid"/>
          </a:ln>
        </p:spPr>
      </p:sp>
      <p:sp>
        <p:nvSpPr>
          <p:cNvPr id="48" name="Text 46"/>
          <p:cNvSpPr/>
          <p:nvPr/>
        </p:nvSpPr>
        <p:spPr>
          <a:xfrm>
            <a:off x="8439912" y="2125980"/>
            <a:ext cx="86868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Output</a:t>
            </a:r>
            <a:endParaRPr lang="en-US" sz="720" dirty="0"/>
          </a:p>
        </p:txBody>
      </p:sp>
      <p:sp>
        <p:nvSpPr>
          <p:cNvPr id="49" name="Text 47"/>
          <p:cNvSpPr/>
          <p:nvPr/>
        </p:nvSpPr>
        <p:spPr>
          <a:xfrm>
            <a:off x="8439912" y="2615184"/>
            <a:ext cx="2560320" cy="228600"/>
          </a:xfrm>
          <a:prstGeom prst="rect">
            <a:avLst/>
          </a:prstGeom>
          <a:noFill/>
          <a:ln/>
        </p:spPr>
        <p:txBody>
          <a:bodyPr wrap="square" lIns="0" tIns="0" rIns="0" bIns="0" rtlCol="0" anchor="t">
            <a:normAutofit/>
          </a:bodyPr>
          <a:lstStyle/>
          <a:p>
            <a:pPr algn="l" indent="0" marL="0">
              <a:buNone/>
            </a:pPr>
            <a:r>
              <a:rPr lang="en-US" sz="1300" b="1" dirty="0">
                <a:solidFill>
                  <a:srgbClr val="111827"/>
                </a:solidFill>
                <a:latin typeface="Aptos" pitchFamily="34" charset="0"/>
                <a:ea typeface="Aptos" pitchFamily="34" charset="-122"/>
                <a:cs typeface="Aptos" pitchFamily="34" charset="-120"/>
              </a:rPr>
              <a:t>Decision-ready IP note</a:t>
            </a:r>
            <a:endParaRPr lang="en-US" sz="1300" dirty="0"/>
          </a:p>
        </p:txBody>
      </p:sp>
      <p:sp>
        <p:nvSpPr>
          <p:cNvPr id="50" name="Shape 48"/>
          <p:cNvSpPr/>
          <p:nvPr/>
        </p:nvSpPr>
        <p:spPr>
          <a:xfrm>
            <a:off x="8449056" y="3140964"/>
            <a:ext cx="68580" cy="68580"/>
          </a:xfrm>
          <a:prstGeom prst="ellipse">
            <a:avLst/>
          </a:prstGeom>
          <a:solidFill>
            <a:srgbClr val="0EA5A4"/>
          </a:solidFill>
          <a:ln w="12700">
            <a:solidFill>
              <a:srgbClr val="0EA5A4"/>
            </a:solidFill>
            <a:prstDash val="solid"/>
          </a:ln>
        </p:spPr>
      </p:sp>
      <p:sp>
        <p:nvSpPr>
          <p:cNvPr id="51" name="Text 49"/>
          <p:cNvSpPr/>
          <p:nvPr/>
        </p:nvSpPr>
        <p:spPr>
          <a:xfrm>
            <a:off x="8595360" y="3063240"/>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Search strategy and evidence</a:t>
            </a:r>
            <a:endParaRPr lang="en-US" sz="920" dirty="0"/>
          </a:p>
        </p:txBody>
      </p:sp>
      <p:sp>
        <p:nvSpPr>
          <p:cNvPr id="52" name="Shape 50"/>
          <p:cNvSpPr/>
          <p:nvPr/>
        </p:nvSpPr>
        <p:spPr>
          <a:xfrm>
            <a:off x="8449056" y="3406140"/>
            <a:ext cx="68580" cy="68580"/>
          </a:xfrm>
          <a:prstGeom prst="ellipse">
            <a:avLst/>
          </a:prstGeom>
          <a:solidFill>
            <a:srgbClr val="0EA5A4"/>
          </a:solidFill>
          <a:ln w="12700">
            <a:solidFill>
              <a:srgbClr val="0EA5A4"/>
            </a:solidFill>
            <a:prstDash val="solid"/>
          </a:ln>
        </p:spPr>
      </p:sp>
      <p:sp>
        <p:nvSpPr>
          <p:cNvPr id="53" name="Text 51"/>
          <p:cNvSpPr/>
          <p:nvPr/>
        </p:nvSpPr>
        <p:spPr>
          <a:xfrm>
            <a:off x="8595360" y="3328416"/>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Patentability / FTO reasoning</a:t>
            </a:r>
            <a:endParaRPr lang="en-US" sz="920" dirty="0"/>
          </a:p>
        </p:txBody>
      </p:sp>
      <p:sp>
        <p:nvSpPr>
          <p:cNvPr id="54" name="Shape 52"/>
          <p:cNvSpPr/>
          <p:nvPr/>
        </p:nvSpPr>
        <p:spPr>
          <a:xfrm>
            <a:off x="8449056" y="3671316"/>
            <a:ext cx="68580" cy="68580"/>
          </a:xfrm>
          <a:prstGeom prst="ellipse">
            <a:avLst/>
          </a:prstGeom>
          <a:solidFill>
            <a:srgbClr val="0EA5A4"/>
          </a:solidFill>
          <a:ln w="12700">
            <a:solidFill>
              <a:srgbClr val="0EA5A4"/>
            </a:solidFill>
            <a:prstDash val="solid"/>
          </a:ln>
        </p:spPr>
      </p:sp>
      <p:sp>
        <p:nvSpPr>
          <p:cNvPr id="55" name="Text 53"/>
          <p:cNvSpPr/>
          <p:nvPr/>
        </p:nvSpPr>
        <p:spPr>
          <a:xfrm>
            <a:off x="8595360" y="3593592"/>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Claim chart or element map</a:t>
            </a:r>
            <a:endParaRPr lang="en-US" sz="920" dirty="0"/>
          </a:p>
        </p:txBody>
      </p:sp>
      <p:sp>
        <p:nvSpPr>
          <p:cNvPr id="56" name="Shape 54"/>
          <p:cNvSpPr/>
          <p:nvPr/>
        </p:nvSpPr>
        <p:spPr>
          <a:xfrm>
            <a:off x="8449056" y="3936492"/>
            <a:ext cx="68580" cy="68580"/>
          </a:xfrm>
          <a:prstGeom prst="ellipse">
            <a:avLst/>
          </a:prstGeom>
          <a:solidFill>
            <a:srgbClr val="0EA5A4"/>
          </a:solidFill>
          <a:ln w="12700">
            <a:solidFill>
              <a:srgbClr val="0EA5A4"/>
            </a:solidFill>
            <a:prstDash val="solid"/>
          </a:ln>
        </p:spPr>
      </p:sp>
      <p:sp>
        <p:nvSpPr>
          <p:cNvPr id="57" name="Text 55"/>
          <p:cNvSpPr/>
          <p:nvPr/>
        </p:nvSpPr>
        <p:spPr>
          <a:xfrm>
            <a:off x="8595360" y="3858768"/>
            <a:ext cx="2432304" cy="265176"/>
          </a:xfrm>
          <a:prstGeom prst="rect">
            <a:avLst/>
          </a:prstGeom>
          <a:noFill/>
          <a:ln/>
        </p:spPr>
        <p:txBody>
          <a:bodyPr wrap="square" lIns="0" tIns="0" rIns="0" bIns="0" rtlCol="0" anchor="t">
            <a:normAutofit/>
          </a:bodyPr>
          <a:lstStyle/>
          <a:p>
            <a:pPr algn="l" indent="0" marL="0">
              <a:buNone/>
            </a:pPr>
            <a:r>
              <a:rPr lang="en-US" sz="920" dirty="0">
                <a:solidFill>
                  <a:srgbClr val="475569"/>
                </a:solidFill>
                <a:latin typeface="Aptos" pitchFamily="34" charset="0"/>
                <a:ea typeface="Aptos" pitchFamily="34" charset="-122"/>
                <a:cs typeface="Aptos" pitchFamily="34" charset="-120"/>
              </a:rPr>
              <a:t>Practical legal recommendation</a:t>
            </a:r>
            <a:endParaRPr lang="en-US" sz="920" dirty="0"/>
          </a:p>
        </p:txBody>
      </p:sp>
      <p:sp>
        <p:nvSpPr>
          <p:cNvPr id="58" name="Shape 56"/>
          <p:cNvSpPr/>
          <p:nvPr/>
        </p:nvSpPr>
        <p:spPr>
          <a:xfrm>
            <a:off x="658368" y="5632704"/>
            <a:ext cx="10881360" cy="429768"/>
          </a:xfrm>
          <a:prstGeom prst="roundRect">
            <a:avLst>
              <a:gd name="adj" fmla="val 17021"/>
            </a:avLst>
          </a:prstGeom>
          <a:solidFill>
            <a:srgbClr val="F8FAFC"/>
          </a:solidFill>
          <a:ln w="13970">
            <a:solidFill>
              <a:srgbClr val="0EA5A4"/>
            </a:solidFill>
            <a:prstDash val="solid"/>
          </a:ln>
        </p:spPr>
      </p:sp>
      <p:sp>
        <p:nvSpPr>
          <p:cNvPr id="59" name="Shape 57"/>
          <p:cNvSpPr/>
          <p:nvPr/>
        </p:nvSpPr>
        <p:spPr>
          <a:xfrm>
            <a:off x="658368" y="5632704"/>
            <a:ext cx="91440" cy="429768"/>
          </a:xfrm>
          <a:prstGeom prst="rect">
            <a:avLst/>
          </a:prstGeom>
          <a:solidFill>
            <a:srgbClr val="0EA5A4"/>
          </a:solidFill>
          <a:ln w="12700">
            <a:solidFill>
              <a:srgbClr val="0EA5A4"/>
            </a:solidFill>
            <a:prstDash val="solid"/>
          </a:ln>
        </p:spPr>
      </p:sp>
      <p:sp>
        <p:nvSpPr>
          <p:cNvPr id="60" name="Text 58"/>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The main skill was not “reading patents” alone; it was structuring technical facts for legal judgment.</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428A0"/>
                </a:solidFill>
              </a:rPr>
              <a:t>WORKSTREAM MAP</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What I worked on during the internship</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Each workstream had a concrete legal purpose and a concrete deliverable.</a:t>
            </a:r>
            <a:endParaRPr lang="en-US" sz="1050" dirty="0"/>
          </a:p>
        </p:txBody>
      </p:sp>
      <p:sp>
        <p:nvSpPr>
          <p:cNvPr id="9" name="Shape 7"/>
          <p:cNvSpPr/>
          <p:nvPr/>
        </p:nvSpPr>
        <p:spPr>
          <a:xfrm>
            <a:off x="566928" y="1499616"/>
            <a:ext cx="1920240" cy="0"/>
          </a:xfrm>
          <a:prstGeom prst="line">
            <a:avLst/>
          </a:prstGeom>
          <a:noFill/>
          <a:ln w="27940">
            <a:solidFill>
              <a:srgbClr val="1428A0"/>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05</a:t>
            </a:r>
            <a:endParaRPr lang="en-US" sz="800" dirty="0"/>
          </a:p>
        </p:txBody>
      </p:sp>
      <p:sp>
        <p:nvSpPr>
          <p:cNvPr id="27" name="Shape 25"/>
          <p:cNvSpPr/>
          <p:nvPr/>
        </p:nvSpPr>
        <p:spPr>
          <a:xfrm>
            <a:off x="749808" y="1792224"/>
            <a:ext cx="10744200" cy="3456432"/>
          </a:xfrm>
          <a:prstGeom prst="roundRect">
            <a:avLst>
              <a:gd name="adj" fmla="val 2116"/>
            </a:avLst>
          </a:prstGeom>
          <a:solidFill>
            <a:srgbClr val="FFFFFF"/>
          </a:solidFill>
          <a:ln w="10160">
            <a:solidFill>
              <a:srgbClr val="D7DEE8"/>
            </a:solidFill>
            <a:prstDash val="solid"/>
          </a:ln>
          <a:effectLst>
            <a:outerShdw sx="100000" sy="100000" kx="0" ky="0" algn="bl" rotWithShape="0" blurRad="12700" dist="50800" dir="2700000">
              <a:srgbClr val="9AA6B2">
                <a:alpha val="16000"/>
              </a:srgbClr>
            </a:outerShdw>
          </a:effectLst>
        </p:spPr>
      </p:sp>
      <p:sp>
        <p:nvSpPr>
          <p:cNvPr id="28" name="Shape 26"/>
          <p:cNvSpPr/>
          <p:nvPr/>
        </p:nvSpPr>
        <p:spPr>
          <a:xfrm>
            <a:off x="749808" y="1792224"/>
            <a:ext cx="10744200" cy="384048"/>
          </a:xfrm>
          <a:prstGeom prst="rect">
            <a:avLst/>
          </a:prstGeom>
          <a:solidFill>
            <a:srgbClr val="071A2B"/>
          </a:solidFill>
          <a:ln w="12700">
            <a:solidFill>
              <a:srgbClr val="071A2B"/>
            </a:solidFill>
            <a:prstDash val="solid"/>
          </a:ln>
        </p:spPr>
      </p:sp>
      <p:sp>
        <p:nvSpPr>
          <p:cNvPr id="29" name="Text 27"/>
          <p:cNvSpPr/>
          <p:nvPr/>
        </p:nvSpPr>
        <p:spPr>
          <a:xfrm>
            <a:off x="960120" y="1901952"/>
            <a:ext cx="731520" cy="109728"/>
          </a:xfrm>
          <a:prstGeom prst="rect">
            <a:avLst/>
          </a:prstGeom>
          <a:noFill/>
          <a:ln/>
        </p:spPr>
        <p:txBody>
          <a:bodyPr wrap="square" lIns="0" tIns="0" rIns="0" bIns="0" rtlCol="0" anchor="t">
            <a:normAutofit/>
          </a:bodyPr>
          <a:lstStyle/>
          <a:p>
            <a:pPr algn="l" indent="0" marL="0">
              <a:buNone/>
            </a:pPr>
            <a:r>
              <a:rPr lang="en-US" sz="780" b="1" dirty="0">
                <a:solidFill>
                  <a:srgbClr val="FFFFFF"/>
                </a:solidFill>
                <a:latin typeface="Aptos" pitchFamily="34" charset="0"/>
                <a:ea typeface="Aptos" pitchFamily="34" charset="-122"/>
                <a:cs typeface="Aptos" pitchFamily="34" charset="-120"/>
              </a:rPr>
              <a:t>Stage</a:t>
            </a:r>
            <a:endParaRPr lang="en-US" sz="780" dirty="0"/>
          </a:p>
        </p:txBody>
      </p:sp>
      <p:sp>
        <p:nvSpPr>
          <p:cNvPr id="30" name="Text 28"/>
          <p:cNvSpPr/>
          <p:nvPr/>
        </p:nvSpPr>
        <p:spPr>
          <a:xfrm>
            <a:off x="1901952" y="1901952"/>
            <a:ext cx="2834640" cy="109728"/>
          </a:xfrm>
          <a:prstGeom prst="rect">
            <a:avLst/>
          </a:prstGeom>
          <a:noFill/>
          <a:ln/>
        </p:spPr>
        <p:txBody>
          <a:bodyPr wrap="square" lIns="0" tIns="0" rIns="0" bIns="0" rtlCol="0" anchor="t">
            <a:normAutofit/>
          </a:bodyPr>
          <a:lstStyle/>
          <a:p>
            <a:pPr algn="l" indent="0" marL="0">
              <a:buNone/>
            </a:pPr>
            <a:r>
              <a:rPr lang="en-US" sz="780" b="1" dirty="0">
                <a:solidFill>
                  <a:srgbClr val="FFFFFF"/>
                </a:solidFill>
                <a:latin typeface="Aptos" pitchFamily="34" charset="0"/>
                <a:ea typeface="Aptos" pitchFamily="34" charset="-122"/>
                <a:cs typeface="Aptos" pitchFamily="34" charset="-120"/>
              </a:rPr>
              <a:t>IP-law task</a:t>
            </a:r>
            <a:endParaRPr lang="en-US" sz="780" dirty="0"/>
          </a:p>
        </p:txBody>
      </p:sp>
      <p:sp>
        <p:nvSpPr>
          <p:cNvPr id="31" name="Text 29"/>
          <p:cNvSpPr/>
          <p:nvPr/>
        </p:nvSpPr>
        <p:spPr>
          <a:xfrm>
            <a:off x="5285232" y="1901952"/>
            <a:ext cx="4389120" cy="109728"/>
          </a:xfrm>
          <a:prstGeom prst="rect">
            <a:avLst/>
          </a:prstGeom>
          <a:noFill/>
          <a:ln/>
        </p:spPr>
        <p:txBody>
          <a:bodyPr wrap="square" lIns="0" tIns="0" rIns="0" bIns="0" rtlCol="0" anchor="t">
            <a:normAutofit/>
          </a:bodyPr>
          <a:lstStyle/>
          <a:p>
            <a:pPr algn="l" indent="0" marL="0">
              <a:buNone/>
            </a:pPr>
            <a:r>
              <a:rPr lang="en-US" sz="780" b="1" dirty="0">
                <a:solidFill>
                  <a:srgbClr val="FFFFFF"/>
                </a:solidFill>
                <a:latin typeface="Aptos" pitchFamily="34" charset="0"/>
                <a:ea typeface="Aptos" pitchFamily="34" charset="-122"/>
                <a:cs typeface="Aptos" pitchFamily="34" charset="-120"/>
              </a:rPr>
              <a:t>Output / evidence created</a:t>
            </a:r>
            <a:endParaRPr lang="en-US" sz="780" dirty="0"/>
          </a:p>
        </p:txBody>
      </p:sp>
      <p:sp>
        <p:nvSpPr>
          <p:cNvPr id="32" name="Shape 30"/>
          <p:cNvSpPr/>
          <p:nvPr/>
        </p:nvSpPr>
        <p:spPr>
          <a:xfrm>
            <a:off x="941832" y="2231136"/>
            <a:ext cx="365760" cy="182880"/>
          </a:xfrm>
          <a:prstGeom prst="roundRect">
            <a:avLst>
              <a:gd name="adj" fmla="val 30000"/>
            </a:avLst>
          </a:prstGeom>
          <a:solidFill>
            <a:srgbClr val="1D4ED8"/>
          </a:solidFill>
          <a:ln w="12700">
            <a:solidFill>
              <a:srgbClr val="1D4ED8"/>
            </a:solidFill>
            <a:prstDash val="solid"/>
          </a:ln>
        </p:spPr>
      </p:sp>
      <p:sp>
        <p:nvSpPr>
          <p:cNvPr id="33" name="Text 31"/>
          <p:cNvSpPr/>
          <p:nvPr/>
        </p:nvSpPr>
        <p:spPr>
          <a:xfrm>
            <a:off x="941832" y="2272284"/>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C</a:t>
            </a:r>
            <a:endParaRPr lang="en-US" sz="720" dirty="0"/>
          </a:p>
        </p:txBody>
      </p:sp>
      <p:sp>
        <p:nvSpPr>
          <p:cNvPr id="34" name="Text 32"/>
          <p:cNvSpPr/>
          <p:nvPr/>
        </p:nvSpPr>
        <p:spPr>
          <a:xfrm>
            <a:off x="1883664" y="2240280"/>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Invention disclosure review</a:t>
            </a:r>
            <a:endParaRPr lang="en-US" sz="850" dirty="0"/>
          </a:p>
        </p:txBody>
      </p:sp>
      <p:sp>
        <p:nvSpPr>
          <p:cNvPr id="35" name="Text 33"/>
          <p:cNvSpPr/>
          <p:nvPr/>
        </p:nvSpPr>
        <p:spPr>
          <a:xfrm>
            <a:off x="5285232" y="2240280"/>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Invention summary, feature list, clarification questions</a:t>
            </a:r>
            <a:endParaRPr lang="en-US" sz="820" dirty="0"/>
          </a:p>
        </p:txBody>
      </p:sp>
      <p:sp>
        <p:nvSpPr>
          <p:cNvPr id="36" name="Shape 34"/>
          <p:cNvSpPr/>
          <p:nvPr/>
        </p:nvSpPr>
        <p:spPr>
          <a:xfrm>
            <a:off x="768096" y="2551176"/>
            <a:ext cx="10698480" cy="338328"/>
          </a:xfrm>
          <a:prstGeom prst="rect">
            <a:avLst/>
          </a:prstGeom>
          <a:solidFill>
            <a:srgbClr val="F6F8FB"/>
          </a:solidFill>
          <a:ln w="12700">
            <a:solidFill>
              <a:srgbClr val="F6F8FB"/>
            </a:solidFill>
            <a:prstDash val="solid"/>
          </a:ln>
        </p:spPr>
      </p:sp>
      <p:sp>
        <p:nvSpPr>
          <p:cNvPr id="37" name="Shape 35"/>
          <p:cNvSpPr/>
          <p:nvPr/>
        </p:nvSpPr>
        <p:spPr>
          <a:xfrm>
            <a:off x="941832" y="2587752"/>
            <a:ext cx="365760" cy="182880"/>
          </a:xfrm>
          <a:prstGeom prst="roundRect">
            <a:avLst>
              <a:gd name="adj" fmla="val 30000"/>
            </a:avLst>
          </a:prstGeom>
          <a:solidFill>
            <a:srgbClr val="00A6D6"/>
          </a:solidFill>
          <a:ln w="12700">
            <a:solidFill>
              <a:srgbClr val="00A6D6"/>
            </a:solidFill>
            <a:prstDash val="solid"/>
          </a:ln>
        </p:spPr>
      </p:sp>
      <p:sp>
        <p:nvSpPr>
          <p:cNvPr id="38" name="Text 36"/>
          <p:cNvSpPr/>
          <p:nvPr/>
        </p:nvSpPr>
        <p:spPr>
          <a:xfrm>
            <a:off x="941832" y="2628900"/>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L</a:t>
            </a:r>
            <a:endParaRPr lang="en-US" sz="720" dirty="0"/>
          </a:p>
        </p:txBody>
      </p:sp>
      <p:sp>
        <p:nvSpPr>
          <p:cNvPr id="39" name="Text 37"/>
          <p:cNvSpPr/>
          <p:nvPr/>
        </p:nvSpPr>
        <p:spPr>
          <a:xfrm>
            <a:off x="1883664" y="2596896"/>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Prior-art search</a:t>
            </a:r>
            <a:endParaRPr lang="en-US" sz="850" dirty="0"/>
          </a:p>
        </p:txBody>
      </p:sp>
      <p:sp>
        <p:nvSpPr>
          <p:cNvPr id="40" name="Text 38"/>
          <p:cNvSpPr/>
          <p:nvPr/>
        </p:nvSpPr>
        <p:spPr>
          <a:xfrm>
            <a:off x="5285232" y="2596896"/>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Search strings, classification paths, closest-reference shortlist</a:t>
            </a:r>
            <a:endParaRPr lang="en-US" sz="820" dirty="0"/>
          </a:p>
        </p:txBody>
      </p:sp>
      <p:sp>
        <p:nvSpPr>
          <p:cNvPr id="41" name="Shape 39"/>
          <p:cNvSpPr/>
          <p:nvPr/>
        </p:nvSpPr>
        <p:spPr>
          <a:xfrm>
            <a:off x="941832" y="2944368"/>
            <a:ext cx="365760" cy="182880"/>
          </a:xfrm>
          <a:prstGeom prst="roundRect">
            <a:avLst>
              <a:gd name="adj" fmla="val 30000"/>
            </a:avLst>
          </a:prstGeom>
          <a:solidFill>
            <a:srgbClr val="00A6D6"/>
          </a:solidFill>
          <a:ln w="12700">
            <a:solidFill>
              <a:srgbClr val="00A6D6"/>
            </a:solidFill>
            <a:prstDash val="solid"/>
          </a:ln>
        </p:spPr>
      </p:sp>
      <p:sp>
        <p:nvSpPr>
          <p:cNvPr id="42" name="Text 40"/>
          <p:cNvSpPr/>
          <p:nvPr/>
        </p:nvSpPr>
        <p:spPr>
          <a:xfrm>
            <a:off x="941832" y="2985516"/>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L</a:t>
            </a:r>
            <a:endParaRPr lang="en-US" sz="720" dirty="0"/>
          </a:p>
        </p:txBody>
      </p:sp>
      <p:sp>
        <p:nvSpPr>
          <p:cNvPr id="43" name="Text 41"/>
          <p:cNvSpPr/>
          <p:nvPr/>
        </p:nvSpPr>
        <p:spPr>
          <a:xfrm>
            <a:off x="1883664" y="2953512"/>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Patent landscape / intelligence</a:t>
            </a:r>
            <a:endParaRPr lang="en-US" sz="850" dirty="0"/>
          </a:p>
        </p:txBody>
      </p:sp>
      <p:sp>
        <p:nvSpPr>
          <p:cNvPr id="44" name="Text 42"/>
          <p:cNvSpPr/>
          <p:nvPr/>
        </p:nvSpPr>
        <p:spPr>
          <a:xfrm>
            <a:off x="5285232" y="2953512"/>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Assignee / technology cluster notes, risk-watch list</a:t>
            </a:r>
            <a:endParaRPr lang="en-US" sz="820" dirty="0"/>
          </a:p>
        </p:txBody>
      </p:sp>
      <p:sp>
        <p:nvSpPr>
          <p:cNvPr id="45" name="Shape 43"/>
          <p:cNvSpPr/>
          <p:nvPr/>
        </p:nvSpPr>
        <p:spPr>
          <a:xfrm>
            <a:off x="768096" y="3264408"/>
            <a:ext cx="10698480" cy="338328"/>
          </a:xfrm>
          <a:prstGeom prst="rect">
            <a:avLst/>
          </a:prstGeom>
          <a:solidFill>
            <a:srgbClr val="F6F8FB"/>
          </a:solidFill>
          <a:ln w="12700">
            <a:solidFill>
              <a:srgbClr val="F6F8FB"/>
            </a:solidFill>
            <a:prstDash val="solid"/>
          </a:ln>
        </p:spPr>
      </p:sp>
      <p:sp>
        <p:nvSpPr>
          <p:cNvPr id="46" name="Shape 44"/>
          <p:cNvSpPr/>
          <p:nvPr/>
        </p:nvSpPr>
        <p:spPr>
          <a:xfrm>
            <a:off x="941832" y="3300984"/>
            <a:ext cx="365760" cy="182880"/>
          </a:xfrm>
          <a:prstGeom prst="roundRect">
            <a:avLst>
              <a:gd name="adj" fmla="val 30000"/>
            </a:avLst>
          </a:prstGeom>
          <a:solidFill>
            <a:srgbClr val="F59E0B"/>
          </a:solidFill>
          <a:ln w="12700">
            <a:solidFill>
              <a:srgbClr val="F59E0B"/>
            </a:solidFill>
            <a:prstDash val="solid"/>
          </a:ln>
        </p:spPr>
      </p:sp>
      <p:sp>
        <p:nvSpPr>
          <p:cNvPr id="47" name="Text 45"/>
          <p:cNvSpPr/>
          <p:nvPr/>
        </p:nvSpPr>
        <p:spPr>
          <a:xfrm>
            <a:off x="941832" y="3342132"/>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A</a:t>
            </a:r>
            <a:endParaRPr lang="en-US" sz="720" dirty="0"/>
          </a:p>
        </p:txBody>
      </p:sp>
      <p:sp>
        <p:nvSpPr>
          <p:cNvPr id="48" name="Text 46"/>
          <p:cNvSpPr/>
          <p:nvPr/>
        </p:nvSpPr>
        <p:spPr>
          <a:xfrm>
            <a:off x="1883664" y="3310128"/>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Patentability analysis</a:t>
            </a:r>
            <a:endParaRPr lang="en-US" sz="850" dirty="0"/>
          </a:p>
        </p:txBody>
      </p:sp>
      <p:sp>
        <p:nvSpPr>
          <p:cNvPr id="49" name="Text 47"/>
          <p:cNvSpPr/>
          <p:nvPr/>
        </p:nvSpPr>
        <p:spPr>
          <a:xfrm>
            <a:off x="5285232" y="3310128"/>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Novelty, inventive step, industrial application and exclusion-screen note</a:t>
            </a:r>
            <a:endParaRPr lang="en-US" sz="820" dirty="0"/>
          </a:p>
        </p:txBody>
      </p:sp>
      <p:sp>
        <p:nvSpPr>
          <p:cNvPr id="50" name="Shape 48"/>
          <p:cNvSpPr/>
          <p:nvPr/>
        </p:nvSpPr>
        <p:spPr>
          <a:xfrm>
            <a:off x="941832" y="3657600"/>
            <a:ext cx="365760" cy="182880"/>
          </a:xfrm>
          <a:prstGeom prst="roundRect">
            <a:avLst>
              <a:gd name="adj" fmla="val 30000"/>
            </a:avLst>
          </a:prstGeom>
          <a:solidFill>
            <a:srgbClr val="F59E0B"/>
          </a:solidFill>
          <a:ln w="12700">
            <a:solidFill>
              <a:srgbClr val="F59E0B"/>
            </a:solidFill>
            <a:prstDash val="solid"/>
          </a:ln>
        </p:spPr>
      </p:sp>
      <p:sp>
        <p:nvSpPr>
          <p:cNvPr id="51" name="Text 49"/>
          <p:cNvSpPr/>
          <p:nvPr/>
        </p:nvSpPr>
        <p:spPr>
          <a:xfrm>
            <a:off x="941832" y="3698748"/>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A</a:t>
            </a:r>
            <a:endParaRPr lang="en-US" sz="720" dirty="0"/>
          </a:p>
        </p:txBody>
      </p:sp>
      <p:sp>
        <p:nvSpPr>
          <p:cNvPr id="52" name="Text 50"/>
          <p:cNvSpPr/>
          <p:nvPr/>
        </p:nvSpPr>
        <p:spPr>
          <a:xfrm>
            <a:off x="1883664" y="3666744"/>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FTO / infringement screening</a:t>
            </a:r>
            <a:endParaRPr lang="en-US" sz="850" dirty="0"/>
          </a:p>
        </p:txBody>
      </p:sp>
      <p:sp>
        <p:nvSpPr>
          <p:cNvPr id="53" name="Text 51"/>
          <p:cNvSpPr/>
          <p:nvPr/>
        </p:nvSpPr>
        <p:spPr>
          <a:xfrm>
            <a:off x="5285232" y="3666744"/>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Jurisdiction, status and claim-element risk snapshot</a:t>
            </a:r>
            <a:endParaRPr lang="en-US" sz="820" dirty="0"/>
          </a:p>
        </p:txBody>
      </p:sp>
      <p:sp>
        <p:nvSpPr>
          <p:cNvPr id="54" name="Shape 52"/>
          <p:cNvSpPr/>
          <p:nvPr/>
        </p:nvSpPr>
        <p:spPr>
          <a:xfrm>
            <a:off x="768096" y="3977640"/>
            <a:ext cx="10698480" cy="338328"/>
          </a:xfrm>
          <a:prstGeom prst="rect">
            <a:avLst/>
          </a:prstGeom>
          <a:solidFill>
            <a:srgbClr val="F6F8FB"/>
          </a:solidFill>
          <a:ln w="12700">
            <a:solidFill>
              <a:srgbClr val="F6F8FB"/>
            </a:solidFill>
            <a:prstDash val="solid"/>
          </a:ln>
        </p:spPr>
      </p:sp>
      <p:sp>
        <p:nvSpPr>
          <p:cNvPr id="55" name="Shape 53"/>
          <p:cNvSpPr/>
          <p:nvPr/>
        </p:nvSpPr>
        <p:spPr>
          <a:xfrm>
            <a:off x="941832" y="4014216"/>
            <a:ext cx="365760" cy="182880"/>
          </a:xfrm>
          <a:prstGeom prst="roundRect">
            <a:avLst>
              <a:gd name="adj" fmla="val 30000"/>
            </a:avLst>
          </a:prstGeom>
          <a:solidFill>
            <a:srgbClr val="7C3AED"/>
          </a:solidFill>
          <a:ln w="12700">
            <a:solidFill>
              <a:srgbClr val="7C3AED"/>
            </a:solidFill>
            <a:prstDash val="solid"/>
          </a:ln>
        </p:spPr>
      </p:sp>
      <p:sp>
        <p:nvSpPr>
          <p:cNvPr id="56" name="Text 54"/>
          <p:cNvSpPr/>
          <p:nvPr/>
        </p:nvSpPr>
        <p:spPr>
          <a:xfrm>
            <a:off x="941832" y="4055364"/>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I</a:t>
            </a:r>
            <a:endParaRPr lang="en-US" sz="720" dirty="0"/>
          </a:p>
        </p:txBody>
      </p:sp>
      <p:sp>
        <p:nvSpPr>
          <p:cNvPr id="57" name="Text 55"/>
          <p:cNvSpPr/>
          <p:nvPr/>
        </p:nvSpPr>
        <p:spPr>
          <a:xfrm>
            <a:off x="1883664" y="4023360"/>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Claim construction and charting</a:t>
            </a:r>
            <a:endParaRPr lang="en-US" sz="850" dirty="0"/>
          </a:p>
        </p:txBody>
      </p:sp>
      <p:sp>
        <p:nvSpPr>
          <p:cNvPr id="58" name="Text 56"/>
          <p:cNvSpPr/>
          <p:nvPr/>
        </p:nvSpPr>
        <p:spPr>
          <a:xfrm>
            <a:off x="5285232" y="4023360"/>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Claim chart, element interpretation, evidence mapping</a:t>
            </a:r>
            <a:endParaRPr lang="en-US" sz="820" dirty="0"/>
          </a:p>
        </p:txBody>
      </p:sp>
      <p:sp>
        <p:nvSpPr>
          <p:cNvPr id="59" name="Shape 57"/>
          <p:cNvSpPr/>
          <p:nvPr/>
        </p:nvSpPr>
        <p:spPr>
          <a:xfrm>
            <a:off x="941832" y="4370832"/>
            <a:ext cx="365760" cy="182880"/>
          </a:xfrm>
          <a:prstGeom prst="roundRect">
            <a:avLst>
              <a:gd name="adj" fmla="val 30000"/>
            </a:avLst>
          </a:prstGeom>
          <a:solidFill>
            <a:srgbClr val="7C3AED"/>
          </a:solidFill>
          <a:ln w="12700">
            <a:solidFill>
              <a:srgbClr val="7C3AED"/>
            </a:solidFill>
            <a:prstDash val="solid"/>
          </a:ln>
        </p:spPr>
      </p:sp>
      <p:sp>
        <p:nvSpPr>
          <p:cNvPr id="60" name="Text 58"/>
          <p:cNvSpPr/>
          <p:nvPr/>
        </p:nvSpPr>
        <p:spPr>
          <a:xfrm>
            <a:off x="941832" y="4411980"/>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I</a:t>
            </a:r>
            <a:endParaRPr lang="en-US" sz="720" dirty="0"/>
          </a:p>
        </p:txBody>
      </p:sp>
      <p:sp>
        <p:nvSpPr>
          <p:cNvPr id="61" name="Text 59"/>
          <p:cNvSpPr/>
          <p:nvPr/>
        </p:nvSpPr>
        <p:spPr>
          <a:xfrm>
            <a:off x="1883664" y="4379976"/>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Prosecution support</a:t>
            </a:r>
            <a:endParaRPr lang="en-US" sz="850" dirty="0"/>
          </a:p>
        </p:txBody>
      </p:sp>
      <p:sp>
        <p:nvSpPr>
          <p:cNvPr id="62" name="Text 60"/>
          <p:cNvSpPr/>
          <p:nvPr/>
        </p:nvSpPr>
        <p:spPr>
          <a:xfrm>
            <a:off x="5285232" y="4379976"/>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Objection summary, prior-art distinction and response inputs</a:t>
            </a:r>
            <a:endParaRPr lang="en-US" sz="820" dirty="0"/>
          </a:p>
        </p:txBody>
      </p:sp>
      <p:sp>
        <p:nvSpPr>
          <p:cNvPr id="63" name="Shape 61"/>
          <p:cNvSpPr/>
          <p:nvPr/>
        </p:nvSpPr>
        <p:spPr>
          <a:xfrm>
            <a:off x="768096" y="4690872"/>
            <a:ext cx="10698480" cy="338328"/>
          </a:xfrm>
          <a:prstGeom prst="rect">
            <a:avLst/>
          </a:prstGeom>
          <a:solidFill>
            <a:srgbClr val="F6F8FB"/>
          </a:solidFill>
          <a:ln w="12700">
            <a:solidFill>
              <a:srgbClr val="F6F8FB"/>
            </a:solidFill>
            <a:prstDash val="solid"/>
          </a:ln>
        </p:spPr>
      </p:sp>
      <p:sp>
        <p:nvSpPr>
          <p:cNvPr id="64" name="Shape 62"/>
          <p:cNvSpPr/>
          <p:nvPr/>
        </p:nvSpPr>
        <p:spPr>
          <a:xfrm>
            <a:off x="941832" y="4727448"/>
            <a:ext cx="365760" cy="182880"/>
          </a:xfrm>
          <a:prstGeom prst="roundRect">
            <a:avLst>
              <a:gd name="adj" fmla="val 30000"/>
            </a:avLst>
          </a:prstGeom>
          <a:solidFill>
            <a:srgbClr val="0EA5A4"/>
          </a:solidFill>
          <a:ln w="12700">
            <a:solidFill>
              <a:srgbClr val="0EA5A4"/>
            </a:solidFill>
            <a:prstDash val="solid"/>
          </a:ln>
        </p:spPr>
      </p:sp>
      <p:sp>
        <p:nvSpPr>
          <p:cNvPr id="65" name="Text 63"/>
          <p:cNvSpPr/>
          <p:nvPr/>
        </p:nvSpPr>
        <p:spPr>
          <a:xfrm>
            <a:off x="941832" y="4768596"/>
            <a:ext cx="3657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M</a:t>
            </a:r>
            <a:endParaRPr lang="en-US" sz="720" dirty="0"/>
          </a:p>
        </p:txBody>
      </p:sp>
      <p:sp>
        <p:nvSpPr>
          <p:cNvPr id="66" name="Text 64"/>
          <p:cNvSpPr/>
          <p:nvPr/>
        </p:nvSpPr>
        <p:spPr>
          <a:xfrm>
            <a:off x="1883664" y="4736592"/>
            <a:ext cx="3063240" cy="109728"/>
          </a:xfrm>
          <a:prstGeom prst="rect">
            <a:avLst/>
          </a:prstGeom>
          <a:noFill/>
          <a:ln/>
        </p:spPr>
        <p:txBody>
          <a:bodyPr wrap="square" lIns="0" tIns="0" rIns="0" bIns="0" rtlCol="0" anchor="t">
            <a:normAutofit/>
          </a:bodyPr>
          <a:lstStyle/>
          <a:p>
            <a:pPr algn="l" indent="0" marL="0">
              <a:buNone/>
            </a:pPr>
            <a:r>
              <a:rPr lang="en-US" sz="850" b="1" dirty="0">
                <a:solidFill>
                  <a:srgbClr val="111827"/>
                </a:solidFill>
                <a:latin typeface="Aptos" pitchFamily="34" charset="0"/>
                <a:ea typeface="Aptos" pitchFamily="34" charset="-122"/>
                <a:cs typeface="Aptos" pitchFamily="34" charset="-120"/>
              </a:rPr>
              <a:t>IP governance</a:t>
            </a:r>
            <a:endParaRPr lang="en-US" sz="850" dirty="0"/>
          </a:p>
        </p:txBody>
      </p:sp>
      <p:sp>
        <p:nvSpPr>
          <p:cNvPr id="67" name="Text 65"/>
          <p:cNvSpPr/>
          <p:nvPr/>
        </p:nvSpPr>
        <p:spPr>
          <a:xfrm>
            <a:off x="5285232" y="4736592"/>
            <a:ext cx="5138928" cy="109728"/>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Confidentiality, ownership, NDA/contract checklist and record discipline</a:t>
            </a:r>
            <a:endParaRPr lang="en-US" sz="820" dirty="0"/>
          </a:p>
        </p:txBody>
      </p:sp>
      <p:sp>
        <p:nvSpPr>
          <p:cNvPr id="68" name="Shape 66"/>
          <p:cNvSpPr/>
          <p:nvPr/>
        </p:nvSpPr>
        <p:spPr>
          <a:xfrm>
            <a:off x="658368" y="5632704"/>
            <a:ext cx="10881360" cy="429768"/>
          </a:xfrm>
          <a:prstGeom prst="roundRect">
            <a:avLst>
              <a:gd name="adj" fmla="val 17021"/>
            </a:avLst>
          </a:prstGeom>
          <a:solidFill>
            <a:srgbClr val="F8FAFC"/>
          </a:solidFill>
          <a:ln w="13970">
            <a:solidFill>
              <a:srgbClr val="1428A0"/>
            </a:solidFill>
            <a:prstDash val="solid"/>
          </a:ln>
        </p:spPr>
      </p:sp>
      <p:sp>
        <p:nvSpPr>
          <p:cNvPr id="69" name="Shape 67"/>
          <p:cNvSpPr/>
          <p:nvPr/>
        </p:nvSpPr>
        <p:spPr>
          <a:xfrm>
            <a:off x="658368" y="5632704"/>
            <a:ext cx="91440" cy="429768"/>
          </a:xfrm>
          <a:prstGeom prst="rect">
            <a:avLst/>
          </a:prstGeom>
          <a:solidFill>
            <a:srgbClr val="1428A0"/>
          </a:solidFill>
          <a:ln w="12700">
            <a:solidFill>
              <a:srgbClr val="1428A0"/>
            </a:solidFill>
            <a:prstDash val="solid"/>
          </a:ln>
        </p:spPr>
      </p:sp>
      <p:sp>
        <p:nvSpPr>
          <p:cNvPr id="70" name="Text 68"/>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The deck now follows the workstream map rather than listing tasks randomly.</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D4ED8"/>
                </a:solidFill>
              </a:rPr>
              <a:t>C | CAPTURE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1: invention disclosure review</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make the technical idea complete enough for patentability, claim drafting and internal decision-making.</a:t>
            </a:r>
            <a:endParaRPr lang="en-US" sz="1050" dirty="0"/>
          </a:p>
        </p:txBody>
      </p:sp>
      <p:sp>
        <p:nvSpPr>
          <p:cNvPr id="9" name="Shape 7"/>
          <p:cNvSpPr/>
          <p:nvPr/>
        </p:nvSpPr>
        <p:spPr>
          <a:xfrm>
            <a:off x="566928" y="1499616"/>
            <a:ext cx="1920240" cy="0"/>
          </a:xfrm>
          <a:prstGeom prst="line">
            <a:avLst/>
          </a:prstGeom>
          <a:noFill/>
          <a:ln w="27940">
            <a:solidFill>
              <a:srgbClr val="1D4ED8"/>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06</a:t>
            </a:r>
            <a:endParaRPr lang="en-US" sz="800" dirty="0"/>
          </a:p>
        </p:txBody>
      </p:sp>
      <p:sp>
        <p:nvSpPr>
          <p:cNvPr id="27" name="Shape 25"/>
          <p:cNvSpPr/>
          <p:nvPr/>
        </p:nvSpPr>
        <p:spPr>
          <a:xfrm>
            <a:off x="10104120" y="438912"/>
            <a:ext cx="1389888" cy="475488"/>
          </a:xfrm>
          <a:prstGeom prst="roundRect">
            <a:avLst>
              <a:gd name="adj" fmla="val 19231"/>
            </a:avLst>
          </a:prstGeom>
          <a:solidFill>
            <a:srgbClr val="1D4ED8"/>
          </a:solidFill>
          <a:ln w="12700">
            <a:solidFill>
              <a:srgbClr val="1D4ED8"/>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C | Capture</a:t>
            </a:r>
            <a:endParaRPr lang="en-US" sz="850" dirty="0"/>
          </a:p>
        </p:txBody>
      </p:sp>
      <p:sp>
        <p:nvSpPr>
          <p:cNvPr id="29" name="Text 27"/>
          <p:cNvSpPr/>
          <p:nvPr/>
        </p:nvSpPr>
        <p:spPr>
          <a:xfrm>
            <a:off x="804672" y="1901952"/>
            <a:ext cx="960120" cy="868680"/>
          </a:xfrm>
          <a:prstGeom prst="rect">
            <a:avLst/>
          </a:prstGeom>
          <a:noFill/>
          <a:ln/>
        </p:spPr>
        <p:txBody>
          <a:bodyPr wrap="square" lIns="0" tIns="0" rIns="0" bIns="0" rtlCol="0" anchor="ctr"/>
          <a:lstStyle/>
          <a:p>
            <a:pPr indent="0" marL="0">
              <a:buNone/>
            </a:pPr>
            <a:r>
              <a:rPr lang="en-US" sz="4800" b="1" dirty="0">
                <a:solidFill>
                  <a:srgbClr val="1D4ED8"/>
                </a:solidFill>
                <a:latin typeface="Aptos Display" pitchFamily="34" charset="0"/>
                <a:ea typeface="Aptos Display" pitchFamily="34" charset="-122"/>
                <a:cs typeface="Aptos Display" pitchFamily="34" charset="-120"/>
              </a:rPr>
              <a:t>C</a:t>
            </a:r>
            <a:endParaRPr lang="en-US" sz="4800" dirty="0"/>
          </a:p>
        </p:txBody>
      </p:sp>
      <p:sp>
        <p:nvSpPr>
          <p:cNvPr id="30" name="Text 28"/>
          <p:cNvSpPr/>
          <p:nvPr/>
        </p:nvSpPr>
        <p:spPr>
          <a:xfrm>
            <a:off x="1719072" y="2075688"/>
            <a:ext cx="2011680" cy="256032"/>
          </a:xfrm>
          <a:prstGeom prst="rect">
            <a:avLst/>
          </a:prstGeom>
          <a:noFill/>
          <a:ln/>
        </p:spPr>
        <p:txBody>
          <a:bodyPr wrap="square" lIns="0" tIns="0" rIns="0" bIns="0" rtlCol="0" anchor="t">
            <a:normAutofit/>
          </a:bodyPr>
          <a:lstStyle/>
          <a:p>
            <a:pPr algn="l" indent="0" marL="0">
              <a:buNone/>
            </a:pPr>
            <a:r>
              <a:rPr lang="en-US" sz="1800" b="1" dirty="0">
                <a:solidFill>
                  <a:srgbClr val="111827"/>
                </a:solidFill>
                <a:latin typeface="Aptos" pitchFamily="34" charset="0"/>
                <a:ea typeface="Aptos" pitchFamily="34" charset="-122"/>
                <a:cs typeface="Aptos" pitchFamily="34" charset="-120"/>
              </a:rPr>
              <a:t>Capture</a:t>
            </a:r>
            <a:endParaRPr lang="en-US" sz="1800" dirty="0"/>
          </a:p>
        </p:txBody>
      </p:sp>
      <p:sp>
        <p:nvSpPr>
          <p:cNvPr id="31" name="Text 29"/>
          <p:cNvSpPr/>
          <p:nvPr/>
        </p:nvSpPr>
        <p:spPr>
          <a:xfrm>
            <a:off x="1719072" y="2496312"/>
            <a:ext cx="3886200" cy="502920"/>
          </a:xfrm>
          <a:prstGeom prst="rect">
            <a:avLst/>
          </a:prstGeom>
          <a:noFill/>
          <a:ln/>
        </p:spPr>
        <p:txBody>
          <a:bodyPr wrap="square" lIns="0" tIns="0" rIns="0" bIns="0" rtlCol="0" anchor="t">
            <a:normAutofit/>
          </a:bodyPr>
          <a:lstStyle/>
          <a:p>
            <a:pPr algn="l" indent="0" marL="0">
              <a:buNone/>
            </a:pPr>
            <a:r>
              <a:rPr lang="en-US" sz="1000" dirty="0">
                <a:solidFill>
                  <a:srgbClr val="475569"/>
                </a:solidFill>
                <a:latin typeface="Aptos" pitchFamily="34" charset="0"/>
                <a:ea typeface="Aptos" pitchFamily="34" charset="-122"/>
                <a:cs typeface="Aptos" pitchFamily="34" charset="-120"/>
              </a:rPr>
              <a:t>The first legal task is factual discipline: identify what the invention actually is, why it is technical, and what evidence supports it.</a:t>
            </a:r>
            <a:endParaRPr lang="en-US" sz="1000" dirty="0"/>
          </a:p>
        </p:txBody>
      </p:sp>
      <p:sp>
        <p:nvSpPr>
          <p:cNvPr id="32" name="Shape 30"/>
          <p:cNvSpPr/>
          <p:nvPr/>
        </p:nvSpPr>
        <p:spPr>
          <a:xfrm>
            <a:off x="5897880" y="1764792"/>
            <a:ext cx="5349240" cy="3154680"/>
          </a:xfrm>
          <a:prstGeom prst="roundRect">
            <a:avLst>
              <a:gd name="adj" fmla="val 2319"/>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33" name="Text 31"/>
          <p:cNvSpPr/>
          <p:nvPr/>
        </p:nvSpPr>
        <p:spPr>
          <a:xfrm>
            <a:off x="6199632" y="2029968"/>
            <a:ext cx="3291840" cy="201168"/>
          </a:xfrm>
          <a:prstGeom prst="rect">
            <a:avLst/>
          </a:prstGeom>
          <a:noFill/>
          <a:ln/>
        </p:spPr>
        <p:txBody>
          <a:bodyPr wrap="square" lIns="0" tIns="0" rIns="0" bIns="0" rtlCol="0" anchor="t">
            <a:normAutofit/>
          </a:bodyPr>
          <a:lstStyle/>
          <a:p>
            <a:pPr algn="l" indent="0" marL="0">
              <a:buNone/>
            </a:pPr>
            <a:r>
              <a:rPr lang="en-US" sz="1350" b="1" dirty="0">
                <a:solidFill>
                  <a:srgbClr val="111827"/>
                </a:solidFill>
                <a:latin typeface="Aptos" pitchFamily="34" charset="0"/>
                <a:ea typeface="Aptos" pitchFamily="34" charset="-122"/>
                <a:cs typeface="Aptos" pitchFamily="34" charset="-120"/>
              </a:rPr>
              <a:t>Disclosure review checklist</a:t>
            </a:r>
            <a:endParaRPr lang="en-US" sz="1350" dirty="0"/>
          </a:p>
        </p:txBody>
      </p:sp>
      <p:sp>
        <p:nvSpPr>
          <p:cNvPr id="34" name="Shape 32"/>
          <p:cNvSpPr/>
          <p:nvPr/>
        </p:nvSpPr>
        <p:spPr>
          <a:xfrm>
            <a:off x="6254496" y="2532888"/>
            <a:ext cx="164592" cy="164592"/>
          </a:xfrm>
          <a:prstGeom prst="ellipse">
            <a:avLst/>
          </a:prstGeom>
          <a:solidFill>
            <a:srgbClr val="1D4ED8"/>
          </a:solidFill>
          <a:ln w="12700">
            <a:solidFill>
              <a:srgbClr val="1D4ED8"/>
            </a:solidFill>
            <a:prstDash val="solid"/>
          </a:ln>
        </p:spPr>
      </p:sp>
      <p:sp>
        <p:nvSpPr>
          <p:cNvPr id="35" name="Text 33"/>
          <p:cNvSpPr/>
          <p:nvPr/>
        </p:nvSpPr>
        <p:spPr>
          <a:xfrm>
            <a:off x="6547104" y="2514600"/>
            <a:ext cx="1143000"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Problem</a:t>
            </a:r>
            <a:endParaRPr lang="en-US" sz="880" dirty="0"/>
          </a:p>
        </p:txBody>
      </p:sp>
      <p:sp>
        <p:nvSpPr>
          <p:cNvPr id="36" name="Text 34"/>
          <p:cNvSpPr/>
          <p:nvPr/>
        </p:nvSpPr>
        <p:spPr>
          <a:xfrm>
            <a:off x="7717536" y="2514600"/>
            <a:ext cx="2971800" cy="128016"/>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What technical problem is being solved?</a:t>
            </a:r>
            <a:endParaRPr lang="en-US" sz="820" dirty="0"/>
          </a:p>
        </p:txBody>
      </p:sp>
      <p:sp>
        <p:nvSpPr>
          <p:cNvPr id="37" name="Shape 35"/>
          <p:cNvSpPr/>
          <p:nvPr/>
        </p:nvSpPr>
        <p:spPr>
          <a:xfrm>
            <a:off x="6254496" y="2926080"/>
            <a:ext cx="164592" cy="164592"/>
          </a:xfrm>
          <a:prstGeom prst="ellipse">
            <a:avLst/>
          </a:prstGeom>
          <a:solidFill>
            <a:srgbClr val="1D4ED8"/>
          </a:solidFill>
          <a:ln w="12700">
            <a:solidFill>
              <a:srgbClr val="1D4ED8"/>
            </a:solidFill>
            <a:prstDash val="solid"/>
          </a:ln>
        </p:spPr>
      </p:sp>
      <p:sp>
        <p:nvSpPr>
          <p:cNvPr id="38" name="Text 36"/>
          <p:cNvSpPr/>
          <p:nvPr/>
        </p:nvSpPr>
        <p:spPr>
          <a:xfrm>
            <a:off x="6547104" y="2907792"/>
            <a:ext cx="1143000"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Solution</a:t>
            </a:r>
            <a:endParaRPr lang="en-US" sz="880" dirty="0"/>
          </a:p>
        </p:txBody>
      </p:sp>
      <p:sp>
        <p:nvSpPr>
          <p:cNvPr id="39" name="Text 37"/>
          <p:cNvSpPr/>
          <p:nvPr/>
        </p:nvSpPr>
        <p:spPr>
          <a:xfrm>
            <a:off x="7717536" y="2907792"/>
            <a:ext cx="2971800" cy="128016"/>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Which features produce the effect?</a:t>
            </a:r>
            <a:endParaRPr lang="en-US" sz="820" dirty="0"/>
          </a:p>
        </p:txBody>
      </p:sp>
      <p:sp>
        <p:nvSpPr>
          <p:cNvPr id="40" name="Shape 38"/>
          <p:cNvSpPr/>
          <p:nvPr/>
        </p:nvSpPr>
        <p:spPr>
          <a:xfrm>
            <a:off x="6254496" y="3319272"/>
            <a:ext cx="164592" cy="164592"/>
          </a:xfrm>
          <a:prstGeom prst="ellipse">
            <a:avLst/>
          </a:prstGeom>
          <a:solidFill>
            <a:srgbClr val="1D4ED8"/>
          </a:solidFill>
          <a:ln w="12700">
            <a:solidFill>
              <a:srgbClr val="1D4ED8"/>
            </a:solidFill>
            <a:prstDash val="solid"/>
          </a:ln>
        </p:spPr>
      </p:sp>
      <p:sp>
        <p:nvSpPr>
          <p:cNvPr id="41" name="Text 39"/>
          <p:cNvSpPr/>
          <p:nvPr/>
        </p:nvSpPr>
        <p:spPr>
          <a:xfrm>
            <a:off x="6547104" y="3300984"/>
            <a:ext cx="1143000"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Novelty hooks</a:t>
            </a:r>
            <a:endParaRPr lang="en-US" sz="880" dirty="0"/>
          </a:p>
        </p:txBody>
      </p:sp>
      <p:sp>
        <p:nvSpPr>
          <p:cNvPr id="42" name="Text 40"/>
          <p:cNvSpPr/>
          <p:nvPr/>
        </p:nvSpPr>
        <p:spPr>
          <a:xfrm>
            <a:off x="7717536" y="3300984"/>
            <a:ext cx="2971800" cy="128016"/>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Which parts appear different from known systems?</a:t>
            </a:r>
            <a:endParaRPr lang="en-US" sz="820" dirty="0"/>
          </a:p>
        </p:txBody>
      </p:sp>
      <p:sp>
        <p:nvSpPr>
          <p:cNvPr id="43" name="Shape 41"/>
          <p:cNvSpPr/>
          <p:nvPr/>
        </p:nvSpPr>
        <p:spPr>
          <a:xfrm>
            <a:off x="6254496" y="3712464"/>
            <a:ext cx="164592" cy="164592"/>
          </a:xfrm>
          <a:prstGeom prst="ellipse">
            <a:avLst/>
          </a:prstGeom>
          <a:solidFill>
            <a:srgbClr val="1D4ED8"/>
          </a:solidFill>
          <a:ln w="12700">
            <a:solidFill>
              <a:srgbClr val="1D4ED8"/>
            </a:solidFill>
            <a:prstDash val="solid"/>
          </a:ln>
        </p:spPr>
      </p:sp>
      <p:sp>
        <p:nvSpPr>
          <p:cNvPr id="44" name="Text 42"/>
          <p:cNvSpPr/>
          <p:nvPr/>
        </p:nvSpPr>
        <p:spPr>
          <a:xfrm>
            <a:off x="6547104" y="3694176"/>
            <a:ext cx="1143000"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Embodiments</a:t>
            </a:r>
            <a:endParaRPr lang="en-US" sz="880" dirty="0"/>
          </a:p>
        </p:txBody>
      </p:sp>
      <p:sp>
        <p:nvSpPr>
          <p:cNvPr id="45" name="Text 43"/>
          <p:cNvSpPr/>
          <p:nvPr/>
        </p:nvSpPr>
        <p:spPr>
          <a:xfrm>
            <a:off x="7717536" y="3694176"/>
            <a:ext cx="2971800" cy="128016"/>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What variants or fallback positions exist?</a:t>
            </a:r>
            <a:endParaRPr lang="en-US" sz="820" dirty="0"/>
          </a:p>
        </p:txBody>
      </p:sp>
      <p:sp>
        <p:nvSpPr>
          <p:cNvPr id="46" name="Shape 44"/>
          <p:cNvSpPr/>
          <p:nvPr/>
        </p:nvSpPr>
        <p:spPr>
          <a:xfrm>
            <a:off x="6254496" y="4105656"/>
            <a:ext cx="164592" cy="164592"/>
          </a:xfrm>
          <a:prstGeom prst="ellipse">
            <a:avLst/>
          </a:prstGeom>
          <a:solidFill>
            <a:srgbClr val="1D4ED8"/>
          </a:solidFill>
          <a:ln w="12700">
            <a:solidFill>
              <a:srgbClr val="1D4ED8"/>
            </a:solidFill>
            <a:prstDash val="solid"/>
          </a:ln>
        </p:spPr>
      </p:sp>
      <p:sp>
        <p:nvSpPr>
          <p:cNvPr id="47" name="Text 45"/>
          <p:cNvSpPr/>
          <p:nvPr/>
        </p:nvSpPr>
        <p:spPr>
          <a:xfrm>
            <a:off x="6547104" y="4087368"/>
            <a:ext cx="1143000"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Evidence gaps</a:t>
            </a:r>
            <a:endParaRPr lang="en-US" sz="880" dirty="0"/>
          </a:p>
        </p:txBody>
      </p:sp>
      <p:sp>
        <p:nvSpPr>
          <p:cNvPr id="48" name="Text 46"/>
          <p:cNvSpPr/>
          <p:nvPr/>
        </p:nvSpPr>
        <p:spPr>
          <a:xfrm>
            <a:off x="7717536" y="4087368"/>
            <a:ext cx="2971800" cy="128016"/>
          </a:xfrm>
          <a:prstGeom prst="rect">
            <a:avLst/>
          </a:prstGeom>
          <a:noFill/>
          <a:ln/>
        </p:spPr>
        <p:txBody>
          <a:bodyPr wrap="square" lIns="0" tIns="0" rIns="0" bIns="0" rtlCol="0" anchor="t">
            <a:normAutofit/>
          </a:bodyPr>
          <a:lstStyle/>
          <a:p>
            <a:pPr algn="l" indent="0" marL="0">
              <a:buNone/>
            </a:pPr>
            <a:r>
              <a:rPr lang="en-US" sz="820" dirty="0">
                <a:solidFill>
                  <a:srgbClr val="475569"/>
                </a:solidFill>
                <a:latin typeface="Aptos" pitchFamily="34" charset="0"/>
                <a:ea typeface="Aptos" pitchFamily="34" charset="-122"/>
                <a:cs typeface="Aptos" pitchFamily="34" charset="-120"/>
              </a:rPr>
              <a:t>What needs clarification from inventors?</a:t>
            </a:r>
            <a:endParaRPr lang="en-US" sz="820" dirty="0"/>
          </a:p>
        </p:txBody>
      </p:sp>
      <p:sp>
        <p:nvSpPr>
          <p:cNvPr id="49" name="Shape 47"/>
          <p:cNvSpPr/>
          <p:nvPr/>
        </p:nvSpPr>
        <p:spPr>
          <a:xfrm>
            <a:off x="658368" y="5632704"/>
            <a:ext cx="10881360" cy="429768"/>
          </a:xfrm>
          <a:prstGeom prst="roundRect">
            <a:avLst>
              <a:gd name="adj" fmla="val 17021"/>
            </a:avLst>
          </a:prstGeom>
          <a:solidFill>
            <a:srgbClr val="F8FAFC"/>
          </a:solidFill>
          <a:ln w="13970">
            <a:solidFill>
              <a:srgbClr val="1D4ED8"/>
            </a:solidFill>
            <a:prstDash val="solid"/>
          </a:ln>
        </p:spPr>
      </p:sp>
      <p:sp>
        <p:nvSpPr>
          <p:cNvPr id="50" name="Shape 48"/>
          <p:cNvSpPr/>
          <p:nvPr/>
        </p:nvSpPr>
        <p:spPr>
          <a:xfrm>
            <a:off x="658368" y="5632704"/>
            <a:ext cx="91440" cy="429768"/>
          </a:xfrm>
          <a:prstGeom prst="rect">
            <a:avLst/>
          </a:prstGeom>
          <a:solidFill>
            <a:srgbClr val="1D4ED8"/>
          </a:solidFill>
          <a:ln w="12700">
            <a:solidFill>
              <a:srgbClr val="1D4ED8"/>
            </a:solidFill>
            <a:prstDash val="solid"/>
          </a:ln>
        </p:spPr>
      </p:sp>
      <p:sp>
        <p:nvSpPr>
          <p:cNvPr id="51" name="Text 49"/>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A strong invention disclosure reduces weak patent filings and avoids later claim-support problems.</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1D4ED8"/>
                </a:solidFill>
              </a:rPr>
              <a:t>C | CAPTURE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2: clarification and documentation discipline</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convert raw technical information into a clean record that later supports search, filing and prosecution.</a:t>
            </a:r>
            <a:endParaRPr lang="en-US" sz="1050" dirty="0"/>
          </a:p>
        </p:txBody>
      </p:sp>
      <p:sp>
        <p:nvSpPr>
          <p:cNvPr id="9" name="Shape 7"/>
          <p:cNvSpPr/>
          <p:nvPr/>
        </p:nvSpPr>
        <p:spPr>
          <a:xfrm>
            <a:off x="566928" y="1499616"/>
            <a:ext cx="1920240" cy="0"/>
          </a:xfrm>
          <a:prstGeom prst="line">
            <a:avLst/>
          </a:prstGeom>
          <a:noFill/>
          <a:ln w="27940">
            <a:solidFill>
              <a:srgbClr val="1D4ED8"/>
            </a:solidFill>
            <a:prstDash val="solid"/>
          </a:ln>
        </p:spPr>
      </p:sp>
      <p:sp>
        <p:nvSpPr>
          <p:cNvPr id="10" name="Shape 8"/>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07</a:t>
            </a:r>
            <a:endParaRPr lang="en-US" sz="800" dirty="0"/>
          </a:p>
        </p:txBody>
      </p:sp>
      <p:sp>
        <p:nvSpPr>
          <p:cNvPr id="27" name="Shape 25"/>
          <p:cNvSpPr/>
          <p:nvPr/>
        </p:nvSpPr>
        <p:spPr>
          <a:xfrm>
            <a:off x="10104120" y="438912"/>
            <a:ext cx="1389888" cy="475488"/>
          </a:xfrm>
          <a:prstGeom prst="roundRect">
            <a:avLst>
              <a:gd name="adj" fmla="val 19231"/>
            </a:avLst>
          </a:prstGeom>
          <a:solidFill>
            <a:srgbClr val="1D4ED8"/>
          </a:solidFill>
          <a:ln w="12700">
            <a:solidFill>
              <a:srgbClr val="1D4ED8"/>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C | Capture</a:t>
            </a:r>
            <a:endParaRPr lang="en-US" sz="850" dirty="0"/>
          </a:p>
        </p:txBody>
      </p:sp>
      <p:sp>
        <p:nvSpPr>
          <p:cNvPr id="29" name="Shape 27"/>
          <p:cNvSpPr/>
          <p:nvPr/>
        </p:nvSpPr>
        <p:spPr>
          <a:xfrm>
            <a:off x="768096" y="1947672"/>
            <a:ext cx="2962656" cy="2331720"/>
          </a:xfrm>
          <a:prstGeom prst="roundRect">
            <a:avLst>
              <a:gd name="adj" fmla="val 3137"/>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30" name="Shape 28"/>
          <p:cNvSpPr/>
          <p:nvPr/>
        </p:nvSpPr>
        <p:spPr>
          <a:xfrm>
            <a:off x="969264" y="2176272"/>
            <a:ext cx="438912" cy="438912"/>
          </a:xfrm>
          <a:prstGeom prst="ellipse">
            <a:avLst/>
          </a:prstGeom>
          <a:solidFill>
            <a:srgbClr val="1D4ED8"/>
          </a:solidFill>
          <a:ln w="12700">
            <a:solidFill>
              <a:srgbClr val="1D4ED8"/>
            </a:solidFill>
            <a:prstDash val="solid"/>
          </a:ln>
        </p:spPr>
      </p:sp>
      <p:sp>
        <p:nvSpPr>
          <p:cNvPr id="31" name="Text 29"/>
          <p:cNvSpPr/>
          <p:nvPr/>
        </p:nvSpPr>
        <p:spPr>
          <a:xfrm>
            <a:off x="969264" y="2286000"/>
            <a:ext cx="438912" cy="128016"/>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32" name="Text 30"/>
          <p:cNvSpPr/>
          <p:nvPr/>
        </p:nvSpPr>
        <p:spPr>
          <a:xfrm>
            <a:off x="1572768" y="2231136"/>
            <a:ext cx="1874520" cy="219456"/>
          </a:xfrm>
          <a:prstGeom prst="rect">
            <a:avLst/>
          </a:prstGeom>
          <a:noFill/>
          <a:ln/>
        </p:spPr>
        <p:txBody>
          <a:bodyPr wrap="square" lIns="0" tIns="0" rIns="0" bIns="0" rtlCol="0" anchor="t">
            <a:normAutofit/>
          </a:bodyPr>
          <a:lstStyle/>
          <a:p>
            <a:pPr algn="l" indent="0" marL="0">
              <a:buNone/>
            </a:pPr>
            <a:r>
              <a:rPr lang="en-US" sz="1340" b="1" dirty="0">
                <a:solidFill>
                  <a:srgbClr val="111827"/>
                </a:solidFill>
                <a:latin typeface="Aptos" pitchFamily="34" charset="0"/>
                <a:ea typeface="Aptos" pitchFamily="34" charset="-122"/>
                <a:cs typeface="Aptos" pitchFamily="34" charset="-120"/>
              </a:rPr>
              <a:t>Raw idea</a:t>
            </a:r>
            <a:endParaRPr lang="en-US" sz="1340" dirty="0"/>
          </a:p>
        </p:txBody>
      </p:sp>
      <p:sp>
        <p:nvSpPr>
          <p:cNvPr id="33" name="Text 31"/>
          <p:cNvSpPr/>
          <p:nvPr/>
        </p:nvSpPr>
        <p:spPr>
          <a:xfrm>
            <a:off x="1042416" y="2889504"/>
            <a:ext cx="2377440" cy="384048"/>
          </a:xfrm>
          <a:prstGeom prst="rect">
            <a:avLst/>
          </a:prstGeom>
          <a:noFill/>
          <a:ln/>
        </p:spPr>
        <p:txBody>
          <a:bodyPr wrap="square" lIns="0" tIns="0" rIns="0" bIns="0" rtlCol="0" anchor="t">
            <a:normAutofit/>
          </a:bodyPr>
          <a:lstStyle/>
          <a:p>
            <a:pPr algn="ctr" indent="0" marL="0">
              <a:buNone/>
            </a:pPr>
            <a:r>
              <a:rPr lang="en-US" sz="1020" dirty="0">
                <a:solidFill>
                  <a:srgbClr val="475569"/>
                </a:solidFill>
                <a:latin typeface="Aptos" pitchFamily="34" charset="0"/>
                <a:ea typeface="Aptos" pitchFamily="34" charset="-122"/>
                <a:cs typeface="Aptos" pitchFamily="34" charset="-120"/>
              </a:rPr>
              <a:t>Inventor explanation</a:t>
            </a:r>
            <a:endParaRPr lang="en-US" sz="1020" dirty="0"/>
          </a:p>
          <a:p>
            <a:pPr algn="ctr" indent="0" marL="0">
              <a:buNone/>
            </a:pPr>
            <a:r>
              <a:rPr lang="en-US" sz="1020" dirty="0">
                <a:solidFill>
                  <a:srgbClr val="475569"/>
                </a:solidFill>
                <a:latin typeface="Aptos" pitchFamily="34" charset="0"/>
                <a:ea typeface="Aptos" pitchFamily="34" charset="-122"/>
                <a:cs typeface="Aptos" pitchFamily="34" charset="-120"/>
              </a:rPr>
              <a:t>+ screenshots / notes</a:t>
            </a:r>
            <a:endParaRPr lang="en-US" sz="1020" dirty="0"/>
          </a:p>
        </p:txBody>
      </p:sp>
      <p:sp>
        <p:nvSpPr>
          <p:cNvPr id="34" name="Shape 32"/>
          <p:cNvSpPr/>
          <p:nvPr/>
        </p:nvSpPr>
        <p:spPr>
          <a:xfrm>
            <a:off x="3895344" y="2880360"/>
            <a:ext cx="402336" cy="256032"/>
          </a:xfrm>
          <a:prstGeom prst="rightArrow">
            <a:avLst/>
          </a:prstGeom>
          <a:solidFill>
            <a:srgbClr val="CBD5E1">
              <a:alpha val="94000"/>
            </a:srgbClr>
          </a:solidFill>
          <a:ln w="12700">
            <a:solidFill>
              <a:srgbClr val="CBD5E1"/>
            </a:solidFill>
            <a:prstDash val="solid"/>
          </a:ln>
        </p:spPr>
      </p:sp>
      <p:sp>
        <p:nvSpPr>
          <p:cNvPr id="35" name="Shape 33"/>
          <p:cNvSpPr/>
          <p:nvPr/>
        </p:nvSpPr>
        <p:spPr>
          <a:xfrm>
            <a:off x="4572000" y="1947672"/>
            <a:ext cx="2962656" cy="2331720"/>
          </a:xfrm>
          <a:prstGeom prst="roundRect">
            <a:avLst>
              <a:gd name="adj" fmla="val 3137"/>
            </a:avLst>
          </a:prstGeom>
          <a:solidFill>
            <a:srgbClr val="FFFFFF"/>
          </a:solidFill>
          <a:ln w="13970">
            <a:solidFill>
              <a:srgbClr val="00A6D6"/>
            </a:solidFill>
            <a:prstDash val="solid"/>
          </a:ln>
          <a:effectLst>
            <a:outerShdw sx="100000" sy="100000" kx="0" ky="0" algn="bl" rotWithShape="0" blurRad="12700" dist="50800" dir="2700000">
              <a:srgbClr val="9AA6B2">
                <a:alpha val="16000"/>
              </a:srgbClr>
            </a:outerShdw>
          </a:effectLst>
        </p:spPr>
      </p:sp>
      <p:sp>
        <p:nvSpPr>
          <p:cNvPr id="36" name="Shape 34"/>
          <p:cNvSpPr/>
          <p:nvPr/>
        </p:nvSpPr>
        <p:spPr>
          <a:xfrm>
            <a:off x="4773168" y="2176272"/>
            <a:ext cx="438912" cy="438912"/>
          </a:xfrm>
          <a:prstGeom prst="ellipse">
            <a:avLst/>
          </a:prstGeom>
          <a:solidFill>
            <a:srgbClr val="00A6D6"/>
          </a:solidFill>
          <a:ln w="12700">
            <a:solidFill>
              <a:srgbClr val="00A6D6"/>
            </a:solidFill>
            <a:prstDash val="solid"/>
          </a:ln>
        </p:spPr>
      </p:sp>
      <p:sp>
        <p:nvSpPr>
          <p:cNvPr id="37" name="Text 35"/>
          <p:cNvSpPr/>
          <p:nvPr/>
        </p:nvSpPr>
        <p:spPr>
          <a:xfrm>
            <a:off x="4773168" y="2286000"/>
            <a:ext cx="438912" cy="128016"/>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38" name="Text 36"/>
          <p:cNvSpPr/>
          <p:nvPr/>
        </p:nvSpPr>
        <p:spPr>
          <a:xfrm>
            <a:off x="5376672" y="2231136"/>
            <a:ext cx="1874520" cy="219456"/>
          </a:xfrm>
          <a:prstGeom prst="rect">
            <a:avLst/>
          </a:prstGeom>
          <a:noFill/>
          <a:ln/>
        </p:spPr>
        <p:txBody>
          <a:bodyPr wrap="square" lIns="0" tIns="0" rIns="0" bIns="0" rtlCol="0" anchor="t">
            <a:normAutofit/>
          </a:bodyPr>
          <a:lstStyle/>
          <a:p>
            <a:pPr algn="l" indent="0" marL="0">
              <a:buNone/>
            </a:pPr>
            <a:r>
              <a:rPr lang="en-US" sz="1340" b="1" dirty="0">
                <a:solidFill>
                  <a:srgbClr val="111827"/>
                </a:solidFill>
                <a:latin typeface="Aptos" pitchFamily="34" charset="0"/>
                <a:ea typeface="Aptos" pitchFamily="34" charset="-122"/>
                <a:cs typeface="Aptos" pitchFamily="34" charset="-120"/>
              </a:rPr>
              <a:t>Legal framing</a:t>
            </a:r>
            <a:endParaRPr lang="en-US" sz="1340" dirty="0"/>
          </a:p>
        </p:txBody>
      </p:sp>
      <p:sp>
        <p:nvSpPr>
          <p:cNvPr id="39" name="Text 37"/>
          <p:cNvSpPr/>
          <p:nvPr/>
        </p:nvSpPr>
        <p:spPr>
          <a:xfrm>
            <a:off x="4846320" y="2889504"/>
            <a:ext cx="2377440" cy="384048"/>
          </a:xfrm>
          <a:prstGeom prst="rect">
            <a:avLst/>
          </a:prstGeom>
          <a:noFill/>
          <a:ln/>
        </p:spPr>
        <p:txBody>
          <a:bodyPr wrap="square" lIns="0" tIns="0" rIns="0" bIns="0" rtlCol="0" anchor="t">
            <a:normAutofit/>
          </a:bodyPr>
          <a:lstStyle/>
          <a:p>
            <a:pPr algn="ctr" indent="0" marL="0">
              <a:buNone/>
            </a:pPr>
            <a:r>
              <a:rPr lang="en-US" sz="1020" dirty="0">
                <a:solidFill>
                  <a:srgbClr val="475569"/>
                </a:solidFill>
                <a:latin typeface="Aptos" pitchFamily="34" charset="0"/>
                <a:ea typeface="Aptos" pitchFamily="34" charset="-122"/>
                <a:cs typeface="Aptos" pitchFamily="34" charset="-120"/>
              </a:rPr>
              <a:t>Essential features</a:t>
            </a:r>
            <a:endParaRPr lang="en-US" sz="1020" dirty="0"/>
          </a:p>
          <a:p>
            <a:pPr algn="ctr" indent="0" marL="0">
              <a:buNone/>
            </a:pPr>
            <a:r>
              <a:rPr lang="en-US" sz="1020" dirty="0">
                <a:solidFill>
                  <a:srgbClr val="475569"/>
                </a:solidFill>
                <a:latin typeface="Aptos" pitchFamily="34" charset="0"/>
                <a:ea typeface="Aptos" pitchFamily="34" charset="-122"/>
                <a:cs typeface="Aptos" pitchFamily="34" charset="-120"/>
              </a:rPr>
              <a:t>+ technical effect</a:t>
            </a:r>
            <a:endParaRPr lang="en-US" sz="1020" dirty="0"/>
          </a:p>
        </p:txBody>
      </p:sp>
      <p:sp>
        <p:nvSpPr>
          <p:cNvPr id="40" name="Shape 38"/>
          <p:cNvSpPr/>
          <p:nvPr/>
        </p:nvSpPr>
        <p:spPr>
          <a:xfrm>
            <a:off x="7699248" y="2880360"/>
            <a:ext cx="402336" cy="256032"/>
          </a:xfrm>
          <a:prstGeom prst="rightArrow">
            <a:avLst/>
          </a:prstGeom>
          <a:solidFill>
            <a:srgbClr val="CBD5E1">
              <a:alpha val="94000"/>
            </a:srgbClr>
          </a:solidFill>
          <a:ln w="12700">
            <a:solidFill>
              <a:srgbClr val="CBD5E1"/>
            </a:solidFill>
            <a:prstDash val="solid"/>
          </a:ln>
        </p:spPr>
      </p:sp>
      <p:sp>
        <p:nvSpPr>
          <p:cNvPr id="41" name="Shape 39"/>
          <p:cNvSpPr/>
          <p:nvPr/>
        </p:nvSpPr>
        <p:spPr>
          <a:xfrm>
            <a:off x="8375904" y="1947672"/>
            <a:ext cx="2962656" cy="2331720"/>
          </a:xfrm>
          <a:prstGeom prst="roundRect">
            <a:avLst>
              <a:gd name="adj" fmla="val 3137"/>
            </a:avLst>
          </a:prstGeom>
          <a:solidFill>
            <a:srgbClr val="FFFFFF"/>
          </a:solidFill>
          <a:ln w="13970">
            <a:solidFill>
              <a:srgbClr val="0EA5A4"/>
            </a:solidFill>
            <a:prstDash val="solid"/>
          </a:ln>
          <a:effectLst>
            <a:outerShdw sx="100000" sy="100000" kx="0" ky="0" algn="bl" rotWithShape="0" blurRad="12700" dist="50800" dir="2700000">
              <a:srgbClr val="9AA6B2">
                <a:alpha val="16000"/>
              </a:srgbClr>
            </a:outerShdw>
          </a:effectLst>
        </p:spPr>
      </p:sp>
      <p:sp>
        <p:nvSpPr>
          <p:cNvPr id="42" name="Shape 40"/>
          <p:cNvSpPr/>
          <p:nvPr/>
        </p:nvSpPr>
        <p:spPr>
          <a:xfrm>
            <a:off x="8577072" y="2176272"/>
            <a:ext cx="438912" cy="438912"/>
          </a:xfrm>
          <a:prstGeom prst="ellipse">
            <a:avLst/>
          </a:prstGeom>
          <a:solidFill>
            <a:srgbClr val="0EA5A4"/>
          </a:solidFill>
          <a:ln w="12700">
            <a:solidFill>
              <a:srgbClr val="0EA5A4"/>
            </a:solidFill>
            <a:prstDash val="solid"/>
          </a:ln>
        </p:spPr>
      </p:sp>
      <p:sp>
        <p:nvSpPr>
          <p:cNvPr id="43" name="Text 41"/>
          <p:cNvSpPr/>
          <p:nvPr/>
        </p:nvSpPr>
        <p:spPr>
          <a:xfrm>
            <a:off x="8577072" y="2286000"/>
            <a:ext cx="438912" cy="128016"/>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44" name="Text 42"/>
          <p:cNvSpPr/>
          <p:nvPr/>
        </p:nvSpPr>
        <p:spPr>
          <a:xfrm>
            <a:off x="9180576" y="2231136"/>
            <a:ext cx="1874520" cy="219456"/>
          </a:xfrm>
          <a:prstGeom prst="rect">
            <a:avLst/>
          </a:prstGeom>
          <a:noFill/>
          <a:ln/>
        </p:spPr>
        <p:txBody>
          <a:bodyPr wrap="square" lIns="0" tIns="0" rIns="0" bIns="0" rtlCol="0" anchor="t">
            <a:normAutofit/>
          </a:bodyPr>
          <a:lstStyle/>
          <a:p>
            <a:pPr algn="l" indent="0" marL="0">
              <a:buNone/>
            </a:pPr>
            <a:r>
              <a:rPr lang="en-US" sz="1340" b="1" dirty="0">
                <a:solidFill>
                  <a:srgbClr val="111827"/>
                </a:solidFill>
                <a:latin typeface="Aptos" pitchFamily="34" charset="0"/>
                <a:ea typeface="Aptos" pitchFamily="34" charset="-122"/>
                <a:cs typeface="Aptos" pitchFamily="34" charset="-120"/>
              </a:rPr>
              <a:t>Record</a:t>
            </a:r>
            <a:endParaRPr lang="en-US" sz="1340" dirty="0"/>
          </a:p>
        </p:txBody>
      </p:sp>
      <p:sp>
        <p:nvSpPr>
          <p:cNvPr id="45" name="Text 43"/>
          <p:cNvSpPr/>
          <p:nvPr/>
        </p:nvSpPr>
        <p:spPr>
          <a:xfrm>
            <a:off x="8650224" y="2889504"/>
            <a:ext cx="2377440" cy="384048"/>
          </a:xfrm>
          <a:prstGeom prst="rect">
            <a:avLst/>
          </a:prstGeom>
          <a:noFill/>
          <a:ln/>
        </p:spPr>
        <p:txBody>
          <a:bodyPr wrap="square" lIns="0" tIns="0" rIns="0" bIns="0" rtlCol="0" anchor="t">
            <a:normAutofit/>
          </a:bodyPr>
          <a:lstStyle/>
          <a:p>
            <a:pPr algn="ctr" indent="0" marL="0">
              <a:buNone/>
            </a:pPr>
            <a:r>
              <a:rPr lang="en-US" sz="1020" dirty="0">
                <a:solidFill>
                  <a:srgbClr val="475569"/>
                </a:solidFill>
                <a:latin typeface="Aptos" pitchFamily="34" charset="0"/>
                <a:ea typeface="Aptos" pitchFamily="34" charset="-122"/>
                <a:cs typeface="Aptos" pitchFamily="34" charset="-120"/>
              </a:rPr>
              <a:t>Searchable summary</a:t>
            </a:r>
            <a:endParaRPr lang="en-US" sz="1020" dirty="0"/>
          </a:p>
          <a:p>
            <a:pPr algn="ctr" indent="0" marL="0">
              <a:buNone/>
            </a:pPr>
            <a:r>
              <a:rPr lang="en-US" sz="1020" dirty="0">
                <a:solidFill>
                  <a:srgbClr val="475569"/>
                </a:solidFill>
                <a:latin typeface="Aptos" pitchFamily="34" charset="0"/>
                <a:ea typeface="Aptos" pitchFamily="34" charset="-122"/>
                <a:cs typeface="Aptos" pitchFamily="34" charset="-120"/>
              </a:rPr>
              <a:t>+ evidence trail</a:t>
            </a:r>
            <a:endParaRPr lang="en-US" sz="1020" dirty="0"/>
          </a:p>
        </p:txBody>
      </p:sp>
      <p:sp>
        <p:nvSpPr>
          <p:cNvPr id="46" name="Shape 44"/>
          <p:cNvSpPr/>
          <p:nvPr/>
        </p:nvSpPr>
        <p:spPr>
          <a:xfrm>
            <a:off x="2057400" y="4636008"/>
            <a:ext cx="8101584" cy="676656"/>
          </a:xfrm>
          <a:prstGeom prst="roundRect">
            <a:avLst>
              <a:gd name="adj" fmla="val 10811"/>
            </a:avLst>
          </a:prstGeom>
          <a:solidFill>
            <a:srgbClr val="F0F7FF"/>
          </a:solidFill>
          <a:ln w="10160">
            <a:solidFill>
              <a:srgbClr val="1D4ED8"/>
            </a:solidFill>
            <a:prstDash val="solid"/>
          </a:ln>
        </p:spPr>
      </p:sp>
      <p:sp>
        <p:nvSpPr>
          <p:cNvPr id="47" name="Text 45"/>
          <p:cNvSpPr/>
          <p:nvPr/>
        </p:nvSpPr>
        <p:spPr>
          <a:xfrm>
            <a:off x="2322576" y="4846320"/>
            <a:ext cx="1920240" cy="137160"/>
          </a:xfrm>
          <a:prstGeom prst="rect">
            <a:avLst/>
          </a:prstGeom>
          <a:noFill/>
          <a:ln/>
        </p:spPr>
        <p:txBody>
          <a:bodyPr wrap="square" lIns="0" tIns="0" rIns="0" bIns="0" rtlCol="0" anchor="t">
            <a:normAutofit/>
          </a:bodyPr>
          <a:lstStyle/>
          <a:p>
            <a:pPr algn="l" indent="0" marL="0">
              <a:buNone/>
            </a:pPr>
            <a:r>
              <a:rPr lang="en-US" sz="870" b="1" dirty="0">
                <a:solidFill>
                  <a:srgbClr val="1D4ED8"/>
                </a:solidFill>
                <a:latin typeface="Aptos" pitchFamily="34" charset="0"/>
                <a:ea typeface="Aptos" pitchFamily="34" charset="-122"/>
                <a:cs typeface="Aptos" pitchFamily="34" charset="-120"/>
              </a:rPr>
              <a:t>Presentation line to remember:</a:t>
            </a:r>
            <a:endParaRPr lang="en-US" sz="870" dirty="0"/>
          </a:p>
        </p:txBody>
      </p:sp>
      <p:sp>
        <p:nvSpPr>
          <p:cNvPr id="48" name="Text 46"/>
          <p:cNvSpPr/>
          <p:nvPr/>
        </p:nvSpPr>
        <p:spPr>
          <a:xfrm>
            <a:off x="4315968" y="4837176"/>
            <a:ext cx="5257800" cy="146304"/>
          </a:xfrm>
          <a:prstGeom prst="rect">
            <a:avLst/>
          </a:prstGeom>
          <a:noFill/>
          <a:ln/>
        </p:spPr>
        <p:txBody>
          <a:bodyPr wrap="square" lIns="0" tIns="0" rIns="0" bIns="0" rtlCol="0" anchor="t">
            <a:normAutofit/>
          </a:bodyPr>
          <a:lstStyle/>
          <a:p>
            <a:pPr algn="l" indent="0" marL="0">
              <a:buNone/>
            </a:pPr>
            <a:r>
              <a:rPr lang="en-US" sz="950" b="1" dirty="0">
                <a:solidFill>
                  <a:srgbClr val="111827"/>
                </a:solidFill>
                <a:latin typeface="Aptos" pitchFamily="34" charset="0"/>
                <a:ea typeface="Aptos" pitchFamily="34" charset="-122"/>
                <a:cs typeface="Aptos" pitchFamily="34" charset="-120"/>
              </a:rPr>
              <a:t>“Before applying law, I learned to make the invention legally readable.”</a:t>
            </a:r>
            <a:endParaRPr lang="en-US" sz="950" dirty="0"/>
          </a:p>
        </p:txBody>
      </p:sp>
      <p:sp>
        <p:nvSpPr>
          <p:cNvPr id="49" name="Shape 47"/>
          <p:cNvSpPr/>
          <p:nvPr/>
        </p:nvSpPr>
        <p:spPr>
          <a:xfrm>
            <a:off x="658368" y="5632704"/>
            <a:ext cx="10881360" cy="429768"/>
          </a:xfrm>
          <a:prstGeom prst="roundRect">
            <a:avLst>
              <a:gd name="adj" fmla="val 17021"/>
            </a:avLst>
          </a:prstGeom>
          <a:solidFill>
            <a:srgbClr val="F8FAFC"/>
          </a:solidFill>
          <a:ln w="13970">
            <a:solidFill>
              <a:srgbClr val="1D4ED8"/>
            </a:solidFill>
            <a:prstDash val="solid"/>
          </a:ln>
        </p:spPr>
      </p:sp>
      <p:sp>
        <p:nvSpPr>
          <p:cNvPr id="50" name="Shape 48"/>
          <p:cNvSpPr/>
          <p:nvPr/>
        </p:nvSpPr>
        <p:spPr>
          <a:xfrm>
            <a:off x="658368" y="5632704"/>
            <a:ext cx="91440" cy="429768"/>
          </a:xfrm>
          <a:prstGeom prst="rect">
            <a:avLst/>
          </a:prstGeom>
          <a:solidFill>
            <a:srgbClr val="1D4ED8"/>
          </a:solidFill>
          <a:ln w="12700">
            <a:solidFill>
              <a:srgbClr val="1D4ED8"/>
            </a:solidFill>
            <a:prstDash val="solid"/>
          </a:ln>
        </p:spPr>
      </p:sp>
      <p:sp>
        <p:nvSpPr>
          <p:cNvPr id="51" name="Text 49"/>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Good IP protection begins with a usable factual record, not with a statute or database search.</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00A6D6"/>
                </a:solidFill>
              </a:rPr>
              <a:t>L | LOCATE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3: prior-art search strategy</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identify the closest disclosures against the invention’s core technical features.</a:t>
            </a:r>
            <a:endParaRPr lang="en-US" sz="1050" dirty="0"/>
          </a:p>
        </p:txBody>
      </p:sp>
      <p:sp>
        <p:nvSpPr>
          <p:cNvPr id="9" name="Shape 7"/>
          <p:cNvSpPr/>
          <p:nvPr/>
        </p:nvSpPr>
        <p:spPr>
          <a:xfrm>
            <a:off x="566928" y="1499616"/>
            <a:ext cx="1920240" cy="0"/>
          </a:xfrm>
          <a:prstGeom prst="line">
            <a:avLst/>
          </a:prstGeom>
          <a:noFill/>
          <a:ln w="27940">
            <a:solidFill>
              <a:srgbClr val="00A6D6"/>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08</a:t>
            </a:r>
            <a:endParaRPr lang="en-US" sz="800" dirty="0"/>
          </a:p>
        </p:txBody>
      </p:sp>
      <p:sp>
        <p:nvSpPr>
          <p:cNvPr id="27" name="Shape 25"/>
          <p:cNvSpPr/>
          <p:nvPr/>
        </p:nvSpPr>
        <p:spPr>
          <a:xfrm>
            <a:off x="10104120" y="438912"/>
            <a:ext cx="1389888" cy="475488"/>
          </a:xfrm>
          <a:prstGeom prst="roundRect">
            <a:avLst>
              <a:gd name="adj" fmla="val 19231"/>
            </a:avLst>
          </a:prstGeom>
          <a:solidFill>
            <a:srgbClr val="00A6D6"/>
          </a:solidFill>
          <a:ln w="12700">
            <a:solidFill>
              <a:srgbClr val="00A6D6"/>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L | Locate</a:t>
            </a:r>
            <a:endParaRPr lang="en-US" sz="850" dirty="0"/>
          </a:p>
        </p:txBody>
      </p:sp>
      <p:sp>
        <p:nvSpPr>
          <p:cNvPr id="29" name="Shape 27"/>
          <p:cNvSpPr/>
          <p:nvPr/>
        </p:nvSpPr>
        <p:spPr>
          <a:xfrm>
            <a:off x="868680" y="1874520"/>
            <a:ext cx="4480560" cy="411480"/>
          </a:xfrm>
          <a:prstGeom prst="chevron">
            <a:avLst/>
          </a:prstGeom>
          <a:solidFill>
            <a:srgbClr val="1D4ED8">
              <a:alpha val="95000"/>
            </a:srgbClr>
          </a:solidFill>
          <a:ln w="12700">
            <a:solidFill>
              <a:srgbClr val="1D4ED8"/>
            </a:solidFill>
            <a:prstDash val="solid"/>
          </a:ln>
        </p:spPr>
      </p:sp>
      <p:sp>
        <p:nvSpPr>
          <p:cNvPr id="30" name="Text 28"/>
          <p:cNvSpPr/>
          <p:nvPr/>
        </p:nvSpPr>
        <p:spPr>
          <a:xfrm>
            <a:off x="1033272" y="1979676"/>
            <a:ext cx="1881835" cy="118872"/>
          </a:xfrm>
          <a:prstGeom prst="rect">
            <a:avLst/>
          </a:prstGeom>
          <a:noFill/>
          <a:ln/>
        </p:spPr>
        <p:txBody>
          <a:bodyPr wrap="square" lIns="0" tIns="0" rIns="0" bIns="0" rtlCol="0" anchor="t">
            <a:normAutofit/>
          </a:bodyPr>
          <a:lstStyle/>
          <a:p>
            <a:pPr algn="l" indent="0" marL="0">
              <a:buNone/>
            </a:pPr>
            <a:r>
              <a:rPr lang="en-US" sz="870" b="1" dirty="0">
                <a:solidFill>
                  <a:srgbClr val="FFFFFF"/>
                </a:solidFill>
                <a:latin typeface="Aptos" pitchFamily="34" charset="0"/>
                <a:ea typeface="Aptos" pitchFamily="34" charset="-122"/>
                <a:cs typeface="Aptos" pitchFamily="34" charset="-120"/>
              </a:rPr>
              <a:t>Invention decomposition</a:t>
            </a:r>
            <a:endParaRPr lang="en-US" sz="870" dirty="0"/>
          </a:p>
        </p:txBody>
      </p:sp>
      <p:sp>
        <p:nvSpPr>
          <p:cNvPr id="31" name="Text 29"/>
          <p:cNvSpPr/>
          <p:nvPr/>
        </p:nvSpPr>
        <p:spPr>
          <a:xfrm>
            <a:off x="2979115" y="1988820"/>
            <a:ext cx="2240280" cy="109728"/>
          </a:xfrm>
          <a:prstGeom prst="rect">
            <a:avLst/>
          </a:prstGeom>
          <a:noFill/>
          <a:ln/>
        </p:spPr>
        <p:txBody>
          <a:bodyPr wrap="square" lIns="0" tIns="0" rIns="0" bIns="0" rtlCol="0" anchor="t">
            <a:normAutofit/>
          </a:bodyPr>
          <a:lstStyle/>
          <a:p>
            <a:pPr algn="l" indent="0" marL="0">
              <a:buNone/>
            </a:pPr>
            <a:r>
              <a:rPr lang="en-US" sz="710" dirty="0">
                <a:solidFill>
                  <a:srgbClr val="FFFFFF"/>
                </a:solidFill>
                <a:latin typeface="Aptos" pitchFamily="34" charset="0"/>
                <a:ea typeface="Aptos" pitchFamily="34" charset="-122"/>
                <a:cs typeface="Aptos" pitchFamily="34" charset="-120"/>
              </a:rPr>
              <a:t>break into features, effect and use-case</a:t>
            </a:r>
            <a:endParaRPr lang="en-US" sz="710" dirty="0"/>
          </a:p>
        </p:txBody>
      </p:sp>
      <p:sp>
        <p:nvSpPr>
          <p:cNvPr id="32" name="Shape 30"/>
          <p:cNvSpPr/>
          <p:nvPr/>
        </p:nvSpPr>
        <p:spPr>
          <a:xfrm>
            <a:off x="1188720" y="2441448"/>
            <a:ext cx="3840480" cy="411480"/>
          </a:xfrm>
          <a:prstGeom prst="chevron">
            <a:avLst/>
          </a:prstGeom>
          <a:solidFill>
            <a:srgbClr val="00A6D6">
              <a:alpha val="95000"/>
            </a:srgbClr>
          </a:solidFill>
          <a:ln w="12700">
            <a:solidFill>
              <a:srgbClr val="00A6D6"/>
            </a:solidFill>
            <a:prstDash val="solid"/>
          </a:ln>
        </p:spPr>
      </p:sp>
      <p:sp>
        <p:nvSpPr>
          <p:cNvPr id="33" name="Text 31"/>
          <p:cNvSpPr/>
          <p:nvPr/>
        </p:nvSpPr>
        <p:spPr>
          <a:xfrm>
            <a:off x="1353312" y="2546604"/>
            <a:ext cx="1613002" cy="118872"/>
          </a:xfrm>
          <a:prstGeom prst="rect">
            <a:avLst/>
          </a:prstGeom>
          <a:noFill/>
          <a:ln/>
        </p:spPr>
        <p:txBody>
          <a:bodyPr wrap="square" lIns="0" tIns="0" rIns="0" bIns="0" rtlCol="0" anchor="t">
            <a:normAutofit/>
          </a:bodyPr>
          <a:lstStyle/>
          <a:p>
            <a:pPr algn="l" indent="0" marL="0">
              <a:buNone/>
            </a:pPr>
            <a:r>
              <a:rPr lang="en-US" sz="870" b="1" dirty="0">
                <a:solidFill>
                  <a:srgbClr val="FFFFFF"/>
                </a:solidFill>
                <a:latin typeface="Aptos" pitchFamily="34" charset="0"/>
                <a:ea typeface="Aptos" pitchFamily="34" charset="-122"/>
                <a:cs typeface="Aptos" pitchFamily="34" charset="-120"/>
              </a:rPr>
              <a:t>Search families</a:t>
            </a:r>
            <a:endParaRPr lang="en-US" sz="870" dirty="0"/>
          </a:p>
        </p:txBody>
      </p:sp>
      <p:sp>
        <p:nvSpPr>
          <p:cNvPr id="34" name="Text 32"/>
          <p:cNvSpPr/>
          <p:nvPr/>
        </p:nvSpPr>
        <p:spPr>
          <a:xfrm>
            <a:off x="3030322" y="2555748"/>
            <a:ext cx="1920240" cy="109728"/>
          </a:xfrm>
          <a:prstGeom prst="rect">
            <a:avLst/>
          </a:prstGeom>
          <a:noFill/>
          <a:ln/>
        </p:spPr>
        <p:txBody>
          <a:bodyPr wrap="square" lIns="0" tIns="0" rIns="0" bIns="0" rtlCol="0" anchor="t">
            <a:normAutofit/>
          </a:bodyPr>
          <a:lstStyle/>
          <a:p>
            <a:pPr algn="l" indent="0" marL="0">
              <a:buNone/>
            </a:pPr>
            <a:r>
              <a:rPr lang="en-US" sz="710" dirty="0">
                <a:solidFill>
                  <a:srgbClr val="FFFFFF"/>
                </a:solidFill>
                <a:latin typeface="Aptos" pitchFamily="34" charset="0"/>
                <a:ea typeface="Aptos" pitchFamily="34" charset="-122"/>
                <a:cs typeface="Aptos" pitchFamily="34" charset="-120"/>
              </a:rPr>
              <a:t>keywords, synonyms, classification terms, assignees</a:t>
            </a:r>
            <a:endParaRPr lang="en-US" sz="710" dirty="0"/>
          </a:p>
        </p:txBody>
      </p:sp>
      <p:sp>
        <p:nvSpPr>
          <p:cNvPr id="35" name="Shape 33"/>
          <p:cNvSpPr/>
          <p:nvPr/>
        </p:nvSpPr>
        <p:spPr>
          <a:xfrm>
            <a:off x="1508760" y="3008376"/>
            <a:ext cx="3200400" cy="411480"/>
          </a:xfrm>
          <a:prstGeom prst="chevron">
            <a:avLst/>
          </a:prstGeom>
          <a:solidFill>
            <a:srgbClr val="0EA5A4">
              <a:alpha val="95000"/>
            </a:srgbClr>
          </a:solidFill>
          <a:ln w="12700">
            <a:solidFill>
              <a:srgbClr val="0EA5A4"/>
            </a:solidFill>
            <a:prstDash val="solid"/>
          </a:ln>
        </p:spPr>
      </p:sp>
      <p:sp>
        <p:nvSpPr>
          <p:cNvPr id="36" name="Text 34"/>
          <p:cNvSpPr/>
          <p:nvPr/>
        </p:nvSpPr>
        <p:spPr>
          <a:xfrm>
            <a:off x="1673352" y="3113532"/>
            <a:ext cx="1344168" cy="118872"/>
          </a:xfrm>
          <a:prstGeom prst="rect">
            <a:avLst/>
          </a:prstGeom>
          <a:noFill/>
          <a:ln/>
        </p:spPr>
        <p:txBody>
          <a:bodyPr wrap="square" lIns="0" tIns="0" rIns="0" bIns="0" rtlCol="0" anchor="t">
            <a:normAutofit/>
          </a:bodyPr>
          <a:lstStyle/>
          <a:p>
            <a:pPr algn="l" indent="0" marL="0">
              <a:buNone/>
            </a:pPr>
            <a:r>
              <a:rPr lang="en-US" sz="870" b="1" dirty="0">
                <a:solidFill>
                  <a:srgbClr val="FFFFFF"/>
                </a:solidFill>
                <a:latin typeface="Aptos" pitchFamily="34" charset="0"/>
                <a:ea typeface="Aptos" pitchFamily="34" charset="-122"/>
                <a:cs typeface="Aptos" pitchFamily="34" charset="-120"/>
              </a:rPr>
              <a:t>Screen references</a:t>
            </a:r>
            <a:endParaRPr lang="en-US" sz="870" dirty="0"/>
          </a:p>
        </p:txBody>
      </p:sp>
      <p:sp>
        <p:nvSpPr>
          <p:cNvPr id="37" name="Text 35"/>
          <p:cNvSpPr/>
          <p:nvPr/>
        </p:nvSpPr>
        <p:spPr>
          <a:xfrm>
            <a:off x="3081528" y="3122676"/>
            <a:ext cx="1600200" cy="109728"/>
          </a:xfrm>
          <a:prstGeom prst="rect">
            <a:avLst/>
          </a:prstGeom>
          <a:noFill/>
          <a:ln/>
        </p:spPr>
        <p:txBody>
          <a:bodyPr wrap="square" lIns="0" tIns="0" rIns="0" bIns="0" rtlCol="0" anchor="t">
            <a:normAutofit/>
          </a:bodyPr>
          <a:lstStyle/>
          <a:p>
            <a:pPr algn="l" indent="0" marL="0">
              <a:buNone/>
            </a:pPr>
            <a:r>
              <a:rPr lang="en-US" sz="710" dirty="0">
                <a:solidFill>
                  <a:srgbClr val="FFFFFF"/>
                </a:solidFill>
                <a:latin typeface="Aptos" pitchFamily="34" charset="0"/>
                <a:ea typeface="Aptos" pitchFamily="34" charset="-122"/>
                <a:cs typeface="Aptos" pitchFamily="34" charset="-120"/>
              </a:rPr>
              <a:t>abstracts, claims, drawings, embodiments</a:t>
            </a:r>
            <a:endParaRPr lang="en-US" sz="710" dirty="0"/>
          </a:p>
        </p:txBody>
      </p:sp>
      <p:sp>
        <p:nvSpPr>
          <p:cNvPr id="38" name="Shape 36"/>
          <p:cNvSpPr/>
          <p:nvPr/>
        </p:nvSpPr>
        <p:spPr>
          <a:xfrm>
            <a:off x="1874520" y="3575304"/>
            <a:ext cx="2468880" cy="411480"/>
          </a:xfrm>
          <a:prstGeom prst="chevron">
            <a:avLst/>
          </a:prstGeom>
          <a:solidFill>
            <a:srgbClr val="F59E0B">
              <a:alpha val="95000"/>
            </a:srgbClr>
          </a:solidFill>
          <a:ln w="12700">
            <a:solidFill>
              <a:srgbClr val="F59E0B"/>
            </a:solidFill>
            <a:prstDash val="solid"/>
          </a:ln>
        </p:spPr>
      </p:sp>
      <p:sp>
        <p:nvSpPr>
          <p:cNvPr id="39" name="Text 37"/>
          <p:cNvSpPr/>
          <p:nvPr/>
        </p:nvSpPr>
        <p:spPr>
          <a:xfrm>
            <a:off x="2039112" y="3680460"/>
            <a:ext cx="1036930" cy="118872"/>
          </a:xfrm>
          <a:prstGeom prst="rect">
            <a:avLst/>
          </a:prstGeom>
          <a:noFill/>
          <a:ln/>
        </p:spPr>
        <p:txBody>
          <a:bodyPr wrap="square" lIns="0" tIns="0" rIns="0" bIns="0" rtlCol="0" anchor="t">
            <a:normAutofit/>
          </a:bodyPr>
          <a:lstStyle/>
          <a:p>
            <a:pPr algn="l" indent="0" marL="0">
              <a:buNone/>
            </a:pPr>
            <a:r>
              <a:rPr lang="en-US" sz="870" b="1" dirty="0">
                <a:solidFill>
                  <a:srgbClr val="FFFFFF"/>
                </a:solidFill>
                <a:latin typeface="Aptos" pitchFamily="34" charset="0"/>
                <a:ea typeface="Aptos" pitchFamily="34" charset="-122"/>
                <a:cs typeface="Aptos" pitchFamily="34" charset="-120"/>
              </a:rPr>
              <a:t>Closest prior art</a:t>
            </a:r>
            <a:endParaRPr lang="en-US" sz="870" dirty="0"/>
          </a:p>
        </p:txBody>
      </p:sp>
      <p:sp>
        <p:nvSpPr>
          <p:cNvPr id="40" name="Text 38"/>
          <p:cNvSpPr/>
          <p:nvPr/>
        </p:nvSpPr>
        <p:spPr>
          <a:xfrm>
            <a:off x="3140050" y="3689604"/>
            <a:ext cx="1234440" cy="109728"/>
          </a:xfrm>
          <a:prstGeom prst="rect">
            <a:avLst/>
          </a:prstGeom>
          <a:noFill/>
          <a:ln/>
        </p:spPr>
        <p:txBody>
          <a:bodyPr wrap="square" lIns="0" tIns="0" rIns="0" bIns="0" rtlCol="0" anchor="t">
            <a:normAutofit/>
          </a:bodyPr>
          <a:lstStyle/>
          <a:p>
            <a:pPr algn="l" indent="0" marL="0">
              <a:buNone/>
            </a:pPr>
            <a:r>
              <a:rPr lang="en-US" sz="710" dirty="0">
                <a:solidFill>
                  <a:srgbClr val="FFFFFF"/>
                </a:solidFill>
                <a:latin typeface="Aptos" pitchFamily="34" charset="0"/>
                <a:ea typeface="Aptos" pitchFamily="34" charset="-122"/>
                <a:cs typeface="Aptos" pitchFamily="34" charset="-120"/>
              </a:rPr>
              <a:t>single or combined references for legal analysis</a:t>
            </a:r>
            <a:endParaRPr lang="en-US" sz="710" dirty="0"/>
          </a:p>
        </p:txBody>
      </p:sp>
      <p:sp>
        <p:nvSpPr>
          <p:cNvPr id="41" name="Shape 39"/>
          <p:cNvSpPr/>
          <p:nvPr/>
        </p:nvSpPr>
        <p:spPr>
          <a:xfrm>
            <a:off x="5824728" y="1847088"/>
            <a:ext cx="5303520" cy="2542032"/>
          </a:xfrm>
          <a:prstGeom prst="roundRect">
            <a:avLst>
              <a:gd name="adj" fmla="val 2878"/>
            </a:avLst>
          </a:prstGeom>
          <a:solidFill>
            <a:srgbClr val="FFFFFF"/>
          </a:solidFill>
          <a:ln w="13970">
            <a:solidFill>
              <a:srgbClr val="00A6D6"/>
            </a:solidFill>
            <a:prstDash val="solid"/>
          </a:ln>
          <a:effectLst>
            <a:outerShdw sx="100000" sy="100000" kx="0" ky="0" algn="bl" rotWithShape="0" blurRad="12700" dist="50800" dir="2700000">
              <a:srgbClr val="9AA6B2">
                <a:alpha val="16000"/>
              </a:srgbClr>
            </a:outerShdw>
          </a:effectLst>
        </p:spPr>
      </p:sp>
      <p:sp>
        <p:nvSpPr>
          <p:cNvPr id="42" name="Text 40"/>
          <p:cNvSpPr/>
          <p:nvPr/>
        </p:nvSpPr>
        <p:spPr>
          <a:xfrm>
            <a:off x="6108192" y="2084832"/>
            <a:ext cx="2011680" cy="182880"/>
          </a:xfrm>
          <a:prstGeom prst="rect">
            <a:avLst/>
          </a:prstGeom>
          <a:noFill/>
          <a:ln/>
        </p:spPr>
        <p:txBody>
          <a:bodyPr wrap="square" lIns="0" tIns="0" rIns="0" bIns="0" rtlCol="0" anchor="t">
            <a:normAutofit/>
          </a:bodyPr>
          <a:lstStyle/>
          <a:p>
            <a:pPr algn="l" indent="0" marL="0">
              <a:buNone/>
            </a:pPr>
            <a:r>
              <a:rPr lang="en-US" sz="1300" b="1" dirty="0">
                <a:solidFill>
                  <a:srgbClr val="111827"/>
                </a:solidFill>
                <a:latin typeface="Aptos" pitchFamily="34" charset="0"/>
                <a:ea typeface="Aptos" pitchFamily="34" charset="-122"/>
                <a:cs typeface="Aptos" pitchFamily="34" charset="-120"/>
              </a:rPr>
              <a:t>Search log fields</a:t>
            </a:r>
            <a:endParaRPr lang="en-US" sz="1300" dirty="0"/>
          </a:p>
        </p:txBody>
      </p:sp>
      <p:sp>
        <p:nvSpPr>
          <p:cNvPr id="43" name="Shape 41"/>
          <p:cNvSpPr/>
          <p:nvPr/>
        </p:nvSpPr>
        <p:spPr>
          <a:xfrm>
            <a:off x="6163056" y="2656332"/>
            <a:ext cx="68580" cy="68580"/>
          </a:xfrm>
          <a:prstGeom prst="ellipse">
            <a:avLst/>
          </a:prstGeom>
          <a:solidFill>
            <a:srgbClr val="00A6D6"/>
          </a:solidFill>
          <a:ln w="12700">
            <a:solidFill>
              <a:srgbClr val="00A6D6"/>
            </a:solidFill>
            <a:prstDash val="solid"/>
          </a:ln>
        </p:spPr>
      </p:sp>
      <p:sp>
        <p:nvSpPr>
          <p:cNvPr id="44" name="Text 42"/>
          <p:cNvSpPr/>
          <p:nvPr/>
        </p:nvSpPr>
        <p:spPr>
          <a:xfrm>
            <a:off x="6309360" y="2578608"/>
            <a:ext cx="4242816" cy="292608"/>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feature searched</a:t>
            </a:r>
            <a:endParaRPr lang="en-US" sz="900" dirty="0"/>
          </a:p>
        </p:txBody>
      </p:sp>
      <p:sp>
        <p:nvSpPr>
          <p:cNvPr id="45" name="Shape 43"/>
          <p:cNvSpPr/>
          <p:nvPr/>
        </p:nvSpPr>
        <p:spPr>
          <a:xfrm>
            <a:off x="6163056" y="2948940"/>
            <a:ext cx="68580" cy="68580"/>
          </a:xfrm>
          <a:prstGeom prst="ellipse">
            <a:avLst/>
          </a:prstGeom>
          <a:solidFill>
            <a:srgbClr val="00A6D6"/>
          </a:solidFill>
          <a:ln w="12700">
            <a:solidFill>
              <a:srgbClr val="00A6D6"/>
            </a:solidFill>
            <a:prstDash val="solid"/>
          </a:ln>
        </p:spPr>
      </p:sp>
      <p:sp>
        <p:nvSpPr>
          <p:cNvPr id="46" name="Text 44"/>
          <p:cNvSpPr/>
          <p:nvPr/>
        </p:nvSpPr>
        <p:spPr>
          <a:xfrm>
            <a:off x="6309360" y="2871216"/>
            <a:ext cx="4242816" cy="292608"/>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query / classification path</a:t>
            </a:r>
            <a:endParaRPr lang="en-US" sz="900" dirty="0"/>
          </a:p>
        </p:txBody>
      </p:sp>
      <p:sp>
        <p:nvSpPr>
          <p:cNvPr id="47" name="Shape 45"/>
          <p:cNvSpPr/>
          <p:nvPr/>
        </p:nvSpPr>
        <p:spPr>
          <a:xfrm>
            <a:off x="6163056" y="3241548"/>
            <a:ext cx="68580" cy="68580"/>
          </a:xfrm>
          <a:prstGeom prst="ellipse">
            <a:avLst/>
          </a:prstGeom>
          <a:solidFill>
            <a:srgbClr val="00A6D6"/>
          </a:solidFill>
          <a:ln w="12700">
            <a:solidFill>
              <a:srgbClr val="00A6D6"/>
            </a:solidFill>
            <a:prstDash val="solid"/>
          </a:ln>
        </p:spPr>
      </p:sp>
      <p:sp>
        <p:nvSpPr>
          <p:cNvPr id="48" name="Text 46"/>
          <p:cNvSpPr/>
          <p:nvPr/>
        </p:nvSpPr>
        <p:spPr>
          <a:xfrm>
            <a:off x="6309360" y="3163824"/>
            <a:ext cx="4242816" cy="292608"/>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database or source used</a:t>
            </a:r>
            <a:endParaRPr lang="en-US" sz="900" dirty="0"/>
          </a:p>
        </p:txBody>
      </p:sp>
      <p:sp>
        <p:nvSpPr>
          <p:cNvPr id="49" name="Shape 47"/>
          <p:cNvSpPr/>
          <p:nvPr/>
        </p:nvSpPr>
        <p:spPr>
          <a:xfrm>
            <a:off x="6163056" y="3534156"/>
            <a:ext cx="68580" cy="68580"/>
          </a:xfrm>
          <a:prstGeom prst="ellipse">
            <a:avLst/>
          </a:prstGeom>
          <a:solidFill>
            <a:srgbClr val="00A6D6"/>
          </a:solidFill>
          <a:ln w="12700">
            <a:solidFill>
              <a:srgbClr val="00A6D6"/>
            </a:solidFill>
            <a:prstDash val="solid"/>
          </a:ln>
        </p:spPr>
      </p:sp>
      <p:sp>
        <p:nvSpPr>
          <p:cNvPr id="50" name="Text 48"/>
          <p:cNvSpPr/>
          <p:nvPr/>
        </p:nvSpPr>
        <p:spPr>
          <a:xfrm>
            <a:off x="6309360" y="3456432"/>
            <a:ext cx="4242816" cy="292608"/>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hit relevance</a:t>
            </a:r>
            <a:endParaRPr lang="en-US" sz="900" dirty="0"/>
          </a:p>
        </p:txBody>
      </p:sp>
      <p:sp>
        <p:nvSpPr>
          <p:cNvPr id="51" name="Shape 49"/>
          <p:cNvSpPr/>
          <p:nvPr/>
        </p:nvSpPr>
        <p:spPr>
          <a:xfrm>
            <a:off x="6163056" y="3826764"/>
            <a:ext cx="68580" cy="68580"/>
          </a:xfrm>
          <a:prstGeom prst="ellipse">
            <a:avLst/>
          </a:prstGeom>
          <a:solidFill>
            <a:srgbClr val="00A6D6"/>
          </a:solidFill>
          <a:ln w="12700">
            <a:solidFill>
              <a:srgbClr val="00A6D6"/>
            </a:solidFill>
            <a:prstDash val="solid"/>
          </a:ln>
        </p:spPr>
      </p:sp>
      <p:sp>
        <p:nvSpPr>
          <p:cNvPr id="52" name="Text 50"/>
          <p:cNvSpPr/>
          <p:nvPr/>
        </p:nvSpPr>
        <p:spPr>
          <a:xfrm>
            <a:off x="6309360" y="3749040"/>
            <a:ext cx="4242816" cy="292608"/>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reason for inclusion / exclusion</a:t>
            </a:r>
            <a:endParaRPr lang="en-US" sz="900" dirty="0"/>
          </a:p>
        </p:txBody>
      </p:sp>
      <p:sp>
        <p:nvSpPr>
          <p:cNvPr id="53" name="Shape 51"/>
          <p:cNvSpPr/>
          <p:nvPr/>
        </p:nvSpPr>
        <p:spPr>
          <a:xfrm>
            <a:off x="658368" y="5632704"/>
            <a:ext cx="10881360" cy="429768"/>
          </a:xfrm>
          <a:prstGeom prst="roundRect">
            <a:avLst>
              <a:gd name="adj" fmla="val 17021"/>
            </a:avLst>
          </a:prstGeom>
          <a:solidFill>
            <a:srgbClr val="F8FAFC"/>
          </a:solidFill>
          <a:ln w="13970">
            <a:solidFill>
              <a:srgbClr val="00A6D6"/>
            </a:solidFill>
            <a:prstDash val="solid"/>
          </a:ln>
        </p:spPr>
      </p:sp>
      <p:sp>
        <p:nvSpPr>
          <p:cNvPr id="54" name="Shape 52"/>
          <p:cNvSpPr/>
          <p:nvPr/>
        </p:nvSpPr>
        <p:spPr>
          <a:xfrm>
            <a:off x="658368" y="5632704"/>
            <a:ext cx="91440" cy="429768"/>
          </a:xfrm>
          <a:prstGeom prst="rect">
            <a:avLst/>
          </a:prstGeom>
          <a:solidFill>
            <a:srgbClr val="00A6D6"/>
          </a:solidFill>
          <a:ln w="12700">
            <a:solidFill>
              <a:srgbClr val="00A6D6"/>
            </a:solidFill>
            <a:prstDash val="solid"/>
          </a:ln>
        </p:spPr>
      </p:sp>
      <p:sp>
        <p:nvSpPr>
          <p:cNvPr id="55" name="Text 53"/>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The quality of prior-art work is measured by relevance and traceability, not by the number of documents found.</a:t>
            </a:r>
            <a:endParaRPr lang="en-US" sz="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00A6D6"/>
                </a:solidFill>
              </a:rPr>
              <a:t>L | LOCATE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4: patent landscape and intelligence</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convert scattered patent documents into a strategic view of technology activity and risk areas.</a:t>
            </a:r>
            <a:endParaRPr lang="en-US" sz="1050" dirty="0"/>
          </a:p>
        </p:txBody>
      </p:sp>
      <p:sp>
        <p:nvSpPr>
          <p:cNvPr id="9" name="Shape 7"/>
          <p:cNvSpPr/>
          <p:nvPr/>
        </p:nvSpPr>
        <p:spPr>
          <a:xfrm>
            <a:off x="566928" y="1499616"/>
            <a:ext cx="1920240" cy="0"/>
          </a:xfrm>
          <a:prstGeom prst="line">
            <a:avLst/>
          </a:prstGeom>
          <a:noFill/>
          <a:ln w="27940">
            <a:solidFill>
              <a:srgbClr val="00A6D6"/>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09</a:t>
            </a:r>
            <a:endParaRPr lang="en-US" sz="800" dirty="0"/>
          </a:p>
        </p:txBody>
      </p:sp>
      <p:sp>
        <p:nvSpPr>
          <p:cNvPr id="27" name="Shape 25"/>
          <p:cNvSpPr/>
          <p:nvPr/>
        </p:nvSpPr>
        <p:spPr>
          <a:xfrm>
            <a:off x="10104120" y="438912"/>
            <a:ext cx="1389888" cy="475488"/>
          </a:xfrm>
          <a:prstGeom prst="roundRect">
            <a:avLst>
              <a:gd name="adj" fmla="val 19231"/>
            </a:avLst>
          </a:prstGeom>
          <a:solidFill>
            <a:srgbClr val="00A6D6"/>
          </a:solidFill>
          <a:ln w="12700">
            <a:solidFill>
              <a:srgbClr val="00A6D6"/>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L | Locate</a:t>
            </a:r>
            <a:endParaRPr lang="en-US" sz="850" dirty="0"/>
          </a:p>
        </p:txBody>
      </p:sp>
      <p:sp>
        <p:nvSpPr>
          <p:cNvPr id="29" name="Shape 27"/>
          <p:cNvSpPr/>
          <p:nvPr/>
        </p:nvSpPr>
        <p:spPr>
          <a:xfrm>
            <a:off x="777240" y="1856232"/>
            <a:ext cx="4983480" cy="3017520"/>
          </a:xfrm>
          <a:prstGeom prst="roundRect">
            <a:avLst>
              <a:gd name="adj" fmla="val 2424"/>
            </a:avLst>
          </a:prstGeom>
          <a:solidFill>
            <a:srgbClr val="FFFFFF"/>
          </a:solidFill>
          <a:ln w="13970">
            <a:solidFill>
              <a:srgbClr val="00A6D6"/>
            </a:solidFill>
            <a:prstDash val="solid"/>
          </a:ln>
          <a:effectLst>
            <a:outerShdw sx="100000" sy="100000" kx="0" ky="0" algn="bl" rotWithShape="0" blurRad="12700" dist="50800" dir="2700000">
              <a:srgbClr val="9AA6B2">
                <a:alpha val="16000"/>
              </a:srgbClr>
            </a:outerShdw>
          </a:effectLst>
        </p:spPr>
      </p:sp>
      <p:sp>
        <p:nvSpPr>
          <p:cNvPr id="30" name="Text 28"/>
          <p:cNvSpPr/>
          <p:nvPr/>
        </p:nvSpPr>
        <p:spPr>
          <a:xfrm>
            <a:off x="1051560" y="2103120"/>
            <a:ext cx="2331720" cy="201168"/>
          </a:xfrm>
          <a:prstGeom prst="rect">
            <a:avLst/>
          </a:prstGeom>
          <a:noFill/>
          <a:ln/>
        </p:spPr>
        <p:txBody>
          <a:bodyPr wrap="square" lIns="0" tIns="0" rIns="0" bIns="0" rtlCol="0" anchor="t">
            <a:normAutofit/>
          </a:bodyPr>
          <a:lstStyle/>
          <a:p>
            <a:pPr algn="l" indent="0" marL="0">
              <a:buNone/>
            </a:pPr>
            <a:r>
              <a:rPr lang="en-US" sz="1350" b="1" dirty="0">
                <a:solidFill>
                  <a:srgbClr val="111827"/>
                </a:solidFill>
                <a:latin typeface="Aptos" pitchFamily="34" charset="0"/>
                <a:ea typeface="Aptos" pitchFamily="34" charset="-122"/>
                <a:cs typeface="Aptos" pitchFamily="34" charset="-120"/>
              </a:rPr>
              <a:t>Landscape questions</a:t>
            </a:r>
            <a:endParaRPr lang="en-US" sz="1350" dirty="0"/>
          </a:p>
        </p:txBody>
      </p:sp>
      <p:sp>
        <p:nvSpPr>
          <p:cNvPr id="31" name="Shape 29"/>
          <p:cNvSpPr/>
          <p:nvPr/>
        </p:nvSpPr>
        <p:spPr>
          <a:xfrm>
            <a:off x="1078992" y="2711196"/>
            <a:ext cx="68580" cy="68580"/>
          </a:xfrm>
          <a:prstGeom prst="ellipse">
            <a:avLst/>
          </a:prstGeom>
          <a:solidFill>
            <a:srgbClr val="00A6D6"/>
          </a:solidFill>
          <a:ln w="12700">
            <a:solidFill>
              <a:srgbClr val="00A6D6"/>
            </a:solidFill>
            <a:prstDash val="solid"/>
          </a:ln>
        </p:spPr>
      </p:sp>
      <p:sp>
        <p:nvSpPr>
          <p:cNvPr id="32" name="Text 30"/>
          <p:cNvSpPr/>
          <p:nvPr/>
        </p:nvSpPr>
        <p:spPr>
          <a:xfrm>
            <a:off x="1225296" y="2633472"/>
            <a:ext cx="3922776" cy="310896"/>
          </a:xfrm>
          <a:prstGeom prst="rect">
            <a:avLst/>
          </a:prstGeom>
          <a:noFill/>
          <a:ln/>
        </p:spPr>
        <p:txBody>
          <a:bodyPr wrap="square" lIns="0" tIns="0" rIns="0" bIns="0" rtlCol="0" anchor="t">
            <a:normAutofit/>
          </a:bodyPr>
          <a:lstStyle/>
          <a:p>
            <a:pPr algn="l" indent="0" marL="0">
              <a:buNone/>
            </a:pPr>
            <a:r>
              <a:rPr lang="en-US" sz="910" dirty="0">
                <a:solidFill>
                  <a:srgbClr val="475569"/>
                </a:solidFill>
                <a:latin typeface="Aptos" pitchFamily="34" charset="0"/>
                <a:ea typeface="Aptos" pitchFamily="34" charset="-122"/>
                <a:cs typeface="Aptos" pitchFamily="34" charset="-120"/>
              </a:rPr>
              <a:t>Which assignees are active in the space?</a:t>
            </a:r>
            <a:endParaRPr lang="en-US" sz="910" dirty="0"/>
          </a:p>
        </p:txBody>
      </p:sp>
      <p:sp>
        <p:nvSpPr>
          <p:cNvPr id="33" name="Shape 31"/>
          <p:cNvSpPr/>
          <p:nvPr/>
        </p:nvSpPr>
        <p:spPr>
          <a:xfrm>
            <a:off x="1078992" y="3022092"/>
            <a:ext cx="68580" cy="68580"/>
          </a:xfrm>
          <a:prstGeom prst="ellipse">
            <a:avLst/>
          </a:prstGeom>
          <a:solidFill>
            <a:srgbClr val="00A6D6"/>
          </a:solidFill>
          <a:ln w="12700">
            <a:solidFill>
              <a:srgbClr val="00A6D6"/>
            </a:solidFill>
            <a:prstDash val="solid"/>
          </a:ln>
        </p:spPr>
      </p:sp>
      <p:sp>
        <p:nvSpPr>
          <p:cNvPr id="34" name="Text 32"/>
          <p:cNvSpPr/>
          <p:nvPr/>
        </p:nvSpPr>
        <p:spPr>
          <a:xfrm>
            <a:off x="1225296" y="2944368"/>
            <a:ext cx="3922776" cy="310896"/>
          </a:xfrm>
          <a:prstGeom prst="rect">
            <a:avLst/>
          </a:prstGeom>
          <a:noFill/>
          <a:ln/>
        </p:spPr>
        <p:txBody>
          <a:bodyPr wrap="square" lIns="0" tIns="0" rIns="0" bIns="0" rtlCol="0" anchor="t">
            <a:normAutofit/>
          </a:bodyPr>
          <a:lstStyle/>
          <a:p>
            <a:pPr algn="l" indent="0" marL="0">
              <a:buNone/>
            </a:pPr>
            <a:r>
              <a:rPr lang="en-US" sz="910" dirty="0">
                <a:solidFill>
                  <a:srgbClr val="475569"/>
                </a:solidFill>
                <a:latin typeface="Aptos" pitchFamily="34" charset="0"/>
                <a:ea typeface="Aptos" pitchFamily="34" charset="-122"/>
                <a:cs typeface="Aptos" pitchFamily="34" charset="-120"/>
              </a:rPr>
              <a:t>Which sub-features are heavily patented?</a:t>
            </a:r>
            <a:endParaRPr lang="en-US" sz="910" dirty="0"/>
          </a:p>
        </p:txBody>
      </p:sp>
      <p:sp>
        <p:nvSpPr>
          <p:cNvPr id="35" name="Shape 33"/>
          <p:cNvSpPr/>
          <p:nvPr/>
        </p:nvSpPr>
        <p:spPr>
          <a:xfrm>
            <a:off x="1078992" y="3332988"/>
            <a:ext cx="68580" cy="68580"/>
          </a:xfrm>
          <a:prstGeom prst="ellipse">
            <a:avLst/>
          </a:prstGeom>
          <a:solidFill>
            <a:srgbClr val="00A6D6"/>
          </a:solidFill>
          <a:ln w="12700">
            <a:solidFill>
              <a:srgbClr val="00A6D6"/>
            </a:solidFill>
            <a:prstDash val="solid"/>
          </a:ln>
        </p:spPr>
      </p:sp>
      <p:sp>
        <p:nvSpPr>
          <p:cNvPr id="36" name="Text 34"/>
          <p:cNvSpPr/>
          <p:nvPr/>
        </p:nvSpPr>
        <p:spPr>
          <a:xfrm>
            <a:off x="1225296" y="3255264"/>
            <a:ext cx="3922776" cy="310896"/>
          </a:xfrm>
          <a:prstGeom prst="rect">
            <a:avLst/>
          </a:prstGeom>
          <a:noFill/>
          <a:ln/>
        </p:spPr>
        <p:txBody>
          <a:bodyPr wrap="square" lIns="0" tIns="0" rIns="0" bIns="0" rtlCol="0" anchor="t">
            <a:normAutofit/>
          </a:bodyPr>
          <a:lstStyle/>
          <a:p>
            <a:pPr algn="l" indent="0" marL="0">
              <a:buNone/>
            </a:pPr>
            <a:r>
              <a:rPr lang="en-US" sz="910" dirty="0">
                <a:solidFill>
                  <a:srgbClr val="475569"/>
                </a:solidFill>
                <a:latin typeface="Aptos" pitchFamily="34" charset="0"/>
                <a:ea typeface="Aptos" pitchFamily="34" charset="-122"/>
                <a:cs typeface="Aptos" pitchFamily="34" charset="-120"/>
              </a:rPr>
              <a:t>Which jurisdictions or filing families matter?</a:t>
            </a:r>
            <a:endParaRPr lang="en-US" sz="910" dirty="0"/>
          </a:p>
        </p:txBody>
      </p:sp>
      <p:sp>
        <p:nvSpPr>
          <p:cNvPr id="37" name="Shape 35"/>
          <p:cNvSpPr/>
          <p:nvPr/>
        </p:nvSpPr>
        <p:spPr>
          <a:xfrm>
            <a:off x="1078992" y="3643884"/>
            <a:ext cx="68580" cy="68580"/>
          </a:xfrm>
          <a:prstGeom prst="ellipse">
            <a:avLst/>
          </a:prstGeom>
          <a:solidFill>
            <a:srgbClr val="00A6D6"/>
          </a:solidFill>
          <a:ln w="12700">
            <a:solidFill>
              <a:srgbClr val="00A6D6"/>
            </a:solidFill>
            <a:prstDash val="solid"/>
          </a:ln>
        </p:spPr>
      </p:sp>
      <p:sp>
        <p:nvSpPr>
          <p:cNvPr id="38" name="Text 36"/>
          <p:cNvSpPr/>
          <p:nvPr/>
        </p:nvSpPr>
        <p:spPr>
          <a:xfrm>
            <a:off x="1225296" y="3566160"/>
            <a:ext cx="3922776" cy="310896"/>
          </a:xfrm>
          <a:prstGeom prst="rect">
            <a:avLst/>
          </a:prstGeom>
          <a:noFill/>
          <a:ln/>
        </p:spPr>
        <p:txBody>
          <a:bodyPr wrap="square" lIns="0" tIns="0" rIns="0" bIns="0" rtlCol="0" anchor="t">
            <a:normAutofit/>
          </a:bodyPr>
          <a:lstStyle/>
          <a:p>
            <a:pPr algn="l" indent="0" marL="0">
              <a:buNone/>
            </a:pPr>
            <a:r>
              <a:rPr lang="en-US" sz="910" dirty="0">
                <a:solidFill>
                  <a:srgbClr val="475569"/>
                </a:solidFill>
                <a:latin typeface="Aptos" pitchFamily="34" charset="0"/>
                <a:ea typeface="Aptos" pitchFamily="34" charset="-122"/>
                <a:cs typeface="Aptos" pitchFamily="34" charset="-120"/>
              </a:rPr>
              <a:t>Which references should be monitored for risk?</a:t>
            </a:r>
            <a:endParaRPr lang="en-US" sz="910" dirty="0"/>
          </a:p>
        </p:txBody>
      </p:sp>
      <p:sp>
        <p:nvSpPr>
          <p:cNvPr id="39" name="Shape 37"/>
          <p:cNvSpPr/>
          <p:nvPr/>
        </p:nvSpPr>
        <p:spPr>
          <a:xfrm>
            <a:off x="1078992" y="3954780"/>
            <a:ext cx="68580" cy="68580"/>
          </a:xfrm>
          <a:prstGeom prst="ellipse">
            <a:avLst/>
          </a:prstGeom>
          <a:solidFill>
            <a:srgbClr val="00A6D6"/>
          </a:solidFill>
          <a:ln w="12700">
            <a:solidFill>
              <a:srgbClr val="00A6D6"/>
            </a:solidFill>
            <a:prstDash val="solid"/>
          </a:ln>
        </p:spPr>
      </p:sp>
      <p:sp>
        <p:nvSpPr>
          <p:cNvPr id="40" name="Text 38"/>
          <p:cNvSpPr/>
          <p:nvPr/>
        </p:nvSpPr>
        <p:spPr>
          <a:xfrm>
            <a:off x="1225296" y="3877056"/>
            <a:ext cx="3922776" cy="310896"/>
          </a:xfrm>
          <a:prstGeom prst="rect">
            <a:avLst/>
          </a:prstGeom>
          <a:noFill/>
          <a:ln/>
        </p:spPr>
        <p:txBody>
          <a:bodyPr wrap="square" lIns="0" tIns="0" rIns="0" bIns="0" rtlCol="0" anchor="t">
            <a:normAutofit/>
          </a:bodyPr>
          <a:lstStyle/>
          <a:p>
            <a:pPr algn="l" indent="0" marL="0">
              <a:buNone/>
            </a:pPr>
            <a:r>
              <a:rPr lang="en-US" sz="910" dirty="0">
                <a:solidFill>
                  <a:srgbClr val="475569"/>
                </a:solidFill>
                <a:latin typeface="Aptos" pitchFamily="34" charset="0"/>
                <a:ea typeface="Aptos" pitchFamily="34" charset="-122"/>
                <a:cs typeface="Aptos" pitchFamily="34" charset="-120"/>
              </a:rPr>
              <a:t>Where may there be room for stronger claim positioning?</a:t>
            </a:r>
            <a:endParaRPr lang="en-US" sz="910" dirty="0"/>
          </a:p>
        </p:txBody>
      </p:sp>
      <p:sp>
        <p:nvSpPr>
          <p:cNvPr id="41" name="Shape 39"/>
          <p:cNvSpPr/>
          <p:nvPr/>
        </p:nvSpPr>
        <p:spPr>
          <a:xfrm>
            <a:off x="6400800" y="1783080"/>
            <a:ext cx="4434840" cy="3401568"/>
          </a:xfrm>
          <a:prstGeom prst="roundRect">
            <a:avLst>
              <a:gd name="adj" fmla="val 2151"/>
            </a:avLst>
          </a:prstGeom>
          <a:solidFill>
            <a:srgbClr val="FCFDFF"/>
          </a:solidFill>
          <a:ln w="10160">
            <a:solidFill>
              <a:srgbClr val="D7DEE8"/>
            </a:solidFill>
            <a:prstDash val="solid"/>
          </a:ln>
          <a:effectLst>
            <a:outerShdw sx="100000" sy="100000" kx="0" ky="0" algn="bl" rotWithShape="0" blurRad="12700" dist="50800" dir="2700000">
              <a:srgbClr val="9AA6B2">
                <a:alpha val="16000"/>
              </a:srgbClr>
            </a:outerShdw>
          </a:effectLst>
        </p:spPr>
      </p:sp>
      <p:sp>
        <p:nvSpPr>
          <p:cNvPr id="42" name="Text 40"/>
          <p:cNvSpPr/>
          <p:nvPr/>
        </p:nvSpPr>
        <p:spPr>
          <a:xfrm rot="16200000">
            <a:off x="6217920" y="1993392"/>
            <a:ext cx="228600" cy="640080"/>
          </a:xfrm>
          <a:prstGeom prst="rect">
            <a:avLst/>
          </a:prstGeom>
          <a:noFill/>
          <a:ln/>
        </p:spPr>
        <p:txBody>
          <a:bodyPr wrap="square" lIns="0" tIns="0" rIns="0" bIns="0" rtlCol="0" anchor="t">
            <a:normAutofit/>
          </a:bodyPr>
          <a:lstStyle/>
          <a:p>
            <a:pPr algn="l" indent="0" marL="0">
              <a:buNone/>
            </a:pPr>
            <a:r>
              <a:rPr lang="en-US" sz="700" b="1" dirty="0">
                <a:solidFill>
                  <a:srgbClr val="64748B"/>
                </a:solidFill>
                <a:latin typeface="Aptos" pitchFamily="34" charset="0"/>
                <a:ea typeface="Aptos" pitchFamily="34" charset="-122"/>
                <a:cs typeface="Aptos" pitchFamily="34" charset="-120"/>
              </a:rPr>
              <a:t>Relevance</a:t>
            </a:r>
            <a:endParaRPr lang="en-US" sz="700" dirty="0"/>
          </a:p>
        </p:txBody>
      </p:sp>
      <p:sp>
        <p:nvSpPr>
          <p:cNvPr id="43" name="Text 41"/>
          <p:cNvSpPr/>
          <p:nvPr/>
        </p:nvSpPr>
        <p:spPr>
          <a:xfrm>
            <a:off x="7882128" y="4892040"/>
            <a:ext cx="1234440" cy="118872"/>
          </a:xfrm>
          <a:prstGeom prst="rect">
            <a:avLst/>
          </a:prstGeom>
          <a:noFill/>
          <a:ln/>
        </p:spPr>
        <p:txBody>
          <a:bodyPr wrap="square" lIns="0" tIns="0" rIns="0" bIns="0" rtlCol="0" anchor="t">
            <a:normAutofit/>
          </a:bodyPr>
          <a:lstStyle/>
          <a:p>
            <a:pPr algn="ctr" indent="0" marL="0">
              <a:buNone/>
            </a:pPr>
            <a:r>
              <a:rPr lang="en-US" sz="700" b="1" dirty="0">
                <a:solidFill>
                  <a:srgbClr val="64748B"/>
                </a:solidFill>
                <a:latin typeface="Aptos" pitchFamily="34" charset="0"/>
                <a:ea typeface="Aptos" pitchFamily="34" charset="-122"/>
                <a:cs typeface="Aptos" pitchFamily="34" charset="-120"/>
              </a:rPr>
              <a:t>Filing activity</a:t>
            </a:r>
            <a:endParaRPr lang="en-US" sz="700" dirty="0"/>
          </a:p>
        </p:txBody>
      </p:sp>
      <p:sp>
        <p:nvSpPr>
          <p:cNvPr id="44" name="Shape 42"/>
          <p:cNvSpPr/>
          <p:nvPr/>
        </p:nvSpPr>
        <p:spPr>
          <a:xfrm>
            <a:off x="6903720" y="4736592"/>
            <a:ext cx="3474720" cy="0"/>
          </a:xfrm>
          <a:prstGeom prst="line">
            <a:avLst/>
          </a:prstGeom>
          <a:noFill/>
          <a:ln w="12700">
            <a:solidFill>
              <a:srgbClr val="D7DEE8"/>
            </a:solidFill>
            <a:prstDash val="solid"/>
          </a:ln>
        </p:spPr>
      </p:sp>
      <p:sp>
        <p:nvSpPr>
          <p:cNvPr id="45" name="Shape 43"/>
          <p:cNvSpPr/>
          <p:nvPr/>
        </p:nvSpPr>
        <p:spPr>
          <a:xfrm>
            <a:off x="6903720" y="4736592"/>
            <a:ext cx="0" cy="-2651760"/>
          </a:xfrm>
          <a:prstGeom prst="line">
            <a:avLst/>
          </a:prstGeom>
          <a:noFill/>
          <a:ln w="12700">
            <a:solidFill>
              <a:srgbClr val="D7DEE8"/>
            </a:solidFill>
            <a:prstDash val="solid"/>
          </a:ln>
        </p:spPr>
      </p:sp>
      <p:sp>
        <p:nvSpPr>
          <p:cNvPr id="46" name="Shape 44"/>
          <p:cNvSpPr/>
          <p:nvPr/>
        </p:nvSpPr>
        <p:spPr>
          <a:xfrm>
            <a:off x="8641080" y="2084832"/>
            <a:ext cx="0" cy="2651760"/>
          </a:xfrm>
          <a:prstGeom prst="line">
            <a:avLst/>
          </a:prstGeom>
          <a:noFill/>
          <a:ln w="12700">
            <a:solidFill>
              <a:srgbClr val="D7DEE8"/>
            </a:solidFill>
            <a:prstDash val="solid"/>
          </a:ln>
        </p:spPr>
      </p:sp>
      <p:sp>
        <p:nvSpPr>
          <p:cNvPr id="47" name="Shape 45"/>
          <p:cNvSpPr/>
          <p:nvPr/>
        </p:nvSpPr>
        <p:spPr>
          <a:xfrm>
            <a:off x="6903720" y="3410712"/>
            <a:ext cx="3474720" cy="0"/>
          </a:xfrm>
          <a:prstGeom prst="line">
            <a:avLst/>
          </a:prstGeom>
          <a:noFill/>
          <a:ln w="12700">
            <a:solidFill>
              <a:srgbClr val="D7DEE8"/>
            </a:solidFill>
            <a:prstDash val="solid"/>
          </a:ln>
        </p:spPr>
      </p:sp>
      <p:sp>
        <p:nvSpPr>
          <p:cNvPr id="48" name="Shape 46"/>
          <p:cNvSpPr/>
          <p:nvPr/>
        </p:nvSpPr>
        <p:spPr>
          <a:xfrm>
            <a:off x="7315200" y="4297680"/>
            <a:ext cx="274320" cy="274320"/>
          </a:xfrm>
          <a:prstGeom prst="ellipse">
            <a:avLst/>
          </a:prstGeom>
          <a:solidFill>
            <a:srgbClr val="1D4ED8">
              <a:alpha val="96000"/>
            </a:srgbClr>
          </a:solidFill>
          <a:ln w="12700">
            <a:solidFill>
              <a:srgbClr val="1D4ED8"/>
            </a:solidFill>
            <a:prstDash val="solid"/>
          </a:ln>
        </p:spPr>
      </p:sp>
      <p:sp>
        <p:nvSpPr>
          <p:cNvPr id="49" name="Text 47"/>
          <p:cNvSpPr/>
          <p:nvPr/>
        </p:nvSpPr>
        <p:spPr>
          <a:xfrm>
            <a:off x="7315200" y="4370832"/>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A</a:t>
            </a:r>
            <a:endParaRPr lang="en-US" sz="640" dirty="0"/>
          </a:p>
        </p:txBody>
      </p:sp>
      <p:sp>
        <p:nvSpPr>
          <p:cNvPr id="50" name="Shape 48"/>
          <p:cNvSpPr/>
          <p:nvPr/>
        </p:nvSpPr>
        <p:spPr>
          <a:xfrm>
            <a:off x="8092440" y="3977640"/>
            <a:ext cx="274320" cy="274320"/>
          </a:xfrm>
          <a:prstGeom prst="ellipse">
            <a:avLst/>
          </a:prstGeom>
          <a:solidFill>
            <a:srgbClr val="0EA5A4">
              <a:alpha val="96000"/>
            </a:srgbClr>
          </a:solidFill>
          <a:ln w="12700">
            <a:solidFill>
              <a:srgbClr val="0EA5A4"/>
            </a:solidFill>
            <a:prstDash val="solid"/>
          </a:ln>
        </p:spPr>
      </p:sp>
      <p:sp>
        <p:nvSpPr>
          <p:cNvPr id="51" name="Text 49"/>
          <p:cNvSpPr/>
          <p:nvPr/>
        </p:nvSpPr>
        <p:spPr>
          <a:xfrm>
            <a:off x="8092440" y="4050792"/>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B</a:t>
            </a:r>
            <a:endParaRPr lang="en-US" sz="640" dirty="0"/>
          </a:p>
        </p:txBody>
      </p:sp>
      <p:sp>
        <p:nvSpPr>
          <p:cNvPr id="52" name="Shape 50"/>
          <p:cNvSpPr/>
          <p:nvPr/>
        </p:nvSpPr>
        <p:spPr>
          <a:xfrm>
            <a:off x="9098280" y="2788920"/>
            <a:ext cx="274320" cy="274320"/>
          </a:xfrm>
          <a:prstGeom prst="ellipse">
            <a:avLst/>
          </a:prstGeom>
          <a:solidFill>
            <a:srgbClr val="F59E0B">
              <a:alpha val="96000"/>
            </a:srgbClr>
          </a:solidFill>
          <a:ln w="12700">
            <a:solidFill>
              <a:srgbClr val="F59E0B"/>
            </a:solidFill>
            <a:prstDash val="solid"/>
          </a:ln>
        </p:spPr>
      </p:sp>
      <p:sp>
        <p:nvSpPr>
          <p:cNvPr id="53" name="Text 51"/>
          <p:cNvSpPr/>
          <p:nvPr/>
        </p:nvSpPr>
        <p:spPr>
          <a:xfrm>
            <a:off x="9098280" y="2862072"/>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C</a:t>
            </a:r>
            <a:endParaRPr lang="en-US" sz="640" dirty="0"/>
          </a:p>
        </p:txBody>
      </p:sp>
      <p:sp>
        <p:nvSpPr>
          <p:cNvPr id="54" name="Shape 52"/>
          <p:cNvSpPr/>
          <p:nvPr/>
        </p:nvSpPr>
        <p:spPr>
          <a:xfrm>
            <a:off x="9875520" y="2505456"/>
            <a:ext cx="274320" cy="274320"/>
          </a:xfrm>
          <a:prstGeom prst="ellipse">
            <a:avLst/>
          </a:prstGeom>
          <a:solidFill>
            <a:srgbClr val="DC2626">
              <a:alpha val="96000"/>
            </a:srgbClr>
          </a:solidFill>
          <a:ln w="12700">
            <a:solidFill>
              <a:srgbClr val="DC2626"/>
            </a:solidFill>
            <a:prstDash val="solid"/>
          </a:ln>
        </p:spPr>
      </p:sp>
      <p:sp>
        <p:nvSpPr>
          <p:cNvPr id="55" name="Text 53"/>
          <p:cNvSpPr/>
          <p:nvPr/>
        </p:nvSpPr>
        <p:spPr>
          <a:xfrm>
            <a:off x="9875520" y="2578608"/>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D</a:t>
            </a:r>
            <a:endParaRPr lang="en-US" sz="640" dirty="0"/>
          </a:p>
        </p:txBody>
      </p:sp>
      <p:sp>
        <p:nvSpPr>
          <p:cNvPr id="56" name="Shape 54"/>
          <p:cNvSpPr/>
          <p:nvPr/>
        </p:nvSpPr>
        <p:spPr>
          <a:xfrm>
            <a:off x="7818120" y="2670048"/>
            <a:ext cx="274320" cy="274320"/>
          </a:xfrm>
          <a:prstGeom prst="ellipse">
            <a:avLst/>
          </a:prstGeom>
          <a:solidFill>
            <a:srgbClr val="7C3AED">
              <a:alpha val="96000"/>
            </a:srgbClr>
          </a:solidFill>
          <a:ln w="12700">
            <a:solidFill>
              <a:srgbClr val="7C3AED"/>
            </a:solidFill>
            <a:prstDash val="solid"/>
          </a:ln>
        </p:spPr>
      </p:sp>
      <p:sp>
        <p:nvSpPr>
          <p:cNvPr id="57" name="Text 55"/>
          <p:cNvSpPr/>
          <p:nvPr/>
        </p:nvSpPr>
        <p:spPr>
          <a:xfrm>
            <a:off x="7818120" y="2743200"/>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E</a:t>
            </a:r>
            <a:endParaRPr lang="en-US" sz="640" dirty="0"/>
          </a:p>
        </p:txBody>
      </p:sp>
      <p:sp>
        <p:nvSpPr>
          <p:cNvPr id="58" name="Shape 56"/>
          <p:cNvSpPr/>
          <p:nvPr/>
        </p:nvSpPr>
        <p:spPr>
          <a:xfrm>
            <a:off x="9372600" y="3822192"/>
            <a:ext cx="274320" cy="274320"/>
          </a:xfrm>
          <a:prstGeom prst="ellipse">
            <a:avLst/>
          </a:prstGeom>
          <a:solidFill>
            <a:srgbClr val="00A6D6">
              <a:alpha val="96000"/>
            </a:srgbClr>
          </a:solidFill>
          <a:ln w="12700">
            <a:solidFill>
              <a:srgbClr val="00A6D6"/>
            </a:solidFill>
            <a:prstDash val="solid"/>
          </a:ln>
        </p:spPr>
      </p:sp>
      <p:sp>
        <p:nvSpPr>
          <p:cNvPr id="59" name="Text 57"/>
          <p:cNvSpPr/>
          <p:nvPr/>
        </p:nvSpPr>
        <p:spPr>
          <a:xfrm>
            <a:off x="9372600" y="3895344"/>
            <a:ext cx="274320" cy="73152"/>
          </a:xfrm>
          <a:prstGeom prst="rect">
            <a:avLst/>
          </a:prstGeom>
          <a:noFill/>
          <a:ln/>
        </p:spPr>
        <p:txBody>
          <a:bodyPr wrap="square" lIns="0" tIns="0" rIns="0" bIns="0" rtlCol="0" anchor="t">
            <a:normAutofit/>
          </a:bodyPr>
          <a:lstStyle/>
          <a:p>
            <a:pPr algn="ctr" indent="0" marL="0">
              <a:buNone/>
            </a:pPr>
            <a:r>
              <a:rPr lang="en-US" sz="640" b="1" dirty="0">
                <a:solidFill>
                  <a:srgbClr val="FFFFFF"/>
                </a:solidFill>
                <a:latin typeface="Aptos" pitchFamily="34" charset="0"/>
                <a:ea typeface="Aptos" pitchFamily="34" charset="-122"/>
                <a:cs typeface="Aptos" pitchFamily="34" charset="-120"/>
              </a:rPr>
              <a:t>F</a:t>
            </a:r>
            <a:endParaRPr lang="en-US" sz="640" dirty="0"/>
          </a:p>
        </p:txBody>
      </p:sp>
      <p:sp>
        <p:nvSpPr>
          <p:cNvPr id="60" name="Text 58"/>
          <p:cNvSpPr/>
          <p:nvPr/>
        </p:nvSpPr>
        <p:spPr>
          <a:xfrm>
            <a:off x="9006840" y="2157984"/>
            <a:ext cx="1051560" cy="128016"/>
          </a:xfrm>
          <a:prstGeom prst="rect">
            <a:avLst/>
          </a:prstGeom>
          <a:noFill/>
          <a:ln/>
        </p:spPr>
        <p:txBody>
          <a:bodyPr wrap="square" lIns="0" tIns="0" rIns="0" bIns="0" rtlCol="0" anchor="t">
            <a:normAutofit/>
          </a:bodyPr>
          <a:lstStyle/>
          <a:p>
            <a:pPr algn="ctr" indent="0" marL="0">
              <a:buNone/>
            </a:pPr>
            <a:r>
              <a:rPr lang="en-US" sz="720" b="1" dirty="0">
                <a:solidFill>
                  <a:srgbClr val="DC2626"/>
                </a:solidFill>
                <a:latin typeface="Aptos" pitchFamily="34" charset="0"/>
                <a:ea typeface="Aptos" pitchFamily="34" charset="-122"/>
                <a:cs typeface="Aptos" pitchFamily="34" charset="-120"/>
              </a:rPr>
              <a:t>Watch zone</a:t>
            </a:r>
            <a:endParaRPr lang="en-US" sz="720" dirty="0"/>
          </a:p>
        </p:txBody>
      </p:sp>
      <p:sp>
        <p:nvSpPr>
          <p:cNvPr id="61" name="Text 59"/>
          <p:cNvSpPr/>
          <p:nvPr/>
        </p:nvSpPr>
        <p:spPr>
          <a:xfrm>
            <a:off x="7086600" y="4416552"/>
            <a:ext cx="1234440" cy="128016"/>
          </a:xfrm>
          <a:prstGeom prst="rect">
            <a:avLst/>
          </a:prstGeom>
          <a:noFill/>
          <a:ln/>
        </p:spPr>
        <p:txBody>
          <a:bodyPr wrap="square" lIns="0" tIns="0" rIns="0" bIns="0" rtlCol="0" anchor="t">
            <a:normAutofit/>
          </a:bodyPr>
          <a:lstStyle/>
          <a:p>
            <a:pPr algn="l" indent="0" marL="0">
              <a:buNone/>
            </a:pPr>
            <a:r>
              <a:rPr lang="en-US" sz="700" b="1" dirty="0">
                <a:solidFill>
                  <a:srgbClr val="64748B"/>
                </a:solidFill>
                <a:latin typeface="Aptos" pitchFamily="34" charset="0"/>
                <a:ea typeface="Aptos" pitchFamily="34" charset="-122"/>
                <a:cs typeface="Aptos" pitchFamily="34" charset="-120"/>
              </a:rPr>
              <a:t>Whitespace / low risk</a:t>
            </a:r>
            <a:endParaRPr lang="en-US" sz="700" dirty="0"/>
          </a:p>
        </p:txBody>
      </p:sp>
      <p:sp>
        <p:nvSpPr>
          <p:cNvPr id="62" name="Shape 60"/>
          <p:cNvSpPr/>
          <p:nvPr/>
        </p:nvSpPr>
        <p:spPr>
          <a:xfrm>
            <a:off x="658368" y="5632704"/>
            <a:ext cx="10881360" cy="429768"/>
          </a:xfrm>
          <a:prstGeom prst="roundRect">
            <a:avLst>
              <a:gd name="adj" fmla="val 17021"/>
            </a:avLst>
          </a:prstGeom>
          <a:solidFill>
            <a:srgbClr val="F8FAFC"/>
          </a:solidFill>
          <a:ln w="13970">
            <a:solidFill>
              <a:srgbClr val="00A6D6"/>
            </a:solidFill>
            <a:prstDash val="solid"/>
          </a:ln>
        </p:spPr>
      </p:sp>
      <p:sp>
        <p:nvSpPr>
          <p:cNvPr id="63" name="Shape 61"/>
          <p:cNvSpPr/>
          <p:nvPr/>
        </p:nvSpPr>
        <p:spPr>
          <a:xfrm>
            <a:off x="658368" y="5632704"/>
            <a:ext cx="91440" cy="429768"/>
          </a:xfrm>
          <a:prstGeom prst="rect">
            <a:avLst/>
          </a:prstGeom>
          <a:solidFill>
            <a:srgbClr val="00A6D6"/>
          </a:solidFill>
          <a:ln w="12700">
            <a:solidFill>
              <a:srgbClr val="00A6D6"/>
            </a:solidFill>
            <a:prstDash val="solid"/>
          </a:ln>
        </p:spPr>
      </p:sp>
      <p:sp>
        <p:nvSpPr>
          <p:cNvPr id="64" name="Text 62"/>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Landscape work turns patent searching into business-relevant IP intelligence.</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F59E0B"/>
                </a:solidFill>
              </a:rPr>
              <a:t>A | ANALYSE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5: patentability analysis</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apply legal filters to technical facts and prior-art evidence before filing decisions are made.</a:t>
            </a:r>
            <a:endParaRPr lang="en-US" sz="1050" dirty="0"/>
          </a:p>
        </p:txBody>
      </p:sp>
      <p:sp>
        <p:nvSpPr>
          <p:cNvPr id="9" name="Shape 7"/>
          <p:cNvSpPr/>
          <p:nvPr/>
        </p:nvSpPr>
        <p:spPr>
          <a:xfrm>
            <a:off x="566928" y="1499616"/>
            <a:ext cx="1920240" cy="0"/>
          </a:xfrm>
          <a:prstGeom prst="line">
            <a:avLst/>
          </a:prstGeom>
          <a:noFill/>
          <a:ln w="27940">
            <a:solidFill>
              <a:srgbClr val="F59E0B"/>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10</a:t>
            </a:r>
            <a:endParaRPr lang="en-US" sz="800" dirty="0"/>
          </a:p>
        </p:txBody>
      </p:sp>
      <p:sp>
        <p:nvSpPr>
          <p:cNvPr id="27" name="Shape 25"/>
          <p:cNvSpPr/>
          <p:nvPr/>
        </p:nvSpPr>
        <p:spPr>
          <a:xfrm>
            <a:off x="10104120" y="438912"/>
            <a:ext cx="1389888" cy="475488"/>
          </a:xfrm>
          <a:prstGeom prst="roundRect">
            <a:avLst>
              <a:gd name="adj" fmla="val 19231"/>
            </a:avLst>
          </a:prstGeom>
          <a:solidFill>
            <a:srgbClr val="F59E0B"/>
          </a:solidFill>
          <a:ln w="12700">
            <a:solidFill>
              <a:srgbClr val="F59E0B"/>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 | Analyse</a:t>
            </a:r>
            <a:endParaRPr lang="en-US" sz="850" dirty="0"/>
          </a:p>
        </p:txBody>
      </p:sp>
      <p:sp>
        <p:nvSpPr>
          <p:cNvPr id="29" name="Shape 27"/>
          <p:cNvSpPr/>
          <p:nvPr/>
        </p:nvSpPr>
        <p:spPr>
          <a:xfrm>
            <a:off x="841248" y="1847088"/>
            <a:ext cx="4828032" cy="950976"/>
          </a:xfrm>
          <a:prstGeom prst="roundRect">
            <a:avLst>
              <a:gd name="adj" fmla="val 7692"/>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30" name="Shape 28"/>
          <p:cNvSpPr/>
          <p:nvPr/>
        </p:nvSpPr>
        <p:spPr>
          <a:xfrm>
            <a:off x="1069848" y="2066544"/>
            <a:ext cx="384048" cy="384048"/>
          </a:xfrm>
          <a:prstGeom prst="ellipse">
            <a:avLst/>
          </a:prstGeom>
          <a:solidFill>
            <a:srgbClr val="1D4ED8"/>
          </a:solidFill>
          <a:ln w="12700">
            <a:solidFill>
              <a:srgbClr val="1D4ED8"/>
            </a:solidFill>
            <a:prstDash val="solid"/>
          </a:ln>
        </p:spPr>
      </p:sp>
      <p:sp>
        <p:nvSpPr>
          <p:cNvPr id="31" name="Text 29"/>
          <p:cNvSpPr/>
          <p:nvPr/>
        </p:nvSpPr>
        <p:spPr>
          <a:xfrm>
            <a:off x="1069848" y="2167128"/>
            <a:ext cx="384048" cy="91440"/>
          </a:xfrm>
          <a:prstGeom prst="rect">
            <a:avLst/>
          </a:prstGeom>
          <a:noFill/>
          <a:ln/>
        </p:spPr>
        <p:txBody>
          <a:bodyPr wrap="square" lIns="0" tIns="0" rIns="0" bIns="0" rtlCol="0" anchor="t">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1</a:t>
            </a:r>
            <a:endParaRPr lang="en-US" sz="860" dirty="0"/>
          </a:p>
        </p:txBody>
      </p:sp>
      <p:sp>
        <p:nvSpPr>
          <p:cNvPr id="32" name="Text 30"/>
          <p:cNvSpPr/>
          <p:nvPr/>
        </p:nvSpPr>
        <p:spPr>
          <a:xfrm>
            <a:off x="1609344" y="2029968"/>
            <a:ext cx="1481328" cy="182880"/>
          </a:xfrm>
          <a:prstGeom prst="rect">
            <a:avLst/>
          </a:prstGeom>
          <a:noFill/>
          <a:ln/>
        </p:spPr>
        <p:txBody>
          <a:bodyPr wrap="square" lIns="0" tIns="0" rIns="0" bIns="0" rtlCol="0" anchor="t">
            <a:normAutofit/>
          </a:bodyPr>
          <a:lstStyle/>
          <a:p>
            <a:pPr algn="l" indent="0" marL="0">
              <a:buNone/>
            </a:pPr>
            <a:r>
              <a:rPr lang="en-US" sz="1180" b="1" dirty="0">
                <a:solidFill>
                  <a:srgbClr val="111827"/>
                </a:solidFill>
                <a:latin typeface="Aptos" pitchFamily="34" charset="0"/>
                <a:ea typeface="Aptos" pitchFamily="34" charset="-122"/>
                <a:cs typeface="Aptos" pitchFamily="34" charset="-120"/>
              </a:rPr>
              <a:t>Novelty</a:t>
            </a:r>
            <a:endParaRPr lang="en-US" sz="1180" dirty="0"/>
          </a:p>
        </p:txBody>
      </p:sp>
      <p:sp>
        <p:nvSpPr>
          <p:cNvPr id="33" name="Text 31"/>
          <p:cNvSpPr/>
          <p:nvPr/>
        </p:nvSpPr>
        <p:spPr>
          <a:xfrm>
            <a:off x="1609344" y="2340864"/>
            <a:ext cx="3611880" cy="228600"/>
          </a:xfrm>
          <a:prstGeom prst="rect">
            <a:avLst/>
          </a:prstGeom>
          <a:noFill/>
          <a:ln/>
        </p:spPr>
        <p:txBody>
          <a:bodyPr wrap="square" lIns="0" tIns="0" rIns="0" bIns="0" rtlCol="0" anchor="t">
            <a:normAutofit/>
          </a:bodyPr>
          <a:lstStyle/>
          <a:p>
            <a:pPr algn="l" indent="0" marL="0">
              <a:buNone/>
            </a:pPr>
            <a:r>
              <a:rPr lang="en-US" sz="830" dirty="0">
                <a:solidFill>
                  <a:srgbClr val="475569"/>
                </a:solidFill>
                <a:latin typeface="Aptos" pitchFamily="34" charset="0"/>
                <a:ea typeface="Aptos" pitchFamily="34" charset="-122"/>
                <a:cs typeface="Aptos" pitchFamily="34" charset="-120"/>
              </a:rPr>
              <a:t>Is every material feature absent from a single prior-art reference?</a:t>
            </a:r>
            <a:endParaRPr lang="en-US" sz="830" dirty="0"/>
          </a:p>
        </p:txBody>
      </p:sp>
      <p:sp>
        <p:nvSpPr>
          <p:cNvPr id="34" name="Shape 32"/>
          <p:cNvSpPr/>
          <p:nvPr/>
        </p:nvSpPr>
        <p:spPr>
          <a:xfrm>
            <a:off x="6190488" y="1847088"/>
            <a:ext cx="4828032" cy="950976"/>
          </a:xfrm>
          <a:prstGeom prst="roundRect">
            <a:avLst>
              <a:gd name="adj" fmla="val 7692"/>
            </a:avLst>
          </a:prstGeom>
          <a:solidFill>
            <a:srgbClr val="FFFFFF"/>
          </a:solidFill>
          <a:ln w="13970">
            <a:solidFill>
              <a:srgbClr val="F59E0B"/>
            </a:solidFill>
            <a:prstDash val="solid"/>
          </a:ln>
          <a:effectLst>
            <a:outerShdw sx="100000" sy="100000" kx="0" ky="0" algn="bl" rotWithShape="0" blurRad="12700" dist="50800" dir="2700000">
              <a:srgbClr val="9AA6B2">
                <a:alpha val="16000"/>
              </a:srgbClr>
            </a:outerShdw>
          </a:effectLst>
        </p:spPr>
      </p:sp>
      <p:sp>
        <p:nvSpPr>
          <p:cNvPr id="35" name="Shape 33"/>
          <p:cNvSpPr/>
          <p:nvPr/>
        </p:nvSpPr>
        <p:spPr>
          <a:xfrm>
            <a:off x="6419088" y="2066544"/>
            <a:ext cx="384048" cy="384048"/>
          </a:xfrm>
          <a:prstGeom prst="ellipse">
            <a:avLst/>
          </a:prstGeom>
          <a:solidFill>
            <a:srgbClr val="F59E0B"/>
          </a:solidFill>
          <a:ln w="12700">
            <a:solidFill>
              <a:srgbClr val="F59E0B"/>
            </a:solidFill>
            <a:prstDash val="solid"/>
          </a:ln>
        </p:spPr>
      </p:sp>
      <p:sp>
        <p:nvSpPr>
          <p:cNvPr id="36" name="Text 34"/>
          <p:cNvSpPr/>
          <p:nvPr/>
        </p:nvSpPr>
        <p:spPr>
          <a:xfrm>
            <a:off x="6419088" y="2167128"/>
            <a:ext cx="384048" cy="91440"/>
          </a:xfrm>
          <a:prstGeom prst="rect">
            <a:avLst/>
          </a:prstGeom>
          <a:noFill/>
          <a:ln/>
        </p:spPr>
        <p:txBody>
          <a:bodyPr wrap="square" lIns="0" tIns="0" rIns="0" bIns="0" rtlCol="0" anchor="t">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2</a:t>
            </a:r>
            <a:endParaRPr lang="en-US" sz="860" dirty="0"/>
          </a:p>
        </p:txBody>
      </p:sp>
      <p:sp>
        <p:nvSpPr>
          <p:cNvPr id="37" name="Text 35"/>
          <p:cNvSpPr/>
          <p:nvPr/>
        </p:nvSpPr>
        <p:spPr>
          <a:xfrm>
            <a:off x="6958584" y="2029968"/>
            <a:ext cx="1481328" cy="182880"/>
          </a:xfrm>
          <a:prstGeom prst="rect">
            <a:avLst/>
          </a:prstGeom>
          <a:noFill/>
          <a:ln/>
        </p:spPr>
        <p:txBody>
          <a:bodyPr wrap="square" lIns="0" tIns="0" rIns="0" bIns="0" rtlCol="0" anchor="t">
            <a:normAutofit/>
          </a:bodyPr>
          <a:lstStyle/>
          <a:p>
            <a:pPr algn="l" indent="0" marL="0">
              <a:buNone/>
            </a:pPr>
            <a:r>
              <a:rPr lang="en-US" sz="1180" b="1" dirty="0">
                <a:solidFill>
                  <a:srgbClr val="111827"/>
                </a:solidFill>
                <a:latin typeface="Aptos" pitchFamily="34" charset="0"/>
                <a:ea typeface="Aptos" pitchFamily="34" charset="-122"/>
                <a:cs typeface="Aptos" pitchFamily="34" charset="-120"/>
              </a:rPr>
              <a:t>Inventive step</a:t>
            </a:r>
            <a:endParaRPr lang="en-US" sz="1180" dirty="0"/>
          </a:p>
        </p:txBody>
      </p:sp>
      <p:sp>
        <p:nvSpPr>
          <p:cNvPr id="38" name="Text 36"/>
          <p:cNvSpPr/>
          <p:nvPr/>
        </p:nvSpPr>
        <p:spPr>
          <a:xfrm>
            <a:off x="6958584" y="2340864"/>
            <a:ext cx="3611880" cy="228600"/>
          </a:xfrm>
          <a:prstGeom prst="rect">
            <a:avLst/>
          </a:prstGeom>
          <a:noFill/>
          <a:ln/>
        </p:spPr>
        <p:txBody>
          <a:bodyPr wrap="square" lIns="0" tIns="0" rIns="0" bIns="0" rtlCol="0" anchor="t">
            <a:normAutofit/>
          </a:bodyPr>
          <a:lstStyle/>
          <a:p>
            <a:pPr algn="l" indent="0" marL="0">
              <a:buNone/>
            </a:pPr>
            <a:r>
              <a:rPr lang="en-US" sz="830" dirty="0">
                <a:solidFill>
                  <a:srgbClr val="475569"/>
                </a:solidFill>
                <a:latin typeface="Aptos" pitchFamily="34" charset="0"/>
                <a:ea typeface="Aptos" pitchFamily="34" charset="-122"/>
                <a:cs typeface="Aptos" pitchFamily="34" charset="-120"/>
              </a:rPr>
              <a:t>Would the technical advance be non-obvious over the closest prior art?</a:t>
            </a:r>
            <a:endParaRPr lang="en-US" sz="830" dirty="0"/>
          </a:p>
        </p:txBody>
      </p:sp>
      <p:sp>
        <p:nvSpPr>
          <p:cNvPr id="39" name="Shape 37"/>
          <p:cNvSpPr/>
          <p:nvPr/>
        </p:nvSpPr>
        <p:spPr>
          <a:xfrm>
            <a:off x="841248" y="3200400"/>
            <a:ext cx="4828032" cy="950976"/>
          </a:xfrm>
          <a:prstGeom prst="roundRect">
            <a:avLst>
              <a:gd name="adj" fmla="val 7692"/>
            </a:avLst>
          </a:prstGeom>
          <a:solidFill>
            <a:srgbClr val="FFFFFF"/>
          </a:solidFill>
          <a:ln w="13970">
            <a:solidFill>
              <a:srgbClr val="16A34A"/>
            </a:solidFill>
            <a:prstDash val="solid"/>
          </a:ln>
          <a:effectLst>
            <a:outerShdw sx="100000" sy="100000" kx="0" ky="0" algn="bl" rotWithShape="0" blurRad="12700" dist="50800" dir="2700000">
              <a:srgbClr val="9AA6B2">
                <a:alpha val="16000"/>
              </a:srgbClr>
            </a:outerShdw>
          </a:effectLst>
        </p:spPr>
      </p:sp>
      <p:sp>
        <p:nvSpPr>
          <p:cNvPr id="40" name="Shape 38"/>
          <p:cNvSpPr/>
          <p:nvPr/>
        </p:nvSpPr>
        <p:spPr>
          <a:xfrm>
            <a:off x="1069848" y="3419856"/>
            <a:ext cx="384048" cy="384048"/>
          </a:xfrm>
          <a:prstGeom prst="ellipse">
            <a:avLst/>
          </a:prstGeom>
          <a:solidFill>
            <a:srgbClr val="16A34A"/>
          </a:solidFill>
          <a:ln w="12700">
            <a:solidFill>
              <a:srgbClr val="16A34A"/>
            </a:solidFill>
            <a:prstDash val="solid"/>
          </a:ln>
        </p:spPr>
      </p:sp>
      <p:sp>
        <p:nvSpPr>
          <p:cNvPr id="41" name="Text 39"/>
          <p:cNvSpPr/>
          <p:nvPr/>
        </p:nvSpPr>
        <p:spPr>
          <a:xfrm>
            <a:off x="1069848" y="3520440"/>
            <a:ext cx="384048" cy="91440"/>
          </a:xfrm>
          <a:prstGeom prst="rect">
            <a:avLst/>
          </a:prstGeom>
          <a:noFill/>
          <a:ln/>
        </p:spPr>
        <p:txBody>
          <a:bodyPr wrap="square" lIns="0" tIns="0" rIns="0" bIns="0" rtlCol="0" anchor="t">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3</a:t>
            </a:r>
            <a:endParaRPr lang="en-US" sz="860" dirty="0"/>
          </a:p>
        </p:txBody>
      </p:sp>
      <p:sp>
        <p:nvSpPr>
          <p:cNvPr id="42" name="Text 40"/>
          <p:cNvSpPr/>
          <p:nvPr/>
        </p:nvSpPr>
        <p:spPr>
          <a:xfrm>
            <a:off x="1609344" y="3383280"/>
            <a:ext cx="1481328" cy="182880"/>
          </a:xfrm>
          <a:prstGeom prst="rect">
            <a:avLst/>
          </a:prstGeom>
          <a:noFill/>
          <a:ln/>
        </p:spPr>
        <p:txBody>
          <a:bodyPr wrap="square" lIns="0" tIns="0" rIns="0" bIns="0" rtlCol="0" anchor="t">
            <a:normAutofit/>
          </a:bodyPr>
          <a:lstStyle/>
          <a:p>
            <a:pPr algn="l" indent="0" marL="0">
              <a:buNone/>
            </a:pPr>
            <a:r>
              <a:rPr lang="en-US" sz="1180" b="1" dirty="0">
                <a:solidFill>
                  <a:srgbClr val="111827"/>
                </a:solidFill>
                <a:latin typeface="Aptos" pitchFamily="34" charset="0"/>
                <a:ea typeface="Aptos" pitchFamily="34" charset="-122"/>
                <a:cs typeface="Aptos" pitchFamily="34" charset="-120"/>
              </a:rPr>
              <a:t>Industrial application</a:t>
            </a:r>
            <a:endParaRPr lang="en-US" sz="1180" dirty="0"/>
          </a:p>
        </p:txBody>
      </p:sp>
      <p:sp>
        <p:nvSpPr>
          <p:cNvPr id="43" name="Text 41"/>
          <p:cNvSpPr/>
          <p:nvPr/>
        </p:nvSpPr>
        <p:spPr>
          <a:xfrm>
            <a:off x="1609344" y="3694176"/>
            <a:ext cx="3611880" cy="228600"/>
          </a:xfrm>
          <a:prstGeom prst="rect">
            <a:avLst/>
          </a:prstGeom>
          <a:noFill/>
          <a:ln/>
        </p:spPr>
        <p:txBody>
          <a:bodyPr wrap="square" lIns="0" tIns="0" rIns="0" bIns="0" rtlCol="0" anchor="t">
            <a:normAutofit/>
          </a:bodyPr>
          <a:lstStyle/>
          <a:p>
            <a:pPr algn="l" indent="0" marL="0">
              <a:buNone/>
            </a:pPr>
            <a:r>
              <a:rPr lang="en-US" sz="830" dirty="0">
                <a:solidFill>
                  <a:srgbClr val="475569"/>
                </a:solidFill>
                <a:latin typeface="Aptos" pitchFamily="34" charset="0"/>
                <a:ea typeface="Aptos" pitchFamily="34" charset="-122"/>
                <a:cs typeface="Aptos" pitchFamily="34" charset="-120"/>
              </a:rPr>
              <a:t>Can the invention be made or used in industry?</a:t>
            </a:r>
            <a:endParaRPr lang="en-US" sz="830" dirty="0"/>
          </a:p>
        </p:txBody>
      </p:sp>
      <p:sp>
        <p:nvSpPr>
          <p:cNvPr id="44" name="Shape 42"/>
          <p:cNvSpPr/>
          <p:nvPr/>
        </p:nvSpPr>
        <p:spPr>
          <a:xfrm>
            <a:off x="6190488" y="3200400"/>
            <a:ext cx="4828032" cy="950976"/>
          </a:xfrm>
          <a:prstGeom prst="roundRect">
            <a:avLst>
              <a:gd name="adj" fmla="val 7692"/>
            </a:avLst>
          </a:prstGeom>
          <a:solidFill>
            <a:srgbClr val="FFFFFF"/>
          </a:solidFill>
          <a:ln w="13970">
            <a:solidFill>
              <a:srgbClr val="7C3AED"/>
            </a:solidFill>
            <a:prstDash val="solid"/>
          </a:ln>
          <a:effectLst>
            <a:outerShdw sx="100000" sy="100000" kx="0" ky="0" algn="bl" rotWithShape="0" blurRad="12700" dist="50800" dir="2700000">
              <a:srgbClr val="9AA6B2">
                <a:alpha val="16000"/>
              </a:srgbClr>
            </a:outerShdw>
          </a:effectLst>
        </p:spPr>
      </p:sp>
      <p:sp>
        <p:nvSpPr>
          <p:cNvPr id="45" name="Shape 43"/>
          <p:cNvSpPr/>
          <p:nvPr/>
        </p:nvSpPr>
        <p:spPr>
          <a:xfrm>
            <a:off x="6419088" y="3419856"/>
            <a:ext cx="384048" cy="384048"/>
          </a:xfrm>
          <a:prstGeom prst="ellipse">
            <a:avLst/>
          </a:prstGeom>
          <a:solidFill>
            <a:srgbClr val="7C3AED"/>
          </a:solidFill>
          <a:ln w="12700">
            <a:solidFill>
              <a:srgbClr val="7C3AED"/>
            </a:solidFill>
            <a:prstDash val="solid"/>
          </a:ln>
        </p:spPr>
      </p:sp>
      <p:sp>
        <p:nvSpPr>
          <p:cNvPr id="46" name="Text 44"/>
          <p:cNvSpPr/>
          <p:nvPr/>
        </p:nvSpPr>
        <p:spPr>
          <a:xfrm>
            <a:off x="6419088" y="3520440"/>
            <a:ext cx="384048" cy="91440"/>
          </a:xfrm>
          <a:prstGeom prst="rect">
            <a:avLst/>
          </a:prstGeom>
          <a:noFill/>
          <a:ln/>
        </p:spPr>
        <p:txBody>
          <a:bodyPr wrap="square" lIns="0" tIns="0" rIns="0" bIns="0" rtlCol="0" anchor="t">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4</a:t>
            </a:r>
            <a:endParaRPr lang="en-US" sz="860" dirty="0"/>
          </a:p>
        </p:txBody>
      </p:sp>
      <p:sp>
        <p:nvSpPr>
          <p:cNvPr id="47" name="Text 45"/>
          <p:cNvSpPr/>
          <p:nvPr/>
        </p:nvSpPr>
        <p:spPr>
          <a:xfrm>
            <a:off x="6958584" y="3383280"/>
            <a:ext cx="1481328" cy="182880"/>
          </a:xfrm>
          <a:prstGeom prst="rect">
            <a:avLst/>
          </a:prstGeom>
          <a:noFill/>
          <a:ln/>
        </p:spPr>
        <p:txBody>
          <a:bodyPr wrap="square" lIns="0" tIns="0" rIns="0" bIns="0" rtlCol="0" anchor="t">
            <a:normAutofit/>
          </a:bodyPr>
          <a:lstStyle/>
          <a:p>
            <a:pPr algn="l" indent="0" marL="0">
              <a:buNone/>
            </a:pPr>
            <a:r>
              <a:rPr lang="en-US" sz="1180" b="1" dirty="0">
                <a:solidFill>
                  <a:srgbClr val="111827"/>
                </a:solidFill>
                <a:latin typeface="Aptos" pitchFamily="34" charset="0"/>
                <a:ea typeface="Aptos" pitchFamily="34" charset="-122"/>
                <a:cs typeface="Aptos" pitchFamily="34" charset="-120"/>
              </a:rPr>
              <a:t>Exclusions / support</a:t>
            </a:r>
            <a:endParaRPr lang="en-US" sz="1180" dirty="0"/>
          </a:p>
        </p:txBody>
      </p:sp>
      <p:sp>
        <p:nvSpPr>
          <p:cNvPr id="48" name="Text 46"/>
          <p:cNvSpPr/>
          <p:nvPr/>
        </p:nvSpPr>
        <p:spPr>
          <a:xfrm>
            <a:off x="6958584" y="3694176"/>
            <a:ext cx="3611880" cy="228600"/>
          </a:xfrm>
          <a:prstGeom prst="rect">
            <a:avLst/>
          </a:prstGeom>
          <a:noFill/>
          <a:ln/>
        </p:spPr>
        <p:txBody>
          <a:bodyPr wrap="square" lIns="0" tIns="0" rIns="0" bIns="0" rtlCol="0" anchor="t">
            <a:normAutofit/>
          </a:bodyPr>
          <a:lstStyle/>
          <a:p>
            <a:pPr algn="l" indent="0" marL="0">
              <a:buNone/>
            </a:pPr>
            <a:r>
              <a:rPr lang="en-US" sz="830" dirty="0">
                <a:solidFill>
                  <a:srgbClr val="475569"/>
                </a:solidFill>
                <a:latin typeface="Aptos" pitchFamily="34" charset="0"/>
                <a:ea typeface="Aptos" pitchFamily="34" charset="-122"/>
                <a:cs typeface="Aptos" pitchFamily="34" charset="-120"/>
              </a:rPr>
              <a:t>Are statutory exclusions, sufficiency, clarity or claim-support issues present?</a:t>
            </a:r>
            <a:endParaRPr lang="en-US" sz="830" dirty="0"/>
          </a:p>
        </p:txBody>
      </p:sp>
      <p:sp>
        <p:nvSpPr>
          <p:cNvPr id="49" name="Shape 47"/>
          <p:cNvSpPr/>
          <p:nvPr/>
        </p:nvSpPr>
        <p:spPr>
          <a:xfrm>
            <a:off x="1965960" y="4617720"/>
            <a:ext cx="8229600" cy="621792"/>
          </a:xfrm>
          <a:prstGeom prst="roundRect">
            <a:avLst>
              <a:gd name="adj" fmla="val 11765"/>
            </a:avLst>
          </a:prstGeom>
          <a:solidFill>
            <a:srgbClr val="FFF7E6"/>
          </a:solidFill>
          <a:ln w="11430">
            <a:solidFill>
              <a:srgbClr val="F59E0B"/>
            </a:solidFill>
            <a:prstDash val="solid"/>
          </a:ln>
        </p:spPr>
      </p:sp>
      <p:sp>
        <p:nvSpPr>
          <p:cNvPr id="50" name="Text 48"/>
          <p:cNvSpPr/>
          <p:nvPr/>
        </p:nvSpPr>
        <p:spPr>
          <a:xfrm>
            <a:off x="2240280" y="4828032"/>
            <a:ext cx="658368" cy="118872"/>
          </a:xfrm>
          <a:prstGeom prst="rect">
            <a:avLst/>
          </a:prstGeom>
          <a:noFill/>
          <a:ln/>
        </p:spPr>
        <p:txBody>
          <a:bodyPr wrap="square" lIns="0" tIns="0" rIns="0" bIns="0" rtlCol="0" anchor="t">
            <a:normAutofit/>
          </a:bodyPr>
          <a:lstStyle/>
          <a:p>
            <a:pPr algn="l" indent="0" marL="0">
              <a:buNone/>
            </a:pPr>
            <a:r>
              <a:rPr lang="en-US" sz="880" b="1" dirty="0">
                <a:solidFill>
                  <a:srgbClr val="EA580C"/>
                </a:solidFill>
                <a:latin typeface="Aptos" pitchFamily="34" charset="0"/>
                <a:ea typeface="Aptos" pitchFamily="34" charset="-122"/>
                <a:cs typeface="Aptos" pitchFamily="34" charset="-120"/>
              </a:rPr>
              <a:t>Output:</a:t>
            </a:r>
            <a:endParaRPr lang="en-US" sz="880" dirty="0"/>
          </a:p>
        </p:txBody>
      </p:sp>
      <p:sp>
        <p:nvSpPr>
          <p:cNvPr id="51" name="Text 49"/>
          <p:cNvSpPr/>
          <p:nvPr/>
        </p:nvSpPr>
        <p:spPr>
          <a:xfrm>
            <a:off x="2926080" y="4828032"/>
            <a:ext cx="6766560" cy="118872"/>
          </a:xfrm>
          <a:prstGeom prst="rect">
            <a:avLst/>
          </a:prstGeom>
          <a:noFill/>
          <a:ln/>
        </p:spPr>
        <p:txBody>
          <a:bodyPr wrap="square" lIns="0" tIns="0" rIns="0" bIns="0" rtlCol="0" anchor="t">
            <a:normAutofit/>
          </a:bodyPr>
          <a:lstStyle/>
          <a:p>
            <a:pPr algn="l" indent="0" marL="0">
              <a:buNone/>
            </a:pPr>
            <a:r>
              <a:rPr lang="en-US" sz="880" dirty="0">
                <a:solidFill>
                  <a:srgbClr val="111827"/>
                </a:solidFill>
                <a:latin typeface="Aptos" pitchFamily="34" charset="0"/>
                <a:ea typeface="Aptos" pitchFamily="34" charset="-122"/>
                <a:cs typeface="Aptos" pitchFamily="34" charset="-120"/>
              </a:rPr>
              <a:t>patentability note with closest references, feature mapping, legal issues and recommendation for senior review.</a:t>
            </a:r>
            <a:endParaRPr lang="en-US" sz="880" dirty="0"/>
          </a:p>
        </p:txBody>
      </p:sp>
      <p:sp>
        <p:nvSpPr>
          <p:cNvPr id="52" name="Shape 50"/>
          <p:cNvSpPr/>
          <p:nvPr/>
        </p:nvSpPr>
        <p:spPr>
          <a:xfrm>
            <a:off x="658368" y="5632704"/>
            <a:ext cx="10881360" cy="429768"/>
          </a:xfrm>
          <a:prstGeom prst="roundRect">
            <a:avLst>
              <a:gd name="adj" fmla="val 17021"/>
            </a:avLst>
          </a:prstGeom>
          <a:solidFill>
            <a:srgbClr val="F8FAFC"/>
          </a:solidFill>
          <a:ln w="13970">
            <a:solidFill>
              <a:srgbClr val="F59E0B"/>
            </a:solidFill>
            <a:prstDash val="solid"/>
          </a:ln>
        </p:spPr>
      </p:sp>
      <p:sp>
        <p:nvSpPr>
          <p:cNvPr id="53" name="Shape 51"/>
          <p:cNvSpPr/>
          <p:nvPr/>
        </p:nvSpPr>
        <p:spPr>
          <a:xfrm>
            <a:off x="658368" y="5632704"/>
            <a:ext cx="91440" cy="429768"/>
          </a:xfrm>
          <a:prstGeom prst="rect">
            <a:avLst/>
          </a:prstGeom>
          <a:solidFill>
            <a:srgbClr val="F59E0B"/>
          </a:solidFill>
          <a:ln w="12700">
            <a:solidFill>
              <a:srgbClr val="F59E0B"/>
            </a:solidFill>
            <a:prstDash val="solid"/>
          </a:ln>
        </p:spPr>
      </p:sp>
      <p:sp>
        <p:nvSpPr>
          <p:cNvPr id="54" name="Text 52"/>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Patentability analysis is law applied to evidence, not a generic opinion that something is “new”.</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F59E0B"/>
                </a:solidFill>
              </a:rPr>
              <a:t>A | ANALYSE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6: FTO and infringement-risk screening</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distinguish “can we patent this?” from “can this product or feature be practiced safely?”</a:t>
            </a:r>
            <a:endParaRPr lang="en-US" sz="1050" dirty="0"/>
          </a:p>
        </p:txBody>
      </p:sp>
      <p:sp>
        <p:nvSpPr>
          <p:cNvPr id="9" name="Shape 7"/>
          <p:cNvSpPr/>
          <p:nvPr/>
        </p:nvSpPr>
        <p:spPr>
          <a:xfrm>
            <a:off x="566928" y="1499616"/>
            <a:ext cx="1920240" cy="0"/>
          </a:xfrm>
          <a:prstGeom prst="line">
            <a:avLst/>
          </a:prstGeom>
          <a:noFill/>
          <a:ln w="27940">
            <a:solidFill>
              <a:srgbClr val="F59E0B"/>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11</a:t>
            </a:r>
            <a:endParaRPr lang="en-US" sz="800" dirty="0"/>
          </a:p>
        </p:txBody>
      </p:sp>
      <p:sp>
        <p:nvSpPr>
          <p:cNvPr id="27" name="Shape 25"/>
          <p:cNvSpPr/>
          <p:nvPr/>
        </p:nvSpPr>
        <p:spPr>
          <a:xfrm>
            <a:off x="10104120" y="438912"/>
            <a:ext cx="1389888" cy="475488"/>
          </a:xfrm>
          <a:prstGeom prst="roundRect">
            <a:avLst>
              <a:gd name="adj" fmla="val 19231"/>
            </a:avLst>
          </a:prstGeom>
          <a:solidFill>
            <a:srgbClr val="F59E0B"/>
          </a:solidFill>
          <a:ln w="12700">
            <a:solidFill>
              <a:srgbClr val="F59E0B"/>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 | Analyse</a:t>
            </a:r>
            <a:endParaRPr lang="en-US" sz="850" dirty="0"/>
          </a:p>
        </p:txBody>
      </p:sp>
      <p:sp>
        <p:nvSpPr>
          <p:cNvPr id="29" name="Shape 27"/>
          <p:cNvSpPr/>
          <p:nvPr/>
        </p:nvSpPr>
        <p:spPr>
          <a:xfrm>
            <a:off x="749808" y="1865376"/>
            <a:ext cx="5120640" cy="2468880"/>
          </a:xfrm>
          <a:prstGeom prst="roundRect">
            <a:avLst>
              <a:gd name="adj" fmla="val 2963"/>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30" name="Shape 28"/>
          <p:cNvSpPr/>
          <p:nvPr/>
        </p:nvSpPr>
        <p:spPr>
          <a:xfrm>
            <a:off x="1042416" y="2103120"/>
            <a:ext cx="1143000" cy="256032"/>
          </a:xfrm>
          <a:prstGeom prst="roundRect">
            <a:avLst>
              <a:gd name="adj" fmla="val 21429"/>
            </a:avLst>
          </a:prstGeom>
          <a:solidFill>
            <a:srgbClr val="1D4ED8"/>
          </a:solidFill>
          <a:ln w="12700">
            <a:solidFill>
              <a:srgbClr val="1D4ED8"/>
            </a:solidFill>
            <a:prstDash val="solid"/>
          </a:ln>
        </p:spPr>
      </p:sp>
      <p:sp>
        <p:nvSpPr>
          <p:cNvPr id="31" name="Text 29"/>
          <p:cNvSpPr/>
          <p:nvPr/>
        </p:nvSpPr>
        <p:spPr>
          <a:xfrm>
            <a:off x="1042416" y="2144268"/>
            <a:ext cx="114300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Patentability</a:t>
            </a:r>
            <a:endParaRPr lang="en-US" sz="720" dirty="0"/>
          </a:p>
        </p:txBody>
      </p:sp>
      <p:sp>
        <p:nvSpPr>
          <p:cNvPr id="32" name="Text 30"/>
          <p:cNvSpPr/>
          <p:nvPr/>
        </p:nvSpPr>
        <p:spPr>
          <a:xfrm>
            <a:off x="1078992" y="267004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Question</a:t>
            </a:r>
            <a:endParaRPr lang="en-US" sz="850" dirty="0"/>
          </a:p>
        </p:txBody>
      </p:sp>
      <p:sp>
        <p:nvSpPr>
          <p:cNvPr id="33" name="Text 31"/>
          <p:cNvSpPr/>
          <p:nvPr/>
        </p:nvSpPr>
        <p:spPr>
          <a:xfrm>
            <a:off x="2194560" y="2670048"/>
            <a:ext cx="3063240" cy="128016"/>
          </a:xfrm>
          <a:prstGeom prst="rect">
            <a:avLst/>
          </a:prstGeom>
          <a:noFill/>
          <a:ln/>
        </p:spPr>
        <p:txBody>
          <a:bodyPr wrap="square" lIns="0" tIns="0" rIns="0" bIns="0" rtlCol="0" anchor="t">
            <a:normAutofit/>
          </a:bodyPr>
          <a:lstStyle/>
          <a:p>
            <a:pPr algn="l" indent="0" marL="0">
              <a:buNone/>
            </a:pPr>
            <a:r>
              <a:rPr lang="en-US" sz="900" b="1" dirty="0">
                <a:solidFill>
                  <a:srgbClr val="111827"/>
                </a:solidFill>
                <a:latin typeface="Aptos" pitchFamily="34" charset="0"/>
                <a:ea typeface="Aptos" pitchFamily="34" charset="-122"/>
                <a:cs typeface="Aptos" pitchFamily="34" charset="-120"/>
              </a:rPr>
              <a:t>Can we obtain protection for this invention?</a:t>
            </a:r>
            <a:endParaRPr lang="en-US" sz="900" dirty="0"/>
          </a:p>
        </p:txBody>
      </p:sp>
      <p:sp>
        <p:nvSpPr>
          <p:cNvPr id="34" name="Text 32"/>
          <p:cNvSpPr/>
          <p:nvPr/>
        </p:nvSpPr>
        <p:spPr>
          <a:xfrm>
            <a:off x="1078992" y="321868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Focus</a:t>
            </a:r>
            <a:endParaRPr lang="en-US" sz="850" dirty="0"/>
          </a:p>
        </p:txBody>
      </p:sp>
      <p:sp>
        <p:nvSpPr>
          <p:cNvPr id="35" name="Text 33"/>
          <p:cNvSpPr/>
          <p:nvPr/>
        </p:nvSpPr>
        <p:spPr>
          <a:xfrm>
            <a:off x="2194560" y="3218688"/>
            <a:ext cx="2880360" cy="128016"/>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Prior art against our invention.</a:t>
            </a:r>
            <a:endParaRPr lang="en-US" sz="900" dirty="0"/>
          </a:p>
        </p:txBody>
      </p:sp>
      <p:sp>
        <p:nvSpPr>
          <p:cNvPr id="36" name="Text 34"/>
          <p:cNvSpPr/>
          <p:nvPr/>
        </p:nvSpPr>
        <p:spPr>
          <a:xfrm>
            <a:off x="1078992" y="376732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Evidence</a:t>
            </a:r>
            <a:endParaRPr lang="en-US" sz="850" dirty="0"/>
          </a:p>
        </p:txBody>
      </p:sp>
      <p:sp>
        <p:nvSpPr>
          <p:cNvPr id="37" name="Text 35"/>
          <p:cNvSpPr/>
          <p:nvPr/>
        </p:nvSpPr>
        <p:spPr>
          <a:xfrm>
            <a:off x="2194560" y="3767328"/>
            <a:ext cx="2907792" cy="128016"/>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Closest references + feature comparison.</a:t>
            </a:r>
            <a:endParaRPr lang="en-US" sz="900" dirty="0"/>
          </a:p>
        </p:txBody>
      </p:sp>
      <p:sp>
        <p:nvSpPr>
          <p:cNvPr id="38" name="Shape 36"/>
          <p:cNvSpPr/>
          <p:nvPr/>
        </p:nvSpPr>
        <p:spPr>
          <a:xfrm>
            <a:off x="6345936" y="1865376"/>
            <a:ext cx="5120640" cy="2468880"/>
          </a:xfrm>
          <a:prstGeom prst="roundRect">
            <a:avLst>
              <a:gd name="adj" fmla="val 2963"/>
            </a:avLst>
          </a:prstGeom>
          <a:solidFill>
            <a:srgbClr val="FFFFFF"/>
          </a:solidFill>
          <a:ln w="13970">
            <a:solidFill>
              <a:srgbClr val="F59E0B"/>
            </a:solidFill>
            <a:prstDash val="solid"/>
          </a:ln>
          <a:effectLst>
            <a:outerShdw sx="100000" sy="100000" kx="0" ky="0" algn="bl" rotWithShape="0" blurRad="12700" dist="50800" dir="2700000">
              <a:srgbClr val="9AA6B2">
                <a:alpha val="16000"/>
              </a:srgbClr>
            </a:outerShdw>
          </a:effectLst>
        </p:spPr>
      </p:sp>
      <p:sp>
        <p:nvSpPr>
          <p:cNvPr id="39" name="Shape 37"/>
          <p:cNvSpPr/>
          <p:nvPr/>
        </p:nvSpPr>
        <p:spPr>
          <a:xfrm>
            <a:off x="6638544" y="2103120"/>
            <a:ext cx="1051560" cy="256032"/>
          </a:xfrm>
          <a:prstGeom prst="roundRect">
            <a:avLst>
              <a:gd name="adj" fmla="val 21429"/>
            </a:avLst>
          </a:prstGeom>
          <a:solidFill>
            <a:srgbClr val="F59E0B"/>
          </a:solidFill>
          <a:ln w="12700">
            <a:solidFill>
              <a:srgbClr val="F59E0B"/>
            </a:solidFill>
            <a:prstDash val="solid"/>
          </a:ln>
        </p:spPr>
      </p:sp>
      <p:sp>
        <p:nvSpPr>
          <p:cNvPr id="40" name="Text 38"/>
          <p:cNvSpPr/>
          <p:nvPr/>
        </p:nvSpPr>
        <p:spPr>
          <a:xfrm>
            <a:off x="6638544" y="2144268"/>
            <a:ext cx="1051560" cy="109728"/>
          </a:xfrm>
          <a:prstGeom prst="rect">
            <a:avLst/>
          </a:prstGeom>
          <a:noFill/>
          <a:ln/>
        </p:spPr>
        <p:txBody>
          <a:bodyPr wrap="square" lIns="0" tIns="0" rIns="0" bIns="0" rtlCol="0" anchor="t">
            <a:normAutofit/>
          </a:bodyPr>
          <a:lstStyle/>
          <a:p>
            <a:pPr algn="ctr" indent="0" marL="0">
              <a:buNone/>
            </a:pPr>
            <a:r>
              <a:rPr lang="en-US" sz="720" b="1" dirty="0">
                <a:solidFill>
                  <a:srgbClr val="FFFFFF"/>
                </a:solidFill>
                <a:latin typeface="Aptos" pitchFamily="34" charset="0"/>
                <a:ea typeface="Aptos" pitchFamily="34" charset="-122"/>
                <a:cs typeface="Aptos" pitchFamily="34" charset="-120"/>
              </a:rPr>
              <a:t>FTO / Risk</a:t>
            </a:r>
            <a:endParaRPr lang="en-US" sz="720" dirty="0"/>
          </a:p>
        </p:txBody>
      </p:sp>
      <p:sp>
        <p:nvSpPr>
          <p:cNvPr id="41" name="Text 39"/>
          <p:cNvSpPr/>
          <p:nvPr/>
        </p:nvSpPr>
        <p:spPr>
          <a:xfrm>
            <a:off x="6675120" y="267004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Question</a:t>
            </a:r>
            <a:endParaRPr lang="en-US" sz="850" dirty="0"/>
          </a:p>
        </p:txBody>
      </p:sp>
      <p:sp>
        <p:nvSpPr>
          <p:cNvPr id="42" name="Text 40"/>
          <p:cNvSpPr/>
          <p:nvPr/>
        </p:nvSpPr>
        <p:spPr>
          <a:xfrm>
            <a:off x="7790688" y="2670048"/>
            <a:ext cx="3163824"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Can the feature be practiced without infringing active third-party claims?</a:t>
            </a:r>
            <a:endParaRPr lang="en-US" sz="880" dirty="0"/>
          </a:p>
        </p:txBody>
      </p:sp>
      <p:sp>
        <p:nvSpPr>
          <p:cNvPr id="43" name="Text 41"/>
          <p:cNvSpPr/>
          <p:nvPr/>
        </p:nvSpPr>
        <p:spPr>
          <a:xfrm>
            <a:off x="6675120" y="321868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Focus</a:t>
            </a:r>
            <a:endParaRPr lang="en-US" sz="850" dirty="0"/>
          </a:p>
        </p:txBody>
      </p:sp>
      <p:sp>
        <p:nvSpPr>
          <p:cNvPr id="44" name="Text 42"/>
          <p:cNvSpPr/>
          <p:nvPr/>
        </p:nvSpPr>
        <p:spPr>
          <a:xfrm>
            <a:off x="7790688" y="3218688"/>
            <a:ext cx="3017520" cy="128016"/>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Live claims, territory, status and claim elements.</a:t>
            </a:r>
            <a:endParaRPr lang="en-US" sz="900" dirty="0"/>
          </a:p>
        </p:txBody>
      </p:sp>
      <p:sp>
        <p:nvSpPr>
          <p:cNvPr id="45" name="Text 43"/>
          <p:cNvSpPr/>
          <p:nvPr/>
        </p:nvSpPr>
        <p:spPr>
          <a:xfrm>
            <a:off x="6675120" y="3767328"/>
            <a:ext cx="914400" cy="118872"/>
          </a:xfrm>
          <a:prstGeom prst="rect">
            <a:avLst/>
          </a:prstGeom>
          <a:noFill/>
          <a:ln/>
        </p:spPr>
        <p:txBody>
          <a:bodyPr wrap="square" lIns="0" tIns="0" rIns="0" bIns="0" rtlCol="0" anchor="t">
            <a:normAutofit/>
          </a:bodyPr>
          <a:lstStyle/>
          <a:p>
            <a:pPr algn="l" indent="0" marL="0">
              <a:buNone/>
            </a:pPr>
            <a:r>
              <a:rPr lang="en-US" sz="850" b="1" dirty="0">
                <a:solidFill>
                  <a:srgbClr val="64748B"/>
                </a:solidFill>
                <a:latin typeface="Aptos" pitchFamily="34" charset="0"/>
                <a:ea typeface="Aptos" pitchFamily="34" charset="-122"/>
                <a:cs typeface="Aptos" pitchFamily="34" charset="-120"/>
              </a:rPr>
              <a:t>Evidence</a:t>
            </a:r>
            <a:endParaRPr lang="en-US" sz="850" dirty="0"/>
          </a:p>
        </p:txBody>
      </p:sp>
      <p:sp>
        <p:nvSpPr>
          <p:cNvPr id="46" name="Text 44"/>
          <p:cNvSpPr/>
          <p:nvPr/>
        </p:nvSpPr>
        <p:spPr>
          <a:xfrm>
            <a:off x="7790688" y="3767328"/>
            <a:ext cx="2971800" cy="128016"/>
          </a:xfrm>
          <a:prstGeom prst="rect">
            <a:avLst/>
          </a:prstGeom>
          <a:noFill/>
          <a:ln/>
        </p:spPr>
        <p:txBody>
          <a:bodyPr wrap="square" lIns="0" tIns="0" rIns="0" bIns="0" rtlCol="0" anchor="t">
            <a:normAutofit/>
          </a:bodyPr>
          <a:lstStyle/>
          <a:p>
            <a:pPr algn="l" indent="0" marL="0">
              <a:buNone/>
            </a:pPr>
            <a:r>
              <a:rPr lang="en-US" sz="900" dirty="0">
                <a:solidFill>
                  <a:srgbClr val="475569"/>
                </a:solidFill>
                <a:latin typeface="Aptos" pitchFamily="34" charset="0"/>
                <a:ea typeface="Aptos" pitchFamily="34" charset="-122"/>
                <a:cs typeface="Aptos" pitchFamily="34" charset="-120"/>
              </a:rPr>
              <a:t>Product-feature map + legal status snapshot.</a:t>
            </a:r>
            <a:endParaRPr lang="en-US" sz="900" dirty="0"/>
          </a:p>
        </p:txBody>
      </p:sp>
      <p:sp>
        <p:nvSpPr>
          <p:cNvPr id="47" name="Shape 45"/>
          <p:cNvSpPr/>
          <p:nvPr/>
        </p:nvSpPr>
        <p:spPr>
          <a:xfrm>
            <a:off x="2212848" y="4718304"/>
            <a:ext cx="7754112" cy="566928"/>
          </a:xfrm>
          <a:prstGeom prst="roundRect">
            <a:avLst>
              <a:gd name="adj" fmla="val 12903"/>
            </a:avLst>
          </a:prstGeom>
          <a:solidFill>
            <a:srgbClr val="FFF7E6"/>
          </a:solidFill>
          <a:ln w="11430">
            <a:solidFill>
              <a:srgbClr val="F59E0B"/>
            </a:solidFill>
            <a:prstDash val="solid"/>
          </a:ln>
        </p:spPr>
      </p:sp>
      <p:sp>
        <p:nvSpPr>
          <p:cNvPr id="48" name="Text 46"/>
          <p:cNvSpPr/>
          <p:nvPr/>
        </p:nvSpPr>
        <p:spPr>
          <a:xfrm>
            <a:off x="2487168" y="4910328"/>
            <a:ext cx="960120" cy="118872"/>
          </a:xfrm>
          <a:prstGeom prst="rect">
            <a:avLst/>
          </a:prstGeom>
          <a:noFill/>
          <a:ln/>
        </p:spPr>
        <p:txBody>
          <a:bodyPr wrap="square" lIns="0" tIns="0" rIns="0" bIns="0" rtlCol="0" anchor="t">
            <a:normAutofit/>
          </a:bodyPr>
          <a:lstStyle/>
          <a:p>
            <a:pPr algn="l" indent="0" marL="0">
              <a:buNone/>
            </a:pPr>
            <a:r>
              <a:rPr lang="en-US" sz="870" b="1" dirty="0">
                <a:solidFill>
                  <a:srgbClr val="EA580C"/>
                </a:solidFill>
                <a:latin typeface="Aptos" pitchFamily="34" charset="0"/>
                <a:ea typeface="Aptos" pitchFamily="34" charset="-122"/>
                <a:cs typeface="Aptos" pitchFamily="34" charset="-120"/>
              </a:rPr>
              <a:t>Speaker line:</a:t>
            </a:r>
            <a:endParaRPr lang="en-US" sz="870" dirty="0"/>
          </a:p>
        </p:txBody>
      </p:sp>
      <p:sp>
        <p:nvSpPr>
          <p:cNvPr id="49" name="Text 47"/>
          <p:cNvSpPr/>
          <p:nvPr/>
        </p:nvSpPr>
        <p:spPr>
          <a:xfrm>
            <a:off x="3493008" y="4901184"/>
            <a:ext cx="6053328" cy="128016"/>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“Patentability is about our right to exclude; FTO is about someone else’s right to stop us.”</a:t>
            </a:r>
            <a:endParaRPr lang="en-US" sz="880" dirty="0"/>
          </a:p>
        </p:txBody>
      </p:sp>
      <p:sp>
        <p:nvSpPr>
          <p:cNvPr id="50" name="Shape 48"/>
          <p:cNvSpPr/>
          <p:nvPr/>
        </p:nvSpPr>
        <p:spPr>
          <a:xfrm>
            <a:off x="658368" y="5632704"/>
            <a:ext cx="10881360" cy="429768"/>
          </a:xfrm>
          <a:prstGeom prst="roundRect">
            <a:avLst>
              <a:gd name="adj" fmla="val 17021"/>
            </a:avLst>
          </a:prstGeom>
          <a:solidFill>
            <a:srgbClr val="F8FAFC"/>
          </a:solidFill>
          <a:ln w="13970">
            <a:solidFill>
              <a:srgbClr val="F59E0B"/>
            </a:solidFill>
            <a:prstDash val="solid"/>
          </a:ln>
        </p:spPr>
      </p:sp>
      <p:sp>
        <p:nvSpPr>
          <p:cNvPr id="51" name="Shape 49"/>
          <p:cNvSpPr/>
          <p:nvPr/>
        </p:nvSpPr>
        <p:spPr>
          <a:xfrm>
            <a:off x="658368" y="5632704"/>
            <a:ext cx="91440" cy="429768"/>
          </a:xfrm>
          <a:prstGeom prst="rect">
            <a:avLst/>
          </a:prstGeom>
          <a:solidFill>
            <a:srgbClr val="F59E0B"/>
          </a:solidFill>
          <a:ln w="12700">
            <a:solidFill>
              <a:srgbClr val="F59E0B"/>
            </a:solidFill>
            <a:prstDash val="solid"/>
          </a:ln>
        </p:spPr>
      </p:sp>
      <p:sp>
        <p:nvSpPr>
          <p:cNvPr id="52" name="Text 50"/>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The same patent document can matter differently depending on whether the question is filing or product risk.</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7C3AED"/>
                </a:solidFill>
              </a:rPr>
              <a:t>I | INTERPRET</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7: claim construction and claim charting</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read patent claims as legal boundaries and map each element to evidence.</a:t>
            </a:r>
            <a:endParaRPr lang="en-US" sz="1050" dirty="0"/>
          </a:p>
        </p:txBody>
      </p:sp>
      <p:sp>
        <p:nvSpPr>
          <p:cNvPr id="9" name="Shape 7"/>
          <p:cNvSpPr/>
          <p:nvPr/>
        </p:nvSpPr>
        <p:spPr>
          <a:xfrm>
            <a:off x="566928" y="1499616"/>
            <a:ext cx="1920240" cy="0"/>
          </a:xfrm>
          <a:prstGeom prst="line">
            <a:avLst/>
          </a:prstGeom>
          <a:noFill/>
          <a:ln w="27940">
            <a:solidFill>
              <a:srgbClr val="7C3AED"/>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12</a:t>
            </a:r>
            <a:endParaRPr lang="en-US" sz="800" dirty="0"/>
          </a:p>
        </p:txBody>
      </p:sp>
      <p:sp>
        <p:nvSpPr>
          <p:cNvPr id="27" name="Shape 25"/>
          <p:cNvSpPr/>
          <p:nvPr/>
        </p:nvSpPr>
        <p:spPr>
          <a:xfrm>
            <a:off x="10104120" y="438912"/>
            <a:ext cx="1389888" cy="475488"/>
          </a:xfrm>
          <a:prstGeom prst="roundRect">
            <a:avLst>
              <a:gd name="adj" fmla="val 19231"/>
            </a:avLst>
          </a:prstGeom>
          <a:solidFill>
            <a:srgbClr val="7C3AED"/>
          </a:solidFill>
          <a:ln w="12700">
            <a:solidFill>
              <a:srgbClr val="7C3AED"/>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 | Interpret</a:t>
            </a:r>
            <a:endParaRPr lang="en-US" sz="850" dirty="0"/>
          </a:p>
        </p:txBody>
      </p:sp>
      <p:sp>
        <p:nvSpPr>
          <p:cNvPr id="29" name="Shape 27"/>
          <p:cNvSpPr/>
          <p:nvPr/>
        </p:nvSpPr>
        <p:spPr>
          <a:xfrm>
            <a:off x="786384" y="1865376"/>
            <a:ext cx="3794760" cy="2999232"/>
          </a:xfrm>
          <a:prstGeom prst="roundRect">
            <a:avLst>
              <a:gd name="adj" fmla="val 2439"/>
            </a:avLst>
          </a:prstGeom>
          <a:solidFill>
            <a:srgbClr val="FFFFFF"/>
          </a:solidFill>
          <a:ln w="13970">
            <a:solidFill>
              <a:srgbClr val="7C3AED"/>
            </a:solidFill>
            <a:prstDash val="solid"/>
          </a:ln>
          <a:effectLst>
            <a:outerShdw sx="100000" sy="100000" kx="0" ky="0" algn="bl" rotWithShape="0" blurRad="12700" dist="50800" dir="2700000">
              <a:srgbClr val="9AA6B2">
                <a:alpha val="16000"/>
              </a:srgbClr>
            </a:outerShdw>
          </a:effectLst>
        </p:spPr>
      </p:sp>
      <p:sp>
        <p:nvSpPr>
          <p:cNvPr id="30" name="Text 28"/>
          <p:cNvSpPr/>
          <p:nvPr/>
        </p:nvSpPr>
        <p:spPr>
          <a:xfrm>
            <a:off x="1078992" y="2103120"/>
            <a:ext cx="2331720" cy="201168"/>
          </a:xfrm>
          <a:prstGeom prst="rect">
            <a:avLst/>
          </a:prstGeom>
          <a:noFill/>
          <a:ln/>
        </p:spPr>
        <p:txBody>
          <a:bodyPr wrap="square" lIns="0" tIns="0" rIns="0" bIns="0" rtlCol="0" anchor="t">
            <a:normAutofit/>
          </a:bodyPr>
          <a:lstStyle/>
          <a:p>
            <a:pPr algn="l" indent="0" marL="0">
              <a:buNone/>
            </a:pPr>
            <a:r>
              <a:rPr lang="en-US" sz="1340" b="1" dirty="0">
                <a:solidFill>
                  <a:srgbClr val="111827"/>
                </a:solidFill>
                <a:latin typeface="Aptos" pitchFamily="34" charset="0"/>
                <a:ea typeface="Aptos" pitchFamily="34" charset="-122"/>
                <a:cs typeface="Aptos" pitchFamily="34" charset="-120"/>
              </a:rPr>
              <a:t>Claim reading discipline</a:t>
            </a:r>
            <a:endParaRPr lang="en-US" sz="1340" dirty="0"/>
          </a:p>
        </p:txBody>
      </p:sp>
      <p:sp>
        <p:nvSpPr>
          <p:cNvPr id="31" name="Shape 29"/>
          <p:cNvSpPr/>
          <p:nvPr/>
        </p:nvSpPr>
        <p:spPr>
          <a:xfrm>
            <a:off x="1097280" y="2692908"/>
            <a:ext cx="68580" cy="68580"/>
          </a:xfrm>
          <a:prstGeom prst="ellipse">
            <a:avLst/>
          </a:prstGeom>
          <a:solidFill>
            <a:srgbClr val="7C3AED"/>
          </a:solidFill>
          <a:ln w="12700">
            <a:solidFill>
              <a:srgbClr val="7C3AED"/>
            </a:solidFill>
            <a:prstDash val="solid"/>
          </a:ln>
        </p:spPr>
      </p:sp>
      <p:sp>
        <p:nvSpPr>
          <p:cNvPr id="32" name="Text 30"/>
          <p:cNvSpPr/>
          <p:nvPr/>
        </p:nvSpPr>
        <p:spPr>
          <a:xfrm>
            <a:off x="1243584" y="2615184"/>
            <a:ext cx="2980944" cy="310896"/>
          </a:xfrm>
          <a:prstGeom prst="rect">
            <a:avLst/>
          </a:prstGeom>
          <a:noFill/>
          <a:ln/>
        </p:spPr>
        <p:txBody>
          <a:bodyPr wrap="square" lIns="0" tIns="0" rIns="0" bIns="0" rtlCol="0" anchor="t">
            <a:normAutofit/>
          </a:bodyPr>
          <a:lstStyle/>
          <a:p>
            <a:pPr algn="l" indent="0" marL="0">
              <a:buNone/>
            </a:pPr>
            <a:r>
              <a:rPr lang="en-US" sz="890" dirty="0">
                <a:solidFill>
                  <a:srgbClr val="475569"/>
                </a:solidFill>
                <a:latin typeface="Aptos" pitchFamily="34" charset="0"/>
                <a:ea typeface="Aptos" pitchFamily="34" charset="-122"/>
                <a:cs typeface="Aptos" pitchFamily="34" charset="-120"/>
              </a:rPr>
              <a:t>Identify independent and dependent claims</a:t>
            </a:r>
            <a:endParaRPr lang="en-US" sz="890" dirty="0"/>
          </a:p>
        </p:txBody>
      </p:sp>
      <p:sp>
        <p:nvSpPr>
          <p:cNvPr id="33" name="Shape 31"/>
          <p:cNvSpPr/>
          <p:nvPr/>
        </p:nvSpPr>
        <p:spPr>
          <a:xfrm>
            <a:off x="1097280" y="3003804"/>
            <a:ext cx="68580" cy="68580"/>
          </a:xfrm>
          <a:prstGeom prst="ellipse">
            <a:avLst/>
          </a:prstGeom>
          <a:solidFill>
            <a:srgbClr val="7C3AED"/>
          </a:solidFill>
          <a:ln w="12700">
            <a:solidFill>
              <a:srgbClr val="7C3AED"/>
            </a:solidFill>
            <a:prstDash val="solid"/>
          </a:ln>
        </p:spPr>
      </p:sp>
      <p:sp>
        <p:nvSpPr>
          <p:cNvPr id="34" name="Text 32"/>
          <p:cNvSpPr/>
          <p:nvPr/>
        </p:nvSpPr>
        <p:spPr>
          <a:xfrm>
            <a:off x="1243584" y="2926080"/>
            <a:ext cx="2980944" cy="310896"/>
          </a:xfrm>
          <a:prstGeom prst="rect">
            <a:avLst/>
          </a:prstGeom>
          <a:noFill/>
          <a:ln/>
        </p:spPr>
        <p:txBody>
          <a:bodyPr wrap="square" lIns="0" tIns="0" rIns="0" bIns="0" rtlCol="0" anchor="t">
            <a:normAutofit/>
          </a:bodyPr>
          <a:lstStyle/>
          <a:p>
            <a:pPr algn="l" indent="0" marL="0">
              <a:buNone/>
            </a:pPr>
            <a:r>
              <a:rPr lang="en-US" sz="890" dirty="0">
                <a:solidFill>
                  <a:srgbClr val="475569"/>
                </a:solidFill>
                <a:latin typeface="Aptos" pitchFamily="34" charset="0"/>
                <a:ea typeface="Aptos" pitchFamily="34" charset="-122"/>
                <a:cs typeface="Aptos" pitchFamily="34" charset="-120"/>
              </a:rPr>
              <a:t>Break claim into limitations / elements</a:t>
            </a:r>
            <a:endParaRPr lang="en-US" sz="890" dirty="0"/>
          </a:p>
        </p:txBody>
      </p:sp>
      <p:sp>
        <p:nvSpPr>
          <p:cNvPr id="35" name="Shape 33"/>
          <p:cNvSpPr/>
          <p:nvPr/>
        </p:nvSpPr>
        <p:spPr>
          <a:xfrm>
            <a:off x="1097280" y="3314700"/>
            <a:ext cx="68580" cy="68580"/>
          </a:xfrm>
          <a:prstGeom prst="ellipse">
            <a:avLst/>
          </a:prstGeom>
          <a:solidFill>
            <a:srgbClr val="7C3AED"/>
          </a:solidFill>
          <a:ln w="12700">
            <a:solidFill>
              <a:srgbClr val="7C3AED"/>
            </a:solidFill>
            <a:prstDash val="solid"/>
          </a:ln>
        </p:spPr>
      </p:sp>
      <p:sp>
        <p:nvSpPr>
          <p:cNvPr id="36" name="Text 34"/>
          <p:cNvSpPr/>
          <p:nvPr/>
        </p:nvSpPr>
        <p:spPr>
          <a:xfrm>
            <a:off x="1243584" y="3236976"/>
            <a:ext cx="2980944" cy="310896"/>
          </a:xfrm>
          <a:prstGeom prst="rect">
            <a:avLst/>
          </a:prstGeom>
          <a:noFill/>
          <a:ln/>
        </p:spPr>
        <p:txBody>
          <a:bodyPr wrap="square" lIns="0" tIns="0" rIns="0" bIns="0" rtlCol="0" anchor="t">
            <a:normAutofit/>
          </a:bodyPr>
          <a:lstStyle/>
          <a:p>
            <a:pPr algn="l" indent="0" marL="0">
              <a:buNone/>
            </a:pPr>
            <a:r>
              <a:rPr lang="en-US" sz="890" dirty="0">
                <a:solidFill>
                  <a:srgbClr val="475569"/>
                </a:solidFill>
                <a:latin typeface="Aptos" pitchFamily="34" charset="0"/>
                <a:ea typeface="Aptos" pitchFamily="34" charset="-122"/>
                <a:cs typeface="Aptos" pitchFamily="34" charset="-120"/>
              </a:rPr>
              <a:t>Construe terms in technical context</a:t>
            </a:r>
            <a:endParaRPr lang="en-US" sz="890" dirty="0"/>
          </a:p>
        </p:txBody>
      </p:sp>
      <p:sp>
        <p:nvSpPr>
          <p:cNvPr id="37" name="Shape 35"/>
          <p:cNvSpPr/>
          <p:nvPr/>
        </p:nvSpPr>
        <p:spPr>
          <a:xfrm>
            <a:off x="1097280" y="3625596"/>
            <a:ext cx="68580" cy="68580"/>
          </a:xfrm>
          <a:prstGeom prst="ellipse">
            <a:avLst/>
          </a:prstGeom>
          <a:solidFill>
            <a:srgbClr val="7C3AED"/>
          </a:solidFill>
          <a:ln w="12700">
            <a:solidFill>
              <a:srgbClr val="7C3AED"/>
            </a:solidFill>
            <a:prstDash val="solid"/>
          </a:ln>
        </p:spPr>
      </p:sp>
      <p:sp>
        <p:nvSpPr>
          <p:cNvPr id="38" name="Text 36"/>
          <p:cNvSpPr/>
          <p:nvPr/>
        </p:nvSpPr>
        <p:spPr>
          <a:xfrm>
            <a:off x="1243584" y="3547872"/>
            <a:ext cx="2980944" cy="310896"/>
          </a:xfrm>
          <a:prstGeom prst="rect">
            <a:avLst/>
          </a:prstGeom>
          <a:noFill/>
          <a:ln/>
        </p:spPr>
        <p:txBody>
          <a:bodyPr wrap="square" lIns="0" tIns="0" rIns="0" bIns="0" rtlCol="0" anchor="t">
            <a:normAutofit/>
          </a:bodyPr>
          <a:lstStyle/>
          <a:p>
            <a:pPr algn="l" indent="0" marL="0">
              <a:buNone/>
            </a:pPr>
            <a:r>
              <a:rPr lang="en-US" sz="890" dirty="0">
                <a:solidFill>
                  <a:srgbClr val="475569"/>
                </a:solidFill>
                <a:latin typeface="Aptos" pitchFamily="34" charset="0"/>
                <a:ea typeface="Aptos" pitchFamily="34" charset="-122"/>
                <a:cs typeface="Aptos" pitchFamily="34" charset="-120"/>
              </a:rPr>
              <a:t>Map each element to prior art or product feature</a:t>
            </a:r>
            <a:endParaRPr lang="en-US" sz="890" dirty="0"/>
          </a:p>
        </p:txBody>
      </p:sp>
      <p:sp>
        <p:nvSpPr>
          <p:cNvPr id="39" name="Shape 37"/>
          <p:cNvSpPr/>
          <p:nvPr/>
        </p:nvSpPr>
        <p:spPr>
          <a:xfrm>
            <a:off x="1097280" y="3936492"/>
            <a:ext cx="68580" cy="68580"/>
          </a:xfrm>
          <a:prstGeom prst="ellipse">
            <a:avLst/>
          </a:prstGeom>
          <a:solidFill>
            <a:srgbClr val="7C3AED"/>
          </a:solidFill>
          <a:ln w="12700">
            <a:solidFill>
              <a:srgbClr val="7C3AED"/>
            </a:solidFill>
            <a:prstDash val="solid"/>
          </a:ln>
        </p:spPr>
      </p:sp>
      <p:sp>
        <p:nvSpPr>
          <p:cNvPr id="40" name="Text 38"/>
          <p:cNvSpPr/>
          <p:nvPr/>
        </p:nvSpPr>
        <p:spPr>
          <a:xfrm>
            <a:off x="1243584" y="3858768"/>
            <a:ext cx="2980944" cy="310896"/>
          </a:xfrm>
          <a:prstGeom prst="rect">
            <a:avLst/>
          </a:prstGeom>
          <a:noFill/>
          <a:ln/>
        </p:spPr>
        <p:txBody>
          <a:bodyPr wrap="square" lIns="0" tIns="0" rIns="0" bIns="0" rtlCol="0" anchor="t">
            <a:normAutofit/>
          </a:bodyPr>
          <a:lstStyle/>
          <a:p>
            <a:pPr algn="l" indent="0" marL="0">
              <a:buNone/>
            </a:pPr>
            <a:r>
              <a:rPr lang="en-US" sz="890" dirty="0">
                <a:solidFill>
                  <a:srgbClr val="475569"/>
                </a:solidFill>
                <a:latin typeface="Aptos" pitchFamily="34" charset="0"/>
                <a:ea typeface="Aptos" pitchFamily="34" charset="-122"/>
                <a:cs typeface="Aptos" pitchFamily="34" charset="-120"/>
              </a:rPr>
              <a:t>Flag missing elements and ambiguity</a:t>
            </a:r>
            <a:endParaRPr lang="en-US" sz="890" dirty="0"/>
          </a:p>
        </p:txBody>
      </p:sp>
      <p:sp>
        <p:nvSpPr>
          <p:cNvPr id="41" name="Shape 39"/>
          <p:cNvSpPr/>
          <p:nvPr/>
        </p:nvSpPr>
        <p:spPr>
          <a:xfrm>
            <a:off x="4983480" y="1792224"/>
            <a:ext cx="6291072" cy="3255264"/>
          </a:xfrm>
          <a:prstGeom prst="roundRect">
            <a:avLst>
              <a:gd name="adj" fmla="val 2247"/>
            </a:avLst>
          </a:prstGeom>
          <a:solidFill>
            <a:srgbClr val="FFFFFF"/>
          </a:solidFill>
          <a:ln w="10160">
            <a:solidFill>
              <a:srgbClr val="D7DEE8"/>
            </a:solidFill>
            <a:prstDash val="solid"/>
          </a:ln>
          <a:effectLst>
            <a:outerShdw sx="100000" sy="100000" kx="0" ky="0" algn="bl" rotWithShape="0" blurRad="12700" dist="50800" dir="2700000">
              <a:srgbClr val="9AA6B2">
                <a:alpha val="16000"/>
              </a:srgbClr>
            </a:outerShdw>
          </a:effectLst>
        </p:spPr>
      </p:sp>
      <p:sp>
        <p:nvSpPr>
          <p:cNvPr id="42" name="Shape 40"/>
          <p:cNvSpPr/>
          <p:nvPr/>
        </p:nvSpPr>
        <p:spPr>
          <a:xfrm>
            <a:off x="4983480" y="1792224"/>
            <a:ext cx="6291072" cy="411480"/>
          </a:xfrm>
          <a:prstGeom prst="rect">
            <a:avLst/>
          </a:prstGeom>
          <a:solidFill>
            <a:srgbClr val="071A2B"/>
          </a:solidFill>
          <a:ln w="12700">
            <a:solidFill>
              <a:srgbClr val="071A2B"/>
            </a:solidFill>
            <a:prstDash val="solid"/>
          </a:ln>
        </p:spPr>
      </p:sp>
      <p:sp>
        <p:nvSpPr>
          <p:cNvPr id="43" name="Text 41"/>
          <p:cNvSpPr/>
          <p:nvPr/>
        </p:nvSpPr>
        <p:spPr>
          <a:xfrm>
            <a:off x="5184648" y="1920240"/>
            <a:ext cx="1170432" cy="91440"/>
          </a:xfrm>
          <a:prstGeom prst="rect">
            <a:avLst/>
          </a:prstGeom>
          <a:noFill/>
          <a:ln/>
        </p:spPr>
        <p:txBody>
          <a:bodyPr wrap="square" lIns="0" tIns="0" rIns="0" bIns="0" rtlCol="0" anchor="t">
            <a:normAutofit/>
          </a:bodyPr>
          <a:lstStyle/>
          <a:p>
            <a:pPr algn="l" indent="0" marL="0">
              <a:buNone/>
            </a:pPr>
            <a:r>
              <a:rPr lang="en-US" sz="750" b="1" dirty="0">
                <a:solidFill>
                  <a:srgbClr val="FFFFFF"/>
                </a:solidFill>
                <a:latin typeface="Aptos" pitchFamily="34" charset="0"/>
                <a:ea typeface="Aptos" pitchFamily="34" charset="-122"/>
                <a:cs typeface="Aptos" pitchFamily="34" charset="-120"/>
              </a:rPr>
              <a:t>Claim element</a:t>
            </a:r>
            <a:endParaRPr lang="en-US" sz="750" dirty="0"/>
          </a:p>
        </p:txBody>
      </p:sp>
      <p:sp>
        <p:nvSpPr>
          <p:cNvPr id="44" name="Text 42"/>
          <p:cNvSpPr/>
          <p:nvPr/>
        </p:nvSpPr>
        <p:spPr>
          <a:xfrm>
            <a:off x="6519672" y="1920240"/>
            <a:ext cx="1188720" cy="91440"/>
          </a:xfrm>
          <a:prstGeom prst="rect">
            <a:avLst/>
          </a:prstGeom>
          <a:noFill/>
          <a:ln/>
        </p:spPr>
        <p:txBody>
          <a:bodyPr wrap="square" lIns="0" tIns="0" rIns="0" bIns="0" rtlCol="0" anchor="t">
            <a:normAutofit/>
          </a:bodyPr>
          <a:lstStyle/>
          <a:p>
            <a:pPr algn="l" indent="0" marL="0">
              <a:buNone/>
            </a:pPr>
            <a:r>
              <a:rPr lang="en-US" sz="750" b="1" dirty="0">
                <a:solidFill>
                  <a:srgbClr val="FFFFFF"/>
                </a:solidFill>
                <a:latin typeface="Aptos" pitchFamily="34" charset="0"/>
                <a:ea typeface="Aptos" pitchFamily="34" charset="-122"/>
                <a:cs typeface="Aptos" pitchFamily="34" charset="-120"/>
              </a:rPr>
              <a:t>Interpretation</a:t>
            </a:r>
            <a:endParaRPr lang="en-US" sz="750" dirty="0"/>
          </a:p>
        </p:txBody>
      </p:sp>
      <p:sp>
        <p:nvSpPr>
          <p:cNvPr id="45" name="Text 43"/>
          <p:cNvSpPr/>
          <p:nvPr/>
        </p:nvSpPr>
        <p:spPr>
          <a:xfrm>
            <a:off x="7927848" y="1920240"/>
            <a:ext cx="1463040" cy="91440"/>
          </a:xfrm>
          <a:prstGeom prst="rect">
            <a:avLst/>
          </a:prstGeom>
          <a:noFill/>
          <a:ln/>
        </p:spPr>
        <p:txBody>
          <a:bodyPr wrap="square" lIns="0" tIns="0" rIns="0" bIns="0" rtlCol="0" anchor="t">
            <a:normAutofit/>
          </a:bodyPr>
          <a:lstStyle/>
          <a:p>
            <a:pPr algn="l" indent="0" marL="0">
              <a:buNone/>
            </a:pPr>
            <a:r>
              <a:rPr lang="en-US" sz="750" b="1" dirty="0">
                <a:solidFill>
                  <a:srgbClr val="FFFFFF"/>
                </a:solidFill>
                <a:latin typeface="Aptos" pitchFamily="34" charset="0"/>
                <a:ea typeface="Aptos" pitchFamily="34" charset="-122"/>
                <a:cs typeface="Aptos" pitchFamily="34" charset="-120"/>
              </a:rPr>
              <a:t>Evidence mapped</a:t>
            </a:r>
            <a:endParaRPr lang="en-US" sz="750" dirty="0"/>
          </a:p>
        </p:txBody>
      </p:sp>
      <p:sp>
        <p:nvSpPr>
          <p:cNvPr id="46" name="Text 44"/>
          <p:cNvSpPr/>
          <p:nvPr/>
        </p:nvSpPr>
        <p:spPr>
          <a:xfrm>
            <a:off x="9646920" y="1920240"/>
            <a:ext cx="777240" cy="91440"/>
          </a:xfrm>
          <a:prstGeom prst="rect">
            <a:avLst/>
          </a:prstGeom>
          <a:noFill/>
          <a:ln/>
        </p:spPr>
        <p:txBody>
          <a:bodyPr wrap="square" lIns="0" tIns="0" rIns="0" bIns="0" rtlCol="0" anchor="t">
            <a:normAutofit/>
          </a:bodyPr>
          <a:lstStyle/>
          <a:p>
            <a:pPr algn="l" indent="0" marL="0">
              <a:buNone/>
            </a:pPr>
            <a:r>
              <a:rPr lang="en-US" sz="750" b="1" dirty="0">
                <a:solidFill>
                  <a:srgbClr val="FFFFFF"/>
                </a:solidFill>
                <a:latin typeface="Aptos" pitchFamily="34" charset="0"/>
                <a:ea typeface="Aptos" pitchFamily="34" charset="-122"/>
                <a:cs typeface="Aptos" pitchFamily="34" charset="-120"/>
              </a:rPr>
              <a:t>Issue</a:t>
            </a:r>
            <a:endParaRPr lang="en-US" sz="750" dirty="0"/>
          </a:p>
        </p:txBody>
      </p:sp>
      <p:sp>
        <p:nvSpPr>
          <p:cNvPr id="47" name="Shape 45"/>
          <p:cNvSpPr/>
          <p:nvPr/>
        </p:nvSpPr>
        <p:spPr>
          <a:xfrm>
            <a:off x="5001768" y="2240280"/>
            <a:ext cx="6254496" cy="384048"/>
          </a:xfrm>
          <a:prstGeom prst="rect">
            <a:avLst/>
          </a:prstGeom>
          <a:solidFill>
            <a:srgbClr val="F8FAFC"/>
          </a:solidFill>
          <a:ln w="12700">
            <a:solidFill>
              <a:srgbClr val="F8FAFC"/>
            </a:solidFill>
            <a:prstDash val="solid"/>
          </a:ln>
        </p:spPr>
      </p:sp>
      <p:sp>
        <p:nvSpPr>
          <p:cNvPr id="48" name="Text 46"/>
          <p:cNvSpPr/>
          <p:nvPr/>
        </p:nvSpPr>
        <p:spPr>
          <a:xfrm>
            <a:off x="5184648" y="2340864"/>
            <a:ext cx="1097280" cy="109728"/>
          </a:xfrm>
          <a:prstGeom prst="rect">
            <a:avLst/>
          </a:prstGeom>
          <a:noFill/>
          <a:ln/>
        </p:spPr>
        <p:txBody>
          <a:bodyPr wrap="square" lIns="0" tIns="0" rIns="0" bIns="0" rtlCol="0" anchor="t">
            <a:normAutofit/>
          </a:bodyPr>
          <a:lstStyle/>
          <a:p>
            <a:pPr algn="l" indent="0" marL="0">
              <a:buNone/>
            </a:pPr>
            <a:r>
              <a:rPr lang="en-US" sz="770" b="1" dirty="0">
                <a:solidFill>
                  <a:srgbClr val="111827"/>
                </a:solidFill>
                <a:latin typeface="Aptos" pitchFamily="34" charset="0"/>
                <a:ea typeface="Aptos" pitchFamily="34" charset="-122"/>
                <a:cs typeface="Aptos" pitchFamily="34" charset="-120"/>
              </a:rPr>
              <a:t>Element A</a:t>
            </a:r>
            <a:endParaRPr lang="en-US" sz="770" dirty="0"/>
          </a:p>
        </p:txBody>
      </p:sp>
      <p:sp>
        <p:nvSpPr>
          <p:cNvPr id="49" name="Text 47"/>
          <p:cNvSpPr/>
          <p:nvPr/>
        </p:nvSpPr>
        <p:spPr>
          <a:xfrm>
            <a:off x="6519672" y="2340864"/>
            <a:ext cx="1143000" cy="109728"/>
          </a:xfrm>
          <a:prstGeom prst="rect">
            <a:avLst/>
          </a:prstGeom>
          <a:noFill/>
          <a:ln/>
        </p:spPr>
        <p:txBody>
          <a:bodyPr wrap="square" lIns="0" tIns="0" rIns="0" bIns="0" rtlCol="0" anchor="t">
            <a:normAutofit/>
          </a:bodyPr>
          <a:lstStyle/>
          <a:p>
            <a:pPr algn="l" indent="0" marL="0">
              <a:buNone/>
            </a:pPr>
            <a:r>
              <a:rPr lang="en-US" sz="760" dirty="0">
                <a:solidFill>
                  <a:srgbClr val="475569"/>
                </a:solidFill>
                <a:latin typeface="Aptos" pitchFamily="34" charset="0"/>
                <a:ea typeface="Aptos" pitchFamily="34" charset="-122"/>
                <a:cs typeface="Aptos" pitchFamily="34" charset="-120"/>
              </a:rPr>
              <a:t>Core technical step</a:t>
            </a:r>
            <a:endParaRPr lang="en-US" sz="760" dirty="0"/>
          </a:p>
        </p:txBody>
      </p:sp>
      <p:sp>
        <p:nvSpPr>
          <p:cNvPr id="50" name="Text 48"/>
          <p:cNvSpPr/>
          <p:nvPr/>
        </p:nvSpPr>
        <p:spPr>
          <a:xfrm>
            <a:off x="7927848" y="2340864"/>
            <a:ext cx="1554480" cy="109728"/>
          </a:xfrm>
          <a:prstGeom prst="rect">
            <a:avLst/>
          </a:prstGeom>
          <a:noFill/>
          <a:ln/>
        </p:spPr>
        <p:txBody>
          <a:bodyPr wrap="square" lIns="0" tIns="0" rIns="0" bIns="0" rtlCol="0" anchor="t">
            <a:normAutofit/>
          </a:bodyPr>
          <a:lstStyle/>
          <a:p>
            <a:pPr algn="l" indent="0" marL="0">
              <a:buNone/>
            </a:pPr>
            <a:r>
              <a:rPr lang="en-US" sz="750" dirty="0">
                <a:solidFill>
                  <a:srgbClr val="475569"/>
                </a:solidFill>
                <a:latin typeface="Aptos" pitchFamily="34" charset="0"/>
                <a:ea typeface="Aptos" pitchFamily="34" charset="-122"/>
                <a:cs typeface="Aptos" pitchFamily="34" charset="-120"/>
              </a:rPr>
              <a:t>Reference / feature paragraph</a:t>
            </a:r>
            <a:endParaRPr lang="en-US" sz="750" dirty="0"/>
          </a:p>
        </p:txBody>
      </p:sp>
      <p:sp>
        <p:nvSpPr>
          <p:cNvPr id="51" name="Shape 49"/>
          <p:cNvSpPr/>
          <p:nvPr/>
        </p:nvSpPr>
        <p:spPr>
          <a:xfrm>
            <a:off x="9628632" y="2313432"/>
            <a:ext cx="658368" cy="173736"/>
          </a:xfrm>
          <a:prstGeom prst="roundRect">
            <a:avLst>
              <a:gd name="adj" fmla="val 31579"/>
            </a:avLst>
          </a:prstGeom>
          <a:solidFill>
            <a:srgbClr val="16A34A"/>
          </a:solidFill>
          <a:ln w="12700">
            <a:solidFill>
              <a:srgbClr val="16A34A"/>
            </a:solidFill>
            <a:prstDash val="solid"/>
          </a:ln>
        </p:spPr>
      </p:sp>
      <p:sp>
        <p:nvSpPr>
          <p:cNvPr id="52" name="Text 50"/>
          <p:cNvSpPr/>
          <p:nvPr/>
        </p:nvSpPr>
        <p:spPr>
          <a:xfrm>
            <a:off x="9628632" y="2354580"/>
            <a:ext cx="658368" cy="109728"/>
          </a:xfrm>
          <a:prstGeom prst="rect">
            <a:avLst/>
          </a:prstGeom>
          <a:noFill/>
          <a:ln/>
        </p:spPr>
        <p:txBody>
          <a:bodyPr wrap="square" lIns="0" tIns="0" rIns="0" bIns="0" rtlCol="0" anchor="t">
            <a:normAutofit/>
          </a:bodyPr>
          <a:lstStyle/>
          <a:p>
            <a:pPr algn="ctr" indent="0" marL="0">
              <a:buNone/>
            </a:pPr>
            <a:r>
              <a:rPr lang="en-US" sz="600" b="1" dirty="0">
                <a:solidFill>
                  <a:srgbClr val="FFFFFF"/>
                </a:solidFill>
                <a:latin typeface="Aptos" pitchFamily="34" charset="0"/>
                <a:ea typeface="Aptos" pitchFamily="34" charset="-122"/>
                <a:cs typeface="Aptos" pitchFamily="34" charset="-120"/>
              </a:rPr>
              <a:t>Present</a:t>
            </a:r>
            <a:endParaRPr lang="en-US" sz="600" dirty="0"/>
          </a:p>
        </p:txBody>
      </p:sp>
      <p:sp>
        <p:nvSpPr>
          <p:cNvPr id="53" name="Text 51"/>
          <p:cNvSpPr/>
          <p:nvPr/>
        </p:nvSpPr>
        <p:spPr>
          <a:xfrm>
            <a:off x="5184648" y="2816352"/>
            <a:ext cx="1097280" cy="109728"/>
          </a:xfrm>
          <a:prstGeom prst="rect">
            <a:avLst/>
          </a:prstGeom>
          <a:noFill/>
          <a:ln/>
        </p:spPr>
        <p:txBody>
          <a:bodyPr wrap="square" lIns="0" tIns="0" rIns="0" bIns="0" rtlCol="0" anchor="t">
            <a:normAutofit/>
          </a:bodyPr>
          <a:lstStyle/>
          <a:p>
            <a:pPr algn="l" indent="0" marL="0">
              <a:buNone/>
            </a:pPr>
            <a:r>
              <a:rPr lang="en-US" sz="770" b="1" dirty="0">
                <a:solidFill>
                  <a:srgbClr val="111827"/>
                </a:solidFill>
                <a:latin typeface="Aptos" pitchFamily="34" charset="0"/>
                <a:ea typeface="Aptos" pitchFamily="34" charset="-122"/>
                <a:cs typeface="Aptos" pitchFamily="34" charset="-120"/>
              </a:rPr>
              <a:t>Element B</a:t>
            </a:r>
            <a:endParaRPr lang="en-US" sz="770" dirty="0"/>
          </a:p>
        </p:txBody>
      </p:sp>
      <p:sp>
        <p:nvSpPr>
          <p:cNvPr id="54" name="Text 52"/>
          <p:cNvSpPr/>
          <p:nvPr/>
        </p:nvSpPr>
        <p:spPr>
          <a:xfrm>
            <a:off x="6519672" y="2816352"/>
            <a:ext cx="1143000" cy="109728"/>
          </a:xfrm>
          <a:prstGeom prst="rect">
            <a:avLst/>
          </a:prstGeom>
          <a:noFill/>
          <a:ln/>
        </p:spPr>
        <p:txBody>
          <a:bodyPr wrap="square" lIns="0" tIns="0" rIns="0" bIns="0" rtlCol="0" anchor="t">
            <a:normAutofit/>
          </a:bodyPr>
          <a:lstStyle/>
          <a:p>
            <a:pPr algn="l" indent="0" marL="0">
              <a:buNone/>
            </a:pPr>
            <a:r>
              <a:rPr lang="en-US" sz="760" dirty="0">
                <a:solidFill>
                  <a:srgbClr val="475569"/>
                </a:solidFill>
                <a:latin typeface="Aptos" pitchFamily="34" charset="0"/>
                <a:ea typeface="Aptos" pitchFamily="34" charset="-122"/>
                <a:cs typeface="Aptos" pitchFamily="34" charset="-120"/>
              </a:rPr>
              <a:t>Functional limitation</a:t>
            </a:r>
            <a:endParaRPr lang="en-US" sz="760" dirty="0"/>
          </a:p>
        </p:txBody>
      </p:sp>
      <p:sp>
        <p:nvSpPr>
          <p:cNvPr id="55" name="Text 53"/>
          <p:cNvSpPr/>
          <p:nvPr/>
        </p:nvSpPr>
        <p:spPr>
          <a:xfrm>
            <a:off x="7927848" y="2816352"/>
            <a:ext cx="1554480" cy="109728"/>
          </a:xfrm>
          <a:prstGeom prst="rect">
            <a:avLst/>
          </a:prstGeom>
          <a:noFill/>
          <a:ln/>
        </p:spPr>
        <p:txBody>
          <a:bodyPr wrap="square" lIns="0" tIns="0" rIns="0" bIns="0" rtlCol="0" anchor="t">
            <a:normAutofit/>
          </a:bodyPr>
          <a:lstStyle/>
          <a:p>
            <a:pPr algn="l" indent="0" marL="0">
              <a:buNone/>
            </a:pPr>
            <a:r>
              <a:rPr lang="en-US" sz="750" dirty="0">
                <a:solidFill>
                  <a:srgbClr val="475569"/>
                </a:solidFill>
                <a:latin typeface="Aptos" pitchFamily="34" charset="0"/>
                <a:ea typeface="Aptos" pitchFamily="34" charset="-122"/>
                <a:cs typeface="Aptos" pitchFamily="34" charset="-120"/>
              </a:rPr>
              <a:t>Figure + description mapping</a:t>
            </a:r>
            <a:endParaRPr lang="en-US" sz="750" dirty="0"/>
          </a:p>
        </p:txBody>
      </p:sp>
      <p:sp>
        <p:nvSpPr>
          <p:cNvPr id="56" name="Shape 54"/>
          <p:cNvSpPr/>
          <p:nvPr/>
        </p:nvSpPr>
        <p:spPr>
          <a:xfrm>
            <a:off x="9628632" y="2788920"/>
            <a:ext cx="658368" cy="173736"/>
          </a:xfrm>
          <a:prstGeom prst="roundRect">
            <a:avLst>
              <a:gd name="adj" fmla="val 31579"/>
            </a:avLst>
          </a:prstGeom>
          <a:solidFill>
            <a:srgbClr val="F59E0B"/>
          </a:solidFill>
          <a:ln w="12700">
            <a:solidFill>
              <a:srgbClr val="F59E0B"/>
            </a:solidFill>
            <a:prstDash val="solid"/>
          </a:ln>
        </p:spPr>
      </p:sp>
      <p:sp>
        <p:nvSpPr>
          <p:cNvPr id="57" name="Text 55"/>
          <p:cNvSpPr/>
          <p:nvPr/>
        </p:nvSpPr>
        <p:spPr>
          <a:xfrm>
            <a:off x="9628632" y="2830068"/>
            <a:ext cx="658368" cy="109728"/>
          </a:xfrm>
          <a:prstGeom prst="rect">
            <a:avLst/>
          </a:prstGeom>
          <a:noFill/>
          <a:ln/>
        </p:spPr>
        <p:txBody>
          <a:bodyPr wrap="square" lIns="0" tIns="0" rIns="0" bIns="0" rtlCol="0" anchor="t">
            <a:normAutofit/>
          </a:bodyPr>
          <a:lstStyle/>
          <a:p>
            <a:pPr algn="ctr" indent="0" marL="0">
              <a:buNone/>
            </a:pPr>
            <a:r>
              <a:rPr lang="en-US" sz="600" b="1" dirty="0">
                <a:solidFill>
                  <a:srgbClr val="FFFFFF"/>
                </a:solidFill>
                <a:latin typeface="Aptos" pitchFamily="34" charset="0"/>
                <a:ea typeface="Aptos" pitchFamily="34" charset="-122"/>
                <a:cs typeface="Aptos" pitchFamily="34" charset="-120"/>
              </a:rPr>
              <a:t>Partial</a:t>
            </a:r>
            <a:endParaRPr lang="en-US" sz="600" dirty="0"/>
          </a:p>
        </p:txBody>
      </p:sp>
      <p:sp>
        <p:nvSpPr>
          <p:cNvPr id="58" name="Shape 56"/>
          <p:cNvSpPr/>
          <p:nvPr/>
        </p:nvSpPr>
        <p:spPr>
          <a:xfrm>
            <a:off x="5001768" y="3191256"/>
            <a:ext cx="6254496" cy="384048"/>
          </a:xfrm>
          <a:prstGeom prst="rect">
            <a:avLst/>
          </a:prstGeom>
          <a:solidFill>
            <a:srgbClr val="F8FAFC"/>
          </a:solidFill>
          <a:ln w="12700">
            <a:solidFill>
              <a:srgbClr val="F8FAFC"/>
            </a:solidFill>
            <a:prstDash val="solid"/>
          </a:ln>
        </p:spPr>
      </p:sp>
      <p:sp>
        <p:nvSpPr>
          <p:cNvPr id="59" name="Text 57"/>
          <p:cNvSpPr/>
          <p:nvPr/>
        </p:nvSpPr>
        <p:spPr>
          <a:xfrm>
            <a:off x="5184648" y="3291840"/>
            <a:ext cx="1097280" cy="109728"/>
          </a:xfrm>
          <a:prstGeom prst="rect">
            <a:avLst/>
          </a:prstGeom>
          <a:noFill/>
          <a:ln/>
        </p:spPr>
        <p:txBody>
          <a:bodyPr wrap="square" lIns="0" tIns="0" rIns="0" bIns="0" rtlCol="0" anchor="t">
            <a:normAutofit/>
          </a:bodyPr>
          <a:lstStyle/>
          <a:p>
            <a:pPr algn="l" indent="0" marL="0">
              <a:buNone/>
            </a:pPr>
            <a:r>
              <a:rPr lang="en-US" sz="770" b="1" dirty="0">
                <a:solidFill>
                  <a:srgbClr val="111827"/>
                </a:solidFill>
                <a:latin typeface="Aptos" pitchFamily="34" charset="0"/>
                <a:ea typeface="Aptos" pitchFamily="34" charset="-122"/>
                <a:cs typeface="Aptos" pitchFamily="34" charset="-120"/>
              </a:rPr>
              <a:t>Element C</a:t>
            </a:r>
            <a:endParaRPr lang="en-US" sz="770" dirty="0"/>
          </a:p>
        </p:txBody>
      </p:sp>
      <p:sp>
        <p:nvSpPr>
          <p:cNvPr id="60" name="Text 58"/>
          <p:cNvSpPr/>
          <p:nvPr/>
        </p:nvSpPr>
        <p:spPr>
          <a:xfrm>
            <a:off x="6519672" y="3291840"/>
            <a:ext cx="1143000" cy="109728"/>
          </a:xfrm>
          <a:prstGeom prst="rect">
            <a:avLst/>
          </a:prstGeom>
          <a:noFill/>
          <a:ln/>
        </p:spPr>
        <p:txBody>
          <a:bodyPr wrap="square" lIns="0" tIns="0" rIns="0" bIns="0" rtlCol="0" anchor="t">
            <a:normAutofit/>
          </a:bodyPr>
          <a:lstStyle/>
          <a:p>
            <a:pPr algn="l" indent="0" marL="0">
              <a:buNone/>
            </a:pPr>
            <a:r>
              <a:rPr lang="en-US" sz="760" dirty="0">
                <a:solidFill>
                  <a:srgbClr val="475569"/>
                </a:solidFill>
                <a:latin typeface="Aptos" pitchFamily="34" charset="0"/>
                <a:ea typeface="Aptos" pitchFamily="34" charset="-122"/>
                <a:cs typeface="Aptos" pitchFamily="34" charset="-120"/>
              </a:rPr>
              <a:t>Data-processing logic</a:t>
            </a:r>
            <a:endParaRPr lang="en-US" sz="760" dirty="0"/>
          </a:p>
        </p:txBody>
      </p:sp>
      <p:sp>
        <p:nvSpPr>
          <p:cNvPr id="61" name="Text 59"/>
          <p:cNvSpPr/>
          <p:nvPr/>
        </p:nvSpPr>
        <p:spPr>
          <a:xfrm>
            <a:off x="7927848" y="3291840"/>
            <a:ext cx="1554480" cy="109728"/>
          </a:xfrm>
          <a:prstGeom prst="rect">
            <a:avLst/>
          </a:prstGeom>
          <a:noFill/>
          <a:ln/>
        </p:spPr>
        <p:txBody>
          <a:bodyPr wrap="square" lIns="0" tIns="0" rIns="0" bIns="0" rtlCol="0" anchor="t">
            <a:normAutofit/>
          </a:bodyPr>
          <a:lstStyle/>
          <a:p>
            <a:pPr algn="l" indent="0" marL="0">
              <a:buNone/>
            </a:pPr>
            <a:r>
              <a:rPr lang="en-US" sz="750" dirty="0">
                <a:solidFill>
                  <a:srgbClr val="475569"/>
                </a:solidFill>
                <a:latin typeface="Aptos" pitchFamily="34" charset="0"/>
                <a:ea typeface="Aptos" pitchFamily="34" charset="-122"/>
                <a:cs typeface="Aptos" pitchFamily="34" charset="-120"/>
              </a:rPr>
              <a:t>No exact disclosure found</a:t>
            </a:r>
            <a:endParaRPr lang="en-US" sz="750" dirty="0"/>
          </a:p>
        </p:txBody>
      </p:sp>
      <p:sp>
        <p:nvSpPr>
          <p:cNvPr id="62" name="Shape 60"/>
          <p:cNvSpPr/>
          <p:nvPr/>
        </p:nvSpPr>
        <p:spPr>
          <a:xfrm>
            <a:off x="9628632" y="3264408"/>
            <a:ext cx="658368" cy="173736"/>
          </a:xfrm>
          <a:prstGeom prst="roundRect">
            <a:avLst>
              <a:gd name="adj" fmla="val 31579"/>
            </a:avLst>
          </a:prstGeom>
          <a:solidFill>
            <a:srgbClr val="DC2626"/>
          </a:solidFill>
          <a:ln w="12700">
            <a:solidFill>
              <a:srgbClr val="DC2626"/>
            </a:solidFill>
            <a:prstDash val="solid"/>
          </a:ln>
        </p:spPr>
      </p:sp>
      <p:sp>
        <p:nvSpPr>
          <p:cNvPr id="63" name="Text 61"/>
          <p:cNvSpPr/>
          <p:nvPr/>
        </p:nvSpPr>
        <p:spPr>
          <a:xfrm>
            <a:off x="9628632" y="3305556"/>
            <a:ext cx="658368" cy="109728"/>
          </a:xfrm>
          <a:prstGeom prst="rect">
            <a:avLst/>
          </a:prstGeom>
          <a:noFill/>
          <a:ln/>
        </p:spPr>
        <p:txBody>
          <a:bodyPr wrap="square" lIns="0" tIns="0" rIns="0" bIns="0" rtlCol="0" anchor="t">
            <a:normAutofit/>
          </a:bodyPr>
          <a:lstStyle/>
          <a:p>
            <a:pPr algn="ctr" indent="0" marL="0">
              <a:buNone/>
            </a:pPr>
            <a:r>
              <a:rPr lang="en-US" sz="600" b="1" dirty="0">
                <a:solidFill>
                  <a:srgbClr val="FFFFFF"/>
                </a:solidFill>
                <a:latin typeface="Aptos" pitchFamily="34" charset="0"/>
                <a:ea typeface="Aptos" pitchFamily="34" charset="-122"/>
                <a:cs typeface="Aptos" pitchFamily="34" charset="-120"/>
              </a:rPr>
              <a:t>Gap</a:t>
            </a:r>
            <a:endParaRPr lang="en-US" sz="600" dirty="0"/>
          </a:p>
        </p:txBody>
      </p:sp>
      <p:sp>
        <p:nvSpPr>
          <p:cNvPr id="64" name="Text 62"/>
          <p:cNvSpPr/>
          <p:nvPr/>
        </p:nvSpPr>
        <p:spPr>
          <a:xfrm>
            <a:off x="5184648" y="3767328"/>
            <a:ext cx="1097280" cy="109728"/>
          </a:xfrm>
          <a:prstGeom prst="rect">
            <a:avLst/>
          </a:prstGeom>
          <a:noFill/>
          <a:ln/>
        </p:spPr>
        <p:txBody>
          <a:bodyPr wrap="square" lIns="0" tIns="0" rIns="0" bIns="0" rtlCol="0" anchor="t">
            <a:normAutofit/>
          </a:bodyPr>
          <a:lstStyle/>
          <a:p>
            <a:pPr algn="l" indent="0" marL="0">
              <a:buNone/>
            </a:pPr>
            <a:r>
              <a:rPr lang="en-US" sz="770" b="1" dirty="0">
                <a:solidFill>
                  <a:srgbClr val="111827"/>
                </a:solidFill>
                <a:latin typeface="Aptos" pitchFamily="34" charset="0"/>
                <a:ea typeface="Aptos" pitchFamily="34" charset="-122"/>
                <a:cs typeface="Aptos" pitchFamily="34" charset="-120"/>
              </a:rPr>
              <a:t>Element D</a:t>
            </a:r>
            <a:endParaRPr lang="en-US" sz="770" dirty="0"/>
          </a:p>
        </p:txBody>
      </p:sp>
      <p:sp>
        <p:nvSpPr>
          <p:cNvPr id="65" name="Text 63"/>
          <p:cNvSpPr/>
          <p:nvPr/>
        </p:nvSpPr>
        <p:spPr>
          <a:xfrm>
            <a:off x="6519672" y="3767328"/>
            <a:ext cx="1143000" cy="109728"/>
          </a:xfrm>
          <a:prstGeom prst="rect">
            <a:avLst/>
          </a:prstGeom>
          <a:noFill/>
          <a:ln/>
        </p:spPr>
        <p:txBody>
          <a:bodyPr wrap="square" lIns="0" tIns="0" rIns="0" bIns="0" rtlCol="0" anchor="t">
            <a:normAutofit/>
          </a:bodyPr>
          <a:lstStyle/>
          <a:p>
            <a:pPr algn="l" indent="0" marL="0">
              <a:buNone/>
            </a:pPr>
            <a:r>
              <a:rPr lang="en-US" sz="760" dirty="0">
                <a:solidFill>
                  <a:srgbClr val="475569"/>
                </a:solidFill>
                <a:latin typeface="Aptos" pitchFamily="34" charset="0"/>
                <a:ea typeface="Aptos" pitchFamily="34" charset="-122"/>
                <a:cs typeface="Aptos" pitchFamily="34" charset="-120"/>
              </a:rPr>
              <a:t>Optional dependent feature</a:t>
            </a:r>
            <a:endParaRPr lang="en-US" sz="760" dirty="0"/>
          </a:p>
        </p:txBody>
      </p:sp>
      <p:sp>
        <p:nvSpPr>
          <p:cNvPr id="66" name="Text 64"/>
          <p:cNvSpPr/>
          <p:nvPr/>
        </p:nvSpPr>
        <p:spPr>
          <a:xfrm>
            <a:off x="7927848" y="3767328"/>
            <a:ext cx="1554480" cy="109728"/>
          </a:xfrm>
          <a:prstGeom prst="rect">
            <a:avLst/>
          </a:prstGeom>
          <a:noFill/>
          <a:ln/>
        </p:spPr>
        <p:txBody>
          <a:bodyPr wrap="square" lIns="0" tIns="0" rIns="0" bIns="0" rtlCol="0" anchor="t">
            <a:normAutofit/>
          </a:bodyPr>
          <a:lstStyle/>
          <a:p>
            <a:pPr algn="l" indent="0" marL="0">
              <a:buNone/>
            </a:pPr>
            <a:r>
              <a:rPr lang="en-US" sz="750" dirty="0">
                <a:solidFill>
                  <a:srgbClr val="475569"/>
                </a:solidFill>
                <a:latin typeface="Aptos" pitchFamily="34" charset="0"/>
                <a:ea typeface="Aptos" pitchFamily="34" charset="-122"/>
                <a:cs typeface="Aptos" pitchFamily="34" charset="-120"/>
              </a:rPr>
              <a:t>Secondary reference</a:t>
            </a:r>
            <a:endParaRPr lang="en-US" sz="750" dirty="0"/>
          </a:p>
        </p:txBody>
      </p:sp>
      <p:sp>
        <p:nvSpPr>
          <p:cNvPr id="67" name="Shape 65"/>
          <p:cNvSpPr/>
          <p:nvPr/>
        </p:nvSpPr>
        <p:spPr>
          <a:xfrm>
            <a:off x="9628632" y="3739896"/>
            <a:ext cx="658368" cy="173736"/>
          </a:xfrm>
          <a:prstGeom prst="roundRect">
            <a:avLst>
              <a:gd name="adj" fmla="val 31579"/>
            </a:avLst>
          </a:prstGeom>
          <a:solidFill>
            <a:srgbClr val="F59E0B"/>
          </a:solidFill>
          <a:ln w="12700">
            <a:solidFill>
              <a:srgbClr val="F59E0B"/>
            </a:solidFill>
            <a:prstDash val="solid"/>
          </a:ln>
        </p:spPr>
      </p:sp>
      <p:sp>
        <p:nvSpPr>
          <p:cNvPr id="68" name="Text 66"/>
          <p:cNvSpPr/>
          <p:nvPr/>
        </p:nvSpPr>
        <p:spPr>
          <a:xfrm>
            <a:off x="9628632" y="3781044"/>
            <a:ext cx="658368" cy="109728"/>
          </a:xfrm>
          <a:prstGeom prst="rect">
            <a:avLst/>
          </a:prstGeom>
          <a:noFill/>
          <a:ln/>
        </p:spPr>
        <p:txBody>
          <a:bodyPr wrap="square" lIns="0" tIns="0" rIns="0" bIns="0" rtlCol="0" anchor="t">
            <a:normAutofit/>
          </a:bodyPr>
          <a:lstStyle/>
          <a:p>
            <a:pPr algn="ctr" indent="0" marL="0">
              <a:buNone/>
            </a:pPr>
            <a:r>
              <a:rPr lang="en-US" sz="600" b="1" dirty="0">
                <a:solidFill>
                  <a:srgbClr val="FFFFFF"/>
                </a:solidFill>
                <a:latin typeface="Aptos" pitchFamily="34" charset="0"/>
                <a:ea typeface="Aptos" pitchFamily="34" charset="-122"/>
                <a:cs typeface="Aptos" pitchFamily="34" charset="-120"/>
              </a:rPr>
              <a:t>Weak</a:t>
            </a:r>
            <a:endParaRPr lang="en-US" sz="600" dirty="0"/>
          </a:p>
        </p:txBody>
      </p:sp>
      <p:sp>
        <p:nvSpPr>
          <p:cNvPr id="69" name="Shape 67"/>
          <p:cNvSpPr/>
          <p:nvPr/>
        </p:nvSpPr>
        <p:spPr>
          <a:xfrm>
            <a:off x="658368" y="5632704"/>
            <a:ext cx="10881360" cy="429768"/>
          </a:xfrm>
          <a:prstGeom prst="roundRect">
            <a:avLst>
              <a:gd name="adj" fmla="val 17021"/>
            </a:avLst>
          </a:prstGeom>
          <a:solidFill>
            <a:srgbClr val="F8FAFC"/>
          </a:solidFill>
          <a:ln w="13970">
            <a:solidFill>
              <a:srgbClr val="7C3AED"/>
            </a:solidFill>
            <a:prstDash val="solid"/>
          </a:ln>
        </p:spPr>
      </p:sp>
      <p:sp>
        <p:nvSpPr>
          <p:cNvPr id="70" name="Shape 68"/>
          <p:cNvSpPr/>
          <p:nvPr/>
        </p:nvSpPr>
        <p:spPr>
          <a:xfrm>
            <a:off x="658368" y="5632704"/>
            <a:ext cx="91440" cy="429768"/>
          </a:xfrm>
          <a:prstGeom prst="rect">
            <a:avLst/>
          </a:prstGeom>
          <a:solidFill>
            <a:srgbClr val="7C3AED"/>
          </a:solidFill>
          <a:ln w="12700">
            <a:solidFill>
              <a:srgbClr val="7C3AED"/>
            </a:solidFill>
            <a:prstDash val="solid"/>
          </a:ln>
        </p:spPr>
      </p:sp>
      <p:sp>
        <p:nvSpPr>
          <p:cNvPr id="71" name="Text 69"/>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Claim charting forces precision: every conclusion must be tied to a specific claim element and evidence point.</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7C3AED"/>
                </a:solidFill>
              </a:rPr>
              <a:t>I | INTERPRET</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8: prosecution and office-action support</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understand examiner objections and prepare research inputs for response strategy.</a:t>
            </a:r>
            <a:endParaRPr lang="en-US" sz="1050" dirty="0"/>
          </a:p>
        </p:txBody>
      </p:sp>
      <p:sp>
        <p:nvSpPr>
          <p:cNvPr id="9" name="Shape 7"/>
          <p:cNvSpPr/>
          <p:nvPr/>
        </p:nvSpPr>
        <p:spPr>
          <a:xfrm>
            <a:off x="566928" y="1499616"/>
            <a:ext cx="1920240" cy="0"/>
          </a:xfrm>
          <a:prstGeom prst="line">
            <a:avLst/>
          </a:prstGeom>
          <a:noFill/>
          <a:ln w="27940">
            <a:solidFill>
              <a:srgbClr val="7C3AED"/>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E9EEF5"/>
          </a:solidFill>
          <a:ln w="7620">
            <a:solidFill>
              <a:srgbClr val="D7DEE8"/>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13</a:t>
            </a:r>
            <a:endParaRPr lang="en-US" sz="800" dirty="0"/>
          </a:p>
        </p:txBody>
      </p:sp>
      <p:sp>
        <p:nvSpPr>
          <p:cNvPr id="27" name="Shape 25"/>
          <p:cNvSpPr/>
          <p:nvPr/>
        </p:nvSpPr>
        <p:spPr>
          <a:xfrm>
            <a:off x="10104120" y="438912"/>
            <a:ext cx="1389888" cy="475488"/>
          </a:xfrm>
          <a:prstGeom prst="roundRect">
            <a:avLst>
              <a:gd name="adj" fmla="val 19231"/>
            </a:avLst>
          </a:prstGeom>
          <a:solidFill>
            <a:srgbClr val="7C3AED"/>
          </a:solidFill>
          <a:ln w="12700">
            <a:solidFill>
              <a:srgbClr val="7C3AED"/>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I | Interpret</a:t>
            </a:r>
            <a:endParaRPr lang="en-US" sz="850" dirty="0"/>
          </a:p>
        </p:txBody>
      </p:sp>
      <p:sp>
        <p:nvSpPr>
          <p:cNvPr id="29" name="Shape 27"/>
          <p:cNvSpPr/>
          <p:nvPr/>
        </p:nvSpPr>
        <p:spPr>
          <a:xfrm>
            <a:off x="731520" y="1975104"/>
            <a:ext cx="2331720" cy="2011680"/>
          </a:xfrm>
          <a:prstGeom prst="roundRect">
            <a:avLst>
              <a:gd name="adj" fmla="val 3636"/>
            </a:avLst>
          </a:prstGeom>
          <a:solidFill>
            <a:srgbClr val="FFFFFF"/>
          </a:solidFill>
          <a:ln w="13970">
            <a:solidFill>
              <a:srgbClr val="DC2626"/>
            </a:solidFill>
            <a:prstDash val="solid"/>
          </a:ln>
          <a:effectLst>
            <a:outerShdw sx="100000" sy="100000" kx="0" ky="0" algn="bl" rotWithShape="0" blurRad="12700" dist="50800" dir="2700000">
              <a:srgbClr val="9AA6B2">
                <a:alpha val="16000"/>
              </a:srgbClr>
            </a:outerShdw>
          </a:effectLst>
        </p:spPr>
      </p:sp>
      <p:sp>
        <p:nvSpPr>
          <p:cNvPr id="30" name="Shape 28"/>
          <p:cNvSpPr/>
          <p:nvPr/>
        </p:nvSpPr>
        <p:spPr>
          <a:xfrm>
            <a:off x="1536192" y="2212848"/>
            <a:ext cx="640080" cy="640080"/>
          </a:xfrm>
          <a:prstGeom prst="ellipse">
            <a:avLst/>
          </a:prstGeom>
          <a:solidFill>
            <a:srgbClr val="DC2626"/>
          </a:solidFill>
          <a:ln w="12700">
            <a:solidFill>
              <a:srgbClr val="DC2626"/>
            </a:solidFill>
            <a:prstDash val="solid"/>
          </a:ln>
        </p:spPr>
      </p:sp>
      <p:sp>
        <p:nvSpPr>
          <p:cNvPr id="31" name="Text 29"/>
          <p:cNvSpPr/>
          <p:nvPr/>
        </p:nvSpPr>
        <p:spPr>
          <a:xfrm>
            <a:off x="1536192" y="2368296"/>
            <a:ext cx="640080" cy="146304"/>
          </a:xfrm>
          <a:prstGeom prst="rect">
            <a:avLst/>
          </a:prstGeom>
          <a:noFill/>
          <a:ln/>
        </p:spPr>
        <p:txBody>
          <a:bodyPr wrap="square" lIns="0" tIns="0" rIns="0" bIns="0" rtlCol="0" anchor="t">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1</a:t>
            </a:r>
            <a:endParaRPr lang="en-US" sz="1150" dirty="0"/>
          </a:p>
        </p:txBody>
      </p:sp>
      <p:sp>
        <p:nvSpPr>
          <p:cNvPr id="32" name="Text 30"/>
          <p:cNvSpPr/>
          <p:nvPr/>
        </p:nvSpPr>
        <p:spPr>
          <a:xfrm>
            <a:off x="932688" y="3044952"/>
            <a:ext cx="1920240" cy="164592"/>
          </a:xfrm>
          <a:prstGeom prst="rect">
            <a:avLst/>
          </a:prstGeom>
          <a:noFill/>
          <a:ln/>
        </p:spPr>
        <p:txBody>
          <a:bodyPr wrap="square" lIns="0" tIns="0" rIns="0" bIns="0" rtlCol="0" anchor="t">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Objection</a:t>
            </a:r>
            <a:endParaRPr lang="en-US" sz="1150" dirty="0"/>
          </a:p>
        </p:txBody>
      </p:sp>
      <p:sp>
        <p:nvSpPr>
          <p:cNvPr id="33" name="Text 31"/>
          <p:cNvSpPr/>
          <p:nvPr/>
        </p:nvSpPr>
        <p:spPr>
          <a:xfrm>
            <a:off x="950976" y="3429000"/>
            <a:ext cx="1874520" cy="320040"/>
          </a:xfrm>
          <a:prstGeom prst="rect">
            <a:avLst/>
          </a:prstGeom>
          <a:noFill/>
          <a:ln/>
        </p:spPr>
        <p:txBody>
          <a:bodyPr wrap="square" lIns="0" tIns="0" rIns="0" bIns="0" rtlCol="0" anchor="t">
            <a:normAutofit/>
          </a:bodyPr>
          <a:lstStyle/>
          <a:p>
            <a:pPr algn="ctr" indent="0" marL="0">
              <a:buNone/>
            </a:pPr>
            <a:r>
              <a:rPr lang="en-US" sz="780" dirty="0">
                <a:solidFill>
                  <a:srgbClr val="475569"/>
                </a:solidFill>
                <a:latin typeface="Aptos" pitchFamily="34" charset="0"/>
                <a:ea typeface="Aptos" pitchFamily="34" charset="-122"/>
                <a:cs typeface="Aptos" pitchFamily="34" charset="-120"/>
              </a:rPr>
              <a:t>Novelty / inventive step / clarity / support / exclusion</a:t>
            </a:r>
            <a:endParaRPr lang="en-US" sz="780" dirty="0"/>
          </a:p>
        </p:txBody>
      </p:sp>
      <p:sp>
        <p:nvSpPr>
          <p:cNvPr id="34" name="Shape 32"/>
          <p:cNvSpPr/>
          <p:nvPr/>
        </p:nvSpPr>
        <p:spPr>
          <a:xfrm>
            <a:off x="3172968" y="2779776"/>
            <a:ext cx="256032" cy="164592"/>
          </a:xfrm>
          <a:prstGeom prst="rightArrow">
            <a:avLst/>
          </a:prstGeom>
          <a:solidFill>
            <a:srgbClr val="CBD5E1">
              <a:alpha val="94000"/>
            </a:srgbClr>
          </a:solidFill>
          <a:ln w="12700">
            <a:solidFill>
              <a:srgbClr val="CBD5E1"/>
            </a:solidFill>
            <a:prstDash val="solid"/>
          </a:ln>
        </p:spPr>
      </p:sp>
      <p:sp>
        <p:nvSpPr>
          <p:cNvPr id="35" name="Shape 33"/>
          <p:cNvSpPr/>
          <p:nvPr/>
        </p:nvSpPr>
        <p:spPr>
          <a:xfrm>
            <a:off x="3547872" y="1975104"/>
            <a:ext cx="2331720" cy="2011680"/>
          </a:xfrm>
          <a:prstGeom prst="roundRect">
            <a:avLst>
              <a:gd name="adj" fmla="val 3636"/>
            </a:avLst>
          </a:prstGeom>
          <a:solidFill>
            <a:srgbClr val="FFFFFF"/>
          </a:solidFill>
          <a:ln w="13970">
            <a:solidFill>
              <a:srgbClr val="F59E0B"/>
            </a:solidFill>
            <a:prstDash val="solid"/>
          </a:ln>
          <a:effectLst>
            <a:outerShdw sx="100000" sy="100000" kx="0" ky="0" algn="bl" rotWithShape="0" blurRad="12700" dist="50800" dir="2700000">
              <a:srgbClr val="9AA6B2">
                <a:alpha val="16000"/>
              </a:srgbClr>
            </a:outerShdw>
          </a:effectLst>
        </p:spPr>
      </p:sp>
      <p:sp>
        <p:nvSpPr>
          <p:cNvPr id="36" name="Shape 34"/>
          <p:cNvSpPr/>
          <p:nvPr/>
        </p:nvSpPr>
        <p:spPr>
          <a:xfrm>
            <a:off x="4352544" y="2212848"/>
            <a:ext cx="640080" cy="640080"/>
          </a:xfrm>
          <a:prstGeom prst="ellipse">
            <a:avLst/>
          </a:prstGeom>
          <a:solidFill>
            <a:srgbClr val="F59E0B"/>
          </a:solidFill>
          <a:ln w="12700">
            <a:solidFill>
              <a:srgbClr val="F59E0B"/>
            </a:solidFill>
            <a:prstDash val="solid"/>
          </a:ln>
        </p:spPr>
      </p:sp>
      <p:sp>
        <p:nvSpPr>
          <p:cNvPr id="37" name="Text 35"/>
          <p:cNvSpPr/>
          <p:nvPr/>
        </p:nvSpPr>
        <p:spPr>
          <a:xfrm>
            <a:off x="4352544" y="2368296"/>
            <a:ext cx="640080" cy="146304"/>
          </a:xfrm>
          <a:prstGeom prst="rect">
            <a:avLst/>
          </a:prstGeom>
          <a:noFill/>
          <a:ln/>
        </p:spPr>
        <p:txBody>
          <a:bodyPr wrap="square" lIns="0" tIns="0" rIns="0" bIns="0" rtlCol="0" anchor="t">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2</a:t>
            </a:r>
            <a:endParaRPr lang="en-US" sz="1150" dirty="0"/>
          </a:p>
        </p:txBody>
      </p:sp>
      <p:sp>
        <p:nvSpPr>
          <p:cNvPr id="38" name="Text 36"/>
          <p:cNvSpPr/>
          <p:nvPr/>
        </p:nvSpPr>
        <p:spPr>
          <a:xfrm>
            <a:off x="3749040" y="3044952"/>
            <a:ext cx="1920240" cy="164592"/>
          </a:xfrm>
          <a:prstGeom prst="rect">
            <a:avLst/>
          </a:prstGeom>
          <a:noFill/>
          <a:ln/>
        </p:spPr>
        <p:txBody>
          <a:bodyPr wrap="square" lIns="0" tIns="0" rIns="0" bIns="0" rtlCol="0" anchor="t">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Issue framing</a:t>
            </a:r>
            <a:endParaRPr lang="en-US" sz="1150" dirty="0"/>
          </a:p>
        </p:txBody>
      </p:sp>
      <p:sp>
        <p:nvSpPr>
          <p:cNvPr id="39" name="Text 37"/>
          <p:cNvSpPr/>
          <p:nvPr/>
        </p:nvSpPr>
        <p:spPr>
          <a:xfrm>
            <a:off x="3767328" y="3429000"/>
            <a:ext cx="1874520" cy="320040"/>
          </a:xfrm>
          <a:prstGeom prst="rect">
            <a:avLst/>
          </a:prstGeom>
          <a:noFill/>
          <a:ln/>
        </p:spPr>
        <p:txBody>
          <a:bodyPr wrap="square" lIns="0" tIns="0" rIns="0" bIns="0" rtlCol="0" anchor="t">
            <a:normAutofit/>
          </a:bodyPr>
          <a:lstStyle/>
          <a:p>
            <a:pPr algn="ctr" indent="0" marL="0">
              <a:buNone/>
            </a:pPr>
            <a:r>
              <a:rPr lang="en-US" sz="780" dirty="0">
                <a:solidFill>
                  <a:srgbClr val="475569"/>
                </a:solidFill>
                <a:latin typeface="Aptos" pitchFamily="34" charset="0"/>
                <a:ea typeface="Aptos" pitchFamily="34" charset="-122"/>
                <a:cs typeface="Aptos" pitchFamily="34" charset="-120"/>
              </a:rPr>
              <a:t>What exactly is the examiner relying on?</a:t>
            </a:r>
            <a:endParaRPr lang="en-US" sz="780" dirty="0"/>
          </a:p>
        </p:txBody>
      </p:sp>
      <p:sp>
        <p:nvSpPr>
          <p:cNvPr id="40" name="Shape 38"/>
          <p:cNvSpPr/>
          <p:nvPr/>
        </p:nvSpPr>
        <p:spPr>
          <a:xfrm>
            <a:off x="5989320" y="2779776"/>
            <a:ext cx="256032" cy="164592"/>
          </a:xfrm>
          <a:prstGeom prst="rightArrow">
            <a:avLst/>
          </a:prstGeom>
          <a:solidFill>
            <a:srgbClr val="CBD5E1">
              <a:alpha val="94000"/>
            </a:srgbClr>
          </a:solidFill>
          <a:ln w="12700">
            <a:solidFill>
              <a:srgbClr val="CBD5E1"/>
            </a:solidFill>
            <a:prstDash val="solid"/>
          </a:ln>
        </p:spPr>
      </p:sp>
      <p:sp>
        <p:nvSpPr>
          <p:cNvPr id="41" name="Shape 39"/>
          <p:cNvSpPr/>
          <p:nvPr/>
        </p:nvSpPr>
        <p:spPr>
          <a:xfrm>
            <a:off x="6364224" y="1975104"/>
            <a:ext cx="2331720" cy="2011680"/>
          </a:xfrm>
          <a:prstGeom prst="roundRect">
            <a:avLst>
              <a:gd name="adj" fmla="val 3636"/>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42" name="Shape 40"/>
          <p:cNvSpPr/>
          <p:nvPr/>
        </p:nvSpPr>
        <p:spPr>
          <a:xfrm>
            <a:off x="7168896" y="2212848"/>
            <a:ext cx="640080" cy="640080"/>
          </a:xfrm>
          <a:prstGeom prst="ellipse">
            <a:avLst/>
          </a:prstGeom>
          <a:solidFill>
            <a:srgbClr val="1D4ED8"/>
          </a:solidFill>
          <a:ln w="12700">
            <a:solidFill>
              <a:srgbClr val="1D4ED8"/>
            </a:solidFill>
            <a:prstDash val="solid"/>
          </a:ln>
        </p:spPr>
      </p:sp>
      <p:sp>
        <p:nvSpPr>
          <p:cNvPr id="43" name="Text 41"/>
          <p:cNvSpPr/>
          <p:nvPr/>
        </p:nvSpPr>
        <p:spPr>
          <a:xfrm>
            <a:off x="7168896" y="2368296"/>
            <a:ext cx="640080" cy="146304"/>
          </a:xfrm>
          <a:prstGeom prst="rect">
            <a:avLst/>
          </a:prstGeom>
          <a:noFill/>
          <a:ln/>
        </p:spPr>
        <p:txBody>
          <a:bodyPr wrap="square" lIns="0" tIns="0" rIns="0" bIns="0" rtlCol="0" anchor="t">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3</a:t>
            </a:r>
            <a:endParaRPr lang="en-US" sz="1150" dirty="0"/>
          </a:p>
        </p:txBody>
      </p:sp>
      <p:sp>
        <p:nvSpPr>
          <p:cNvPr id="44" name="Text 42"/>
          <p:cNvSpPr/>
          <p:nvPr/>
        </p:nvSpPr>
        <p:spPr>
          <a:xfrm>
            <a:off x="6565392" y="3044952"/>
            <a:ext cx="1920240" cy="164592"/>
          </a:xfrm>
          <a:prstGeom prst="rect">
            <a:avLst/>
          </a:prstGeom>
          <a:noFill/>
          <a:ln/>
        </p:spPr>
        <p:txBody>
          <a:bodyPr wrap="square" lIns="0" tIns="0" rIns="0" bIns="0" rtlCol="0" anchor="t">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Evidence check</a:t>
            </a:r>
            <a:endParaRPr lang="en-US" sz="1150" dirty="0"/>
          </a:p>
        </p:txBody>
      </p:sp>
      <p:sp>
        <p:nvSpPr>
          <p:cNvPr id="45" name="Text 43"/>
          <p:cNvSpPr/>
          <p:nvPr/>
        </p:nvSpPr>
        <p:spPr>
          <a:xfrm>
            <a:off x="6583680" y="3429000"/>
            <a:ext cx="1874520" cy="320040"/>
          </a:xfrm>
          <a:prstGeom prst="rect">
            <a:avLst/>
          </a:prstGeom>
          <a:noFill/>
          <a:ln/>
        </p:spPr>
        <p:txBody>
          <a:bodyPr wrap="square" lIns="0" tIns="0" rIns="0" bIns="0" rtlCol="0" anchor="t">
            <a:normAutofit/>
          </a:bodyPr>
          <a:lstStyle/>
          <a:p>
            <a:pPr algn="ctr" indent="0" marL="0">
              <a:buNone/>
            </a:pPr>
            <a:r>
              <a:rPr lang="en-US" sz="780" dirty="0">
                <a:solidFill>
                  <a:srgbClr val="475569"/>
                </a:solidFill>
                <a:latin typeface="Aptos" pitchFamily="34" charset="0"/>
                <a:ea typeface="Aptos" pitchFamily="34" charset="-122"/>
                <a:cs typeface="Aptos" pitchFamily="34" charset="-120"/>
              </a:rPr>
              <a:t>Does the reference disclose every required element?</a:t>
            </a:r>
            <a:endParaRPr lang="en-US" sz="780" dirty="0"/>
          </a:p>
        </p:txBody>
      </p:sp>
      <p:sp>
        <p:nvSpPr>
          <p:cNvPr id="46" name="Shape 44"/>
          <p:cNvSpPr/>
          <p:nvPr/>
        </p:nvSpPr>
        <p:spPr>
          <a:xfrm>
            <a:off x="8805672" y="2779776"/>
            <a:ext cx="256032" cy="164592"/>
          </a:xfrm>
          <a:prstGeom prst="rightArrow">
            <a:avLst/>
          </a:prstGeom>
          <a:solidFill>
            <a:srgbClr val="CBD5E1">
              <a:alpha val="94000"/>
            </a:srgbClr>
          </a:solidFill>
          <a:ln w="12700">
            <a:solidFill>
              <a:srgbClr val="CBD5E1"/>
            </a:solidFill>
            <a:prstDash val="solid"/>
          </a:ln>
        </p:spPr>
      </p:sp>
      <p:sp>
        <p:nvSpPr>
          <p:cNvPr id="47" name="Shape 45"/>
          <p:cNvSpPr/>
          <p:nvPr/>
        </p:nvSpPr>
        <p:spPr>
          <a:xfrm>
            <a:off x="9180576" y="1975104"/>
            <a:ext cx="2331720" cy="2011680"/>
          </a:xfrm>
          <a:prstGeom prst="roundRect">
            <a:avLst>
              <a:gd name="adj" fmla="val 3636"/>
            </a:avLst>
          </a:prstGeom>
          <a:solidFill>
            <a:srgbClr val="FFFFFF"/>
          </a:solidFill>
          <a:ln w="13970">
            <a:solidFill>
              <a:srgbClr val="0EA5A4"/>
            </a:solidFill>
            <a:prstDash val="solid"/>
          </a:ln>
          <a:effectLst>
            <a:outerShdw sx="100000" sy="100000" kx="0" ky="0" algn="bl" rotWithShape="0" blurRad="12700" dist="50800" dir="2700000">
              <a:srgbClr val="9AA6B2">
                <a:alpha val="16000"/>
              </a:srgbClr>
            </a:outerShdw>
          </a:effectLst>
        </p:spPr>
      </p:sp>
      <p:sp>
        <p:nvSpPr>
          <p:cNvPr id="48" name="Shape 46"/>
          <p:cNvSpPr/>
          <p:nvPr/>
        </p:nvSpPr>
        <p:spPr>
          <a:xfrm>
            <a:off x="9985248" y="2212848"/>
            <a:ext cx="640080" cy="640080"/>
          </a:xfrm>
          <a:prstGeom prst="ellipse">
            <a:avLst/>
          </a:prstGeom>
          <a:solidFill>
            <a:srgbClr val="0EA5A4"/>
          </a:solidFill>
          <a:ln w="12700">
            <a:solidFill>
              <a:srgbClr val="0EA5A4"/>
            </a:solidFill>
            <a:prstDash val="solid"/>
          </a:ln>
        </p:spPr>
      </p:sp>
      <p:sp>
        <p:nvSpPr>
          <p:cNvPr id="49" name="Text 47"/>
          <p:cNvSpPr/>
          <p:nvPr/>
        </p:nvSpPr>
        <p:spPr>
          <a:xfrm>
            <a:off x="9985248" y="2368296"/>
            <a:ext cx="640080" cy="146304"/>
          </a:xfrm>
          <a:prstGeom prst="rect">
            <a:avLst/>
          </a:prstGeom>
          <a:noFill/>
          <a:ln/>
        </p:spPr>
        <p:txBody>
          <a:bodyPr wrap="square" lIns="0" tIns="0" rIns="0" bIns="0" rtlCol="0" anchor="t">
            <a:normAutofit/>
          </a:bodyPr>
          <a:lstStyle/>
          <a:p>
            <a:pPr algn="ctr" indent="0" marL="0">
              <a:buNone/>
            </a:pPr>
            <a:r>
              <a:rPr lang="en-US" sz="1150" b="1" dirty="0">
                <a:solidFill>
                  <a:srgbClr val="FFFFFF"/>
                </a:solidFill>
                <a:latin typeface="Aptos" pitchFamily="34" charset="0"/>
                <a:ea typeface="Aptos" pitchFamily="34" charset="-122"/>
                <a:cs typeface="Aptos" pitchFamily="34" charset="-120"/>
              </a:rPr>
              <a:t>4</a:t>
            </a:r>
            <a:endParaRPr lang="en-US" sz="1150" dirty="0"/>
          </a:p>
        </p:txBody>
      </p:sp>
      <p:sp>
        <p:nvSpPr>
          <p:cNvPr id="50" name="Text 48"/>
          <p:cNvSpPr/>
          <p:nvPr/>
        </p:nvSpPr>
        <p:spPr>
          <a:xfrm>
            <a:off x="9381744" y="3044952"/>
            <a:ext cx="1920240" cy="164592"/>
          </a:xfrm>
          <a:prstGeom prst="rect">
            <a:avLst/>
          </a:prstGeom>
          <a:noFill/>
          <a:ln/>
        </p:spPr>
        <p:txBody>
          <a:bodyPr wrap="square" lIns="0" tIns="0" rIns="0" bIns="0" rtlCol="0" anchor="t">
            <a:normAutofit/>
          </a:bodyPr>
          <a:lstStyle/>
          <a:p>
            <a:pPr algn="ctr" indent="0" marL="0">
              <a:buNone/>
            </a:pPr>
            <a:r>
              <a:rPr lang="en-US" sz="1150" b="1" dirty="0">
                <a:solidFill>
                  <a:srgbClr val="111827"/>
                </a:solidFill>
                <a:latin typeface="Aptos" pitchFamily="34" charset="0"/>
                <a:ea typeface="Aptos" pitchFamily="34" charset="-122"/>
                <a:cs typeface="Aptos" pitchFamily="34" charset="-120"/>
              </a:rPr>
              <a:t>Response input</a:t>
            </a:r>
            <a:endParaRPr lang="en-US" sz="1150" dirty="0"/>
          </a:p>
        </p:txBody>
      </p:sp>
      <p:sp>
        <p:nvSpPr>
          <p:cNvPr id="51" name="Text 49"/>
          <p:cNvSpPr/>
          <p:nvPr/>
        </p:nvSpPr>
        <p:spPr>
          <a:xfrm>
            <a:off x="9400032" y="3429000"/>
            <a:ext cx="1874520" cy="320040"/>
          </a:xfrm>
          <a:prstGeom prst="rect">
            <a:avLst/>
          </a:prstGeom>
          <a:noFill/>
          <a:ln/>
        </p:spPr>
        <p:txBody>
          <a:bodyPr wrap="square" lIns="0" tIns="0" rIns="0" bIns="0" rtlCol="0" anchor="t">
            <a:normAutofit/>
          </a:bodyPr>
          <a:lstStyle/>
          <a:p>
            <a:pPr algn="ctr" indent="0" marL="0">
              <a:buNone/>
            </a:pPr>
            <a:r>
              <a:rPr lang="en-US" sz="780" dirty="0">
                <a:solidFill>
                  <a:srgbClr val="475569"/>
                </a:solidFill>
                <a:latin typeface="Aptos" pitchFamily="34" charset="0"/>
                <a:ea typeface="Aptos" pitchFamily="34" charset="-122"/>
                <a:cs typeface="Aptos" pitchFamily="34" charset="-120"/>
              </a:rPr>
              <a:t>Distinguish, amend, clarify or gather support</a:t>
            </a:r>
            <a:endParaRPr lang="en-US" sz="780" dirty="0"/>
          </a:p>
        </p:txBody>
      </p:sp>
      <p:sp>
        <p:nvSpPr>
          <p:cNvPr id="52" name="Shape 50"/>
          <p:cNvSpPr/>
          <p:nvPr/>
        </p:nvSpPr>
        <p:spPr>
          <a:xfrm>
            <a:off x="2011680" y="4553712"/>
            <a:ext cx="8156448" cy="658368"/>
          </a:xfrm>
          <a:prstGeom prst="roundRect">
            <a:avLst>
              <a:gd name="adj" fmla="val 11111"/>
            </a:avLst>
          </a:prstGeom>
          <a:solidFill>
            <a:srgbClr val="F3ECFF"/>
          </a:solidFill>
          <a:ln w="11430">
            <a:solidFill>
              <a:srgbClr val="7C3AED"/>
            </a:solidFill>
            <a:prstDash val="solid"/>
          </a:ln>
        </p:spPr>
      </p:sp>
      <p:sp>
        <p:nvSpPr>
          <p:cNvPr id="53" name="Text 51"/>
          <p:cNvSpPr/>
          <p:nvPr/>
        </p:nvSpPr>
        <p:spPr>
          <a:xfrm>
            <a:off x="2286000" y="4773168"/>
            <a:ext cx="841248" cy="109728"/>
          </a:xfrm>
          <a:prstGeom prst="rect">
            <a:avLst/>
          </a:prstGeom>
          <a:noFill/>
          <a:ln/>
        </p:spPr>
        <p:txBody>
          <a:bodyPr wrap="square" lIns="0" tIns="0" rIns="0" bIns="0" rtlCol="0" anchor="t">
            <a:normAutofit/>
          </a:bodyPr>
          <a:lstStyle/>
          <a:p>
            <a:pPr algn="l" indent="0" marL="0">
              <a:buNone/>
            </a:pPr>
            <a:r>
              <a:rPr lang="en-US" sz="880" b="1" dirty="0">
                <a:solidFill>
                  <a:srgbClr val="7C3AED"/>
                </a:solidFill>
                <a:latin typeface="Aptos" pitchFamily="34" charset="0"/>
                <a:ea typeface="Aptos" pitchFamily="34" charset="-122"/>
                <a:cs typeface="Aptos" pitchFamily="34" charset="-120"/>
              </a:rPr>
              <a:t>Deliverable:</a:t>
            </a:r>
            <a:endParaRPr lang="en-US" sz="880" dirty="0"/>
          </a:p>
        </p:txBody>
      </p:sp>
      <p:sp>
        <p:nvSpPr>
          <p:cNvPr id="54" name="Text 52"/>
          <p:cNvSpPr/>
          <p:nvPr/>
        </p:nvSpPr>
        <p:spPr>
          <a:xfrm>
            <a:off x="3163824" y="4773168"/>
            <a:ext cx="6446520" cy="109728"/>
          </a:xfrm>
          <a:prstGeom prst="rect">
            <a:avLst/>
          </a:prstGeom>
          <a:noFill/>
          <a:ln/>
        </p:spPr>
        <p:txBody>
          <a:bodyPr wrap="square" lIns="0" tIns="0" rIns="0" bIns="0" rtlCol="0" anchor="t">
            <a:normAutofit/>
          </a:bodyPr>
          <a:lstStyle/>
          <a:p>
            <a:pPr algn="l" indent="0" marL="0">
              <a:buNone/>
            </a:pPr>
            <a:r>
              <a:rPr lang="en-US" sz="860" dirty="0">
                <a:solidFill>
                  <a:srgbClr val="111827"/>
                </a:solidFill>
                <a:latin typeface="Aptos" pitchFamily="34" charset="0"/>
                <a:ea typeface="Aptos" pitchFamily="34" charset="-122"/>
                <a:cs typeface="Aptos" pitchFamily="34" charset="-120"/>
              </a:rPr>
              <a:t>objection matrix, prior-art distinction points, claim-support notes and amendment considerations for senior review.</a:t>
            </a:r>
            <a:endParaRPr lang="en-US" sz="860" dirty="0"/>
          </a:p>
        </p:txBody>
      </p:sp>
      <p:sp>
        <p:nvSpPr>
          <p:cNvPr id="55" name="Shape 53"/>
          <p:cNvSpPr/>
          <p:nvPr/>
        </p:nvSpPr>
        <p:spPr>
          <a:xfrm>
            <a:off x="658368" y="5632704"/>
            <a:ext cx="10881360" cy="429768"/>
          </a:xfrm>
          <a:prstGeom prst="roundRect">
            <a:avLst>
              <a:gd name="adj" fmla="val 17021"/>
            </a:avLst>
          </a:prstGeom>
          <a:solidFill>
            <a:srgbClr val="F8FAFC"/>
          </a:solidFill>
          <a:ln w="13970">
            <a:solidFill>
              <a:srgbClr val="7C3AED"/>
            </a:solidFill>
            <a:prstDash val="solid"/>
          </a:ln>
        </p:spPr>
      </p:sp>
      <p:sp>
        <p:nvSpPr>
          <p:cNvPr id="56" name="Shape 54"/>
          <p:cNvSpPr/>
          <p:nvPr/>
        </p:nvSpPr>
        <p:spPr>
          <a:xfrm>
            <a:off x="658368" y="5632704"/>
            <a:ext cx="91440" cy="429768"/>
          </a:xfrm>
          <a:prstGeom prst="rect">
            <a:avLst/>
          </a:prstGeom>
          <a:solidFill>
            <a:srgbClr val="7C3AED"/>
          </a:solidFill>
          <a:ln w="12700">
            <a:solidFill>
              <a:srgbClr val="7C3AED"/>
            </a:solidFill>
            <a:prstDash val="solid"/>
          </a:ln>
        </p:spPr>
      </p:sp>
      <p:sp>
        <p:nvSpPr>
          <p:cNvPr id="57" name="Text 55"/>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Prosecution support is disciplined issue-framing: identify the objection, then respond with evidence and claim logic.</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sp>
      <p:sp>
        <p:nvSpPr>
          <p:cNvPr id="3" name="Shape 1"/>
          <p:cNvSpPr/>
          <p:nvPr/>
        </p:nvSpPr>
        <p:spPr>
          <a:xfrm>
            <a:off x="0" y="6748272"/>
            <a:ext cx="12191695" cy="109728"/>
          </a:xfrm>
          <a:prstGeom prst="rect">
            <a:avLst/>
          </a:prstGeom>
          <a:solidFill>
            <a:srgbClr val="071A2B"/>
          </a:solidFill>
          <a:ln w="12700">
            <a:solidFill>
              <a:srgbClr val="071A2B"/>
            </a:solidFill>
            <a:prstDash val="solid"/>
          </a:ln>
        </p:spPr>
      </p:sp>
      <p:sp>
        <p:nvSpPr>
          <p:cNvPr id="4" name="Shape 2"/>
          <p:cNvSpPr/>
          <p:nvPr/>
        </p:nvSpPr>
        <p:spPr>
          <a:xfrm rot="900000">
            <a:off x="9326880" y="-1325880"/>
            <a:ext cx="3840480" cy="3840480"/>
          </a:xfrm>
          <a:prstGeom prst="arc">
            <a:avLst/>
          </a:prstGeom>
          <a:noFill/>
          <a:ln w="13970">
            <a:solidFill>
              <a:srgbClr val="1D4ED8">
                <a:alpha val="12000"/>
              </a:srgbClr>
            </a:solidFill>
            <a:prstDash val="solid"/>
          </a:ln>
        </p:spPr>
      </p:sp>
      <p:sp>
        <p:nvSpPr>
          <p:cNvPr id="5" name="Shape 3"/>
          <p:cNvSpPr/>
          <p:nvPr/>
        </p:nvSpPr>
        <p:spPr>
          <a:xfrm rot="-600000">
            <a:off x="-1097280" y="4937760"/>
            <a:ext cx="3749040" cy="3749040"/>
          </a:xfrm>
          <a:prstGeom prst="arc">
            <a:avLst/>
          </a:prstGeom>
          <a:noFill/>
          <a:ln w="12700">
            <a:solidFill>
              <a:srgbClr val="00A6D6">
                <a:alpha val="12000"/>
              </a:srgbClr>
            </a:solidFill>
            <a:prstDash val="solid"/>
          </a:ln>
        </p:spPr>
      </p:sp>
      <p:sp>
        <p:nvSpPr>
          <p:cNvPr id="6" name="Text 4"/>
          <p:cNvSpPr/>
          <p:nvPr/>
        </p:nvSpPr>
        <p:spPr>
          <a:xfrm>
            <a:off x="566928" y="411480"/>
            <a:ext cx="2697480" cy="164592"/>
          </a:xfrm>
          <a:prstGeom prst="rect">
            <a:avLst/>
          </a:prstGeom>
          <a:noFill/>
          <a:ln/>
        </p:spPr>
        <p:txBody>
          <a:bodyPr wrap="square" lIns="0" tIns="0" rIns="0" bIns="0" rtlCol="0" anchor="ctr"/>
          <a:lstStyle/>
          <a:p>
            <a:pPr indent="0" marL="0">
              <a:buNone/>
            </a:pPr>
            <a:r>
              <a:rPr lang="en-US" sz="750" b="1" dirty="0">
                <a:solidFill>
                  <a:srgbClr val="0EA5A4"/>
                </a:solidFill>
              </a:rPr>
              <a:t>M | MANAGE</a:t>
            </a:r>
            <a:endParaRPr lang="en-US" sz="750" dirty="0"/>
          </a:p>
        </p:txBody>
      </p:sp>
      <p:sp>
        <p:nvSpPr>
          <p:cNvPr id="7" name="Text 5"/>
          <p:cNvSpPr/>
          <p:nvPr/>
        </p:nvSpPr>
        <p:spPr>
          <a:xfrm>
            <a:off x="566928" y="658368"/>
            <a:ext cx="8138160" cy="420624"/>
          </a:xfrm>
          <a:prstGeom prst="rect">
            <a:avLst/>
          </a:prstGeom>
          <a:noFill/>
          <a:ln/>
        </p:spPr>
        <p:txBody>
          <a:bodyPr wrap="square" lIns="0" tIns="0" rIns="0" bIns="0" rtlCol="0" anchor="ctr"/>
          <a:lstStyle/>
          <a:p>
            <a:pPr indent="0" marL="0">
              <a:buNone/>
            </a:pPr>
            <a:r>
              <a:rPr lang="en-US" sz="2550" b="1" dirty="0">
                <a:solidFill>
                  <a:srgbClr val="111827"/>
                </a:solidFill>
                <a:latin typeface="Aptos Display" pitchFamily="34" charset="0"/>
                <a:ea typeface="Aptos Display" pitchFamily="34" charset="-122"/>
                <a:cs typeface="Aptos Display" pitchFamily="34" charset="-120"/>
              </a:rPr>
              <a:t>Task 9: confidentiality, ownership and IP governance</a:t>
            </a:r>
            <a:endParaRPr lang="en-US" sz="2550" dirty="0"/>
          </a:p>
        </p:txBody>
      </p:sp>
      <p:sp>
        <p:nvSpPr>
          <p:cNvPr id="8" name="Text 6"/>
          <p:cNvSpPr/>
          <p:nvPr/>
        </p:nvSpPr>
        <p:spPr>
          <a:xfrm>
            <a:off x="585216" y="1097280"/>
            <a:ext cx="9509760" cy="310896"/>
          </a:xfrm>
          <a:prstGeom prst="rect">
            <a:avLst/>
          </a:prstGeom>
          <a:noFill/>
          <a:ln/>
        </p:spPr>
        <p:txBody>
          <a:bodyPr wrap="square" lIns="0" tIns="0" rIns="0" bIns="0" rtlCol="0" anchor="ctr">
            <a:normAutofit/>
          </a:bodyPr>
          <a:lstStyle/>
          <a:p>
            <a:pPr indent="0" marL="0">
              <a:buNone/>
            </a:pPr>
            <a:r>
              <a:rPr lang="en-US" sz="1050" dirty="0">
                <a:solidFill>
                  <a:srgbClr val="475569"/>
                </a:solidFill>
              </a:rPr>
              <a:t>Goal: prevent leakage or uncertainty around IP assets through disciplined legal controls.</a:t>
            </a:r>
            <a:endParaRPr lang="en-US" sz="1050" dirty="0"/>
          </a:p>
        </p:txBody>
      </p:sp>
      <p:sp>
        <p:nvSpPr>
          <p:cNvPr id="9" name="Shape 7"/>
          <p:cNvSpPr/>
          <p:nvPr/>
        </p:nvSpPr>
        <p:spPr>
          <a:xfrm>
            <a:off x="566928" y="1499616"/>
            <a:ext cx="1920240" cy="0"/>
          </a:xfrm>
          <a:prstGeom prst="line">
            <a:avLst/>
          </a:prstGeom>
          <a:noFill/>
          <a:ln w="27940">
            <a:solidFill>
              <a:srgbClr val="0EA5A4"/>
            </a:solidFill>
            <a:prstDash val="solid"/>
          </a:ln>
        </p:spPr>
      </p:sp>
      <p:sp>
        <p:nvSpPr>
          <p:cNvPr id="10" name="Shape 8"/>
          <p:cNvSpPr/>
          <p:nvPr/>
        </p:nvSpPr>
        <p:spPr>
          <a:xfrm>
            <a:off x="475488" y="6364224"/>
            <a:ext cx="987552" cy="256032"/>
          </a:xfrm>
          <a:prstGeom prst="roundRect">
            <a:avLst>
              <a:gd name="adj" fmla="val 28571"/>
            </a:avLst>
          </a:prstGeom>
          <a:solidFill>
            <a:srgbClr val="E9EEF5"/>
          </a:solidFill>
          <a:ln w="7620">
            <a:solidFill>
              <a:srgbClr val="D7DEE8"/>
            </a:solidFill>
            <a:prstDash val="solid"/>
          </a:ln>
        </p:spPr>
      </p:sp>
      <p:sp>
        <p:nvSpPr>
          <p:cNvPr id="11" name="Text 9"/>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C</a:t>
            </a:r>
            <a:endParaRPr lang="en-US" sz="750" dirty="0"/>
          </a:p>
        </p:txBody>
      </p:sp>
      <p:sp>
        <p:nvSpPr>
          <p:cNvPr id="12" name="Text 10"/>
          <p:cNvSpPr/>
          <p:nvPr/>
        </p:nvSpPr>
        <p:spPr>
          <a:xfrm>
            <a:off x="72237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Capture</a:t>
            </a:r>
            <a:endParaRPr lang="en-US" sz="670" dirty="0"/>
          </a:p>
        </p:txBody>
      </p:sp>
      <p:sp>
        <p:nvSpPr>
          <p:cNvPr id="13" name="Shape 11"/>
          <p:cNvSpPr/>
          <p:nvPr/>
        </p:nvSpPr>
        <p:spPr>
          <a:xfrm>
            <a:off x="1572768" y="6364224"/>
            <a:ext cx="987552" cy="256032"/>
          </a:xfrm>
          <a:prstGeom prst="roundRect">
            <a:avLst>
              <a:gd name="adj" fmla="val 28571"/>
            </a:avLst>
          </a:prstGeom>
          <a:solidFill>
            <a:srgbClr val="E9EEF5"/>
          </a:solidFill>
          <a:ln w="7620">
            <a:solidFill>
              <a:srgbClr val="D7DEE8"/>
            </a:solidFill>
            <a:prstDash val="solid"/>
          </a:ln>
        </p:spPr>
      </p:sp>
      <p:sp>
        <p:nvSpPr>
          <p:cNvPr id="14" name="Text 12"/>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L</a:t>
            </a:r>
            <a:endParaRPr lang="en-US" sz="750" dirty="0"/>
          </a:p>
        </p:txBody>
      </p:sp>
      <p:sp>
        <p:nvSpPr>
          <p:cNvPr id="15" name="Text 13"/>
          <p:cNvSpPr/>
          <p:nvPr/>
        </p:nvSpPr>
        <p:spPr>
          <a:xfrm>
            <a:off x="181965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Locate</a:t>
            </a:r>
            <a:endParaRPr lang="en-US" sz="670" dirty="0"/>
          </a:p>
        </p:txBody>
      </p:sp>
      <p:sp>
        <p:nvSpPr>
          <p:cNvPr id="16" name="Shape 14"/>
          <p:cNvSpPr/>
          <p:nvPr/>
        </p:nvSpPr>
        <p:spPr>
          <a:xfrm>
            <a:off x="2670048" y="6364224"/>
            <a:ext cx="987552" cy="256032"/>
          </a:xfrm>
          <a:prstGeom prst="roundRect">
            <a:avLst>
              <a:gd name="adj" fmla="val 28571"/>
            </a:avLst>
          </a:prstGeom>
          <a:solidFill>
            <a:srgbClr val="E9EEF5"/>
          </a:solidFill>
          <a:ln w="7620">
            <a:solidFill>
              <a:srgbClr val="D7DEE8"/>
            </a:solidFill>
            <a:prstDash val="solid"/>
          </a:ln>
        </p:spPr>
      </p:sp>
      <p:sp>
        <p:nvSpPr>
          <p:cNvPr id="17" name="Text 15"/>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A</a:t>
            </a:r>
            <a:endParaRPr lang="en-US" sz="750" dirty="0"/>
          </a:p>
        </p:txBody>
      </p:sp>
      <p:sp>
        <p:nvSpPr>
          <p:cNvPr id="18" name="Text 16"/>
          <p:cNvSpPr/>
          <p:nvPr/>
        </p:nvSpPr>
        <p:spPr>
          <a:xfrm>
            <a:off x="291693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Analyse</a:t>
            </a:r>
            <a:endParaRPr lang="en-US" sz="670" dirty="0"/>
          </a:p>
        </p:txBody>
      </p:sp>
      <p:sp>
        <p:nvSpPr>
          <p:cNvPr id="19" name="Shape 17"/>
          <p:cNvSpPr/>
          <p:nvPr/>
        </p:nvSpPr>
        <p:spPr>
          <a:xfrm>
            <a:off x="3767328" y="6364224"/>
            <a:ext cx="987552" cy="256032"/>
          </a:xfrm>
          <a:prstGeom prst="roundRect">
            <a:avLst>
              <a:gd name="adj" fmla="val 28571"/>
            </a:avLst>
          </a:prstGeom>
          <a:solidFill>
            <a:srgbClr val="E9EEF5"/>
          </a:solidFill>
          <a:ln w="7620">
            <a:solidFill>
              <a:srgbClr val="D7DEE8"/>
            </a:solidFill>
            <a:prstDash val="solid"/>
          </a:ln>
        </p:spPr>
      </p:sp>
      <p:sp>
        <p:nvSpPr>
          <p:cNvPr id="20" name="Text 18"/>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475569"/>
                </a:solidFill>
                <a:latin typeface="Aptos Display" pitchFamily="34" charset="0"/>
                <a:ea typeface="Aptos Display" pitchFamily="34" charset="-122"/>
                <a:cs typeface="Aptos Display" pitchFamily="34" charset="-120"/>
              </a:rPr>
              <a:t>I</a:t>
            </a:r>
            <a:endParaRPr lang="en-US" sz="750" dirty="0"/>
          </a:p>
        </p:txBody>
      </p:sp>
      <p:sp>
        <p:nvSpPr>
          <p:cNvPr id="21" name="Text 19"/>
          <p:cNvSpPr/>
          <p:nvPr/>
        </p:nvSpPr>
        <p:spPr>
          <a:xfrm>
            <a:off x="4014216" y="6396228"/>
            <a:ext cx="667512" cy="137160"/>
          </a:xfrm>
          <a:prstGeom prst="rect">
            <a:avLst/>
          </a:prstGeom>
          <a:noFill/>
          <a:ln/>
        </p:spPr>
        <p:txBody>
          <a:bodyPr wrap="square" lIns="0" tIns="0" rIns="0" bIns="0" rtlCol="0" anchor="ctr"/>
          <a:lstStyle/>
          <a:p>
            <a:pPr indent="0" marL="0">
              <a:buNone/>
            </a:pPr>
            <a:r>
              <a:rPr lang="en-US" sz="670" dirty="0">
                <a:solidFill>
                  <a:srgbClr val="475569"/>
                </a:solidFill>
              </a:rPr>
              <a:t>Interpret</a:t>
            </a:r>
            <a:endParaRPr lang="en-US" sz="670" dirty="0"/>
          </a:p>
        </p:txBody>
      </p:sp>
      <p:sp>
        <p:nvSpPr>
          <p:cNvPr id="22" name="Shape 20"/>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23" name="Text 21"/>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24" name="Text 22"/>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25" name="Text 23"/>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64748B"/>
                </a:solidFill>
              </a:rPr>
              <a:t>Non-confidential internship summary</a:t>
            </a:r>
            <a:endParaRPr lang="en-US" sz="680" dirty="0"/>
          </a:p>
        </p:txBody>
      </p:sp>
      <p:sp>
        <p:nvSpPr>
          <p:cNvPr id="26" name="Text 24"/>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64748B"/>
                </a:solidFill>
                <a:latin typeface="Aptos Display" pitchFamily="34" charset="0"/>
                <a:ea typeface="Aptos Display" pitchFamily="34" charset="-122"/>
                <a:cs typeface="Aptos Display" pitchFamily="34" charset="-120"/>
              </a:rPr>
              <a:t>14</a:t>
            </a:r>
            <a:endParaRPr lang="en-US" sz="800" dirty="0"/>
          </a:p>
        </p:txBody>
      </p:sp>
      <p:sp>
        <p:nvSpPr>
          <p:cNvPr id="27" name="Shape 25"/>
          <p:cNvSpPr/>
          <p:nvPr/>
        </p:nvSpPr>
        <p:spPr>
          <a:xfrm>
            <a:off x="10104120" y="438912"/>
            <a:ext cx="1389888" cy="475488"/>
          </a:xfrm>
          <a:prstGeom prst="roundRect">
            <a:avLst>
              <a:gd name="adj" fmla="val 19231"/>
            </a:avLst>
          </a:prstGeom>
          <a:solidFill>
            <a:srgbClr val="0EA5A4"/>
          </a:solidFill>
          <a:ln w="12700">
            <a:solidFill>
              <a:srgbClr val="0EA5A4"/>
            </a:solidFill>
            <a:prstDash val="solid"/>
          </a:ln>
        </p:spPr>
      </p:sp>
      <p:sp>
        <p:nvSpPr>
          <p:cNvPr id="28" name="Text 26"/>
          <p:cNvSpPr/>
          <p:nvPr/>
        </p:nvSpPr>
        <p:spPr>
          <a:xfrm>
            <a:off x="10104120" y="566928"/>
            <a:ext cx="1389888" cy="118872"/>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M | Manage</a:t>
            </a:r>
            <a:endParaRPr lang="en-US" sz="850" dirty="0"/>
          </a:p>
        </p:txBody>
      </p:sp>
      <p:sp>
        <p:nvSpPr>
          <p:cNvPr id="29" name="Shape 27"/>
          <p:cNvSpPr/>
          <p:nvPr/>
        </p:nvSpPr>
        <p:spPr>
          <a:xfrm>
            <a:off x="841248" y="1856232"/>
            <a:ext cx="3154680" cy="2633472"/>
          </a:xfrm>
          <a:prstGeom prst="roundRect">
            <a:avLst>
              <a:gd name="adj" fmla="val 2778"/>
            </a:avLst>
          </a:prstGeom>
          <a:solidFill>
            <a:srgbClr val="FFFFFF"/>
          </a:solidFill>
          <a:ln w="13970">
            <a:solidFill>
              <a:srgbClr val="1D4ED8"/>
            </a:solidFill>
            <a:prstDash val="solid"/>
          </a:ln>
          <a:effectLst>
            <a:outerShdw sx="100000" sy="100000" kx="0" ky="0" algn="bl" rotWithShape="0" blurRad="12700" dist="50800" dir="2700000">
              <a:srgbClr val="9AA6B2">
                <a:alpha val="16000"/>
              </a:srgbClr>
            </a:outerShdw>
          </a:effectLst>
        </p:spPr>
      </p:sp>
      <p:sp>
        <p:nvSpPr>
          <p:cNvPr id="30" name="Shape 28"/>
          <p:cNvSpPr/>
          <p:nvPr/>
        </p:nvSpPr>
        <p:spPr>
          <a:xfrm>
            <a:off x="1984248" y="2157984"/>
            <a:ext cx="804672" cy="658368"/>
          </a:xfrm>
          <a:prstGeom prst="hexagon">
            <a:avLst/>
          </a:prstGeom>
          <a:solidFill>
            <a:srgbClr val="1D4ED8"/>
          </a:solidFill>
          <a:ln w="12700">
            <a:solidFill>
              <a:srgbClr val="1D4ED8"/>
            </a:solidFill>
            <a:prstDash val="solid"/>
          </a:ln>
        </p:spPr>
      </p:sp>
      <p:sp>
        <p:nvSpPr>
          <p:cNvPr id="31" name="Text 29"/>
          <p:cNvSpPr/>
          <p:nvPr/>
        </p:nvSpPr>
        <p:spPr>
          <a:xfrm>
            <a:off x="1984248" y="2331720"/>
            <a:ext cx="804672" cy="109728"/>
          </a:xfrm>
          <a:prstGeom prst="rect">
            <a:avLst/>
          </a:prstGeom>
          <a:noFill/>
          <a:ln/>
        </p:spPr>
        <p:txBody>
          <a:bodyPr wrap="square" lIns="0" tIns="0" rIns="0" bIns="0" rtlCol="0" anchor="t">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32" name="Text 30"/>
          <p:cNvSpPr/>
          <p:nvPr/>
        </p:nvSpPr>
        <p:spPr>
          <a:xfrm>
            <a:off x="1115568" y="3108960"/>
            <a:ext cx="2606040" cy="201168"/>
          </a:xfrm>
          <a:prstGeom prst="rect">
            <a:avLst/>
          </a:prstGeom>
          <a:noFill/>
          <a:ln/>
        </p:spPr>
        <p:txBody>
          <a:bodyPr wrap="square" lIns="0" tIns="0" rIns="0" bIns="0" rtlCol="0" anchor="t">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Confidentiality</a:t>
            </a:r>
            <a:endParaRPr lang="en-US" sz="1300" dirty="0"/>
          </a:p>
        </p:txBody>
      </p:sp>
      <p:sp>
        <p:nvSpPr>
          <p:cNvPr id="33" name="Text 31"/>
          <p:cNvSpPr/>
          <p:nvPr/>
        </p:nvSpPr>
        <p:spPr>
          <a:xfrm>
            <a:off x="1225296" y="3611880"/>
            <a:ext cx="2359152" cy="402336"/>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NDAs, disclosure limits, permitted use and information handling.</a:t>
            </a:r>
            <a:endParaRPr lang="en-US" sz="840" dirty="0"/>
          </a:p>
        </p:txBody>
      </p:sp>
      <p:sp>
        <p:nvSpPr>
          <p:cNvPr id="34" name="Shape 32"/>
          <p:cNvSpPr/>
          <p:nvPr/>
        </p:nvSpPr>
        <p:spPr>
          <a:xfrm>
            <a:off x="4544568" y="1856232"/>
            <a:ext cx="3154680" cy="2633472"/>
          </a:xfrm>
          <a:prstGeom prst="roundRect">
            <a:avLst>
              <a:gd name="adj" fmla="val 2778"/>
            </a:avLst>
          </a:prstGeom>
          <a:solidFill>
            <a:srgbClr val="FFFFFF"/>
          </a:solidFill>
          <a:ln w="13970">
            <a:solidFill>
              <a:srgbClr val="0EA5A4"/>
            </a:solidFill>
            <a:prstDash val="solid"/>
          </a:ln>
          <a:effectLst>
            <a:outerShdw sx="100000" sy="100000" kx="0" ky="0" algn="bl" rotWithShape="0" blurRad="12700" dist="50800" dir="2700000">
              <a:srgbClr val="9AA6B2">
                <a:alpha val="16000"/>
              </a:srgbClr>
            </a:outerShdw>
          </a:effectLst>
        </p:spPr>
      </p:sp>
      <p:sp>
        <p:nvSpPr>
          <p:cNvPr id="35" name="Shape 33"/>
          <p:cNvSpPr/>
          <p:nvPr/>
        </p:nvSpPr>
        <p:spPr>
          <a:xfrm>
            <a:off x="5687568" y="2157984"/>
            <a:ext cx="804672" cy="658368"/>
          </a:xfrm>
          <a:prstGeom prst="hexagon">
            <a:avLst/>
          </a:prstGeom>
          <a:solidFill>
            <a:srgbClr val="0EA5A4"/>
          </a:solidFill>
          <a:ln w="12700">
            <a:solidFill>
              <a:srgbClr val="0EA5A4"/>
            </a:solidFill>
            <a:prstDash val="solid"/>
          </a:ln>
        </p:spPr>
      </p:sp>
      <p:sp>
        <p:nvSpPr>
          <p:cNvPr id="36" name="Text 34"/>
          <p:cNvSpPr/>
          <p:nvPr/>
        </p:nvSpPr>
        <p:spPr>
          <a:xfrm>
            <a:off x="5687568" y="2331720"/>
            <a:ext cx="804672" cy="109728"/>
          </a:xfrm>
          <a:prstGeom prst="rect">
            <a:avLst/>
          </a:prstGeom>
          <a:noFill/>
          <a:ln/>
        </p:spPr>
        <p:txBody>
          <a:bodyPr wrap="square" lIns="0" tIns="0" rIns="0" bIns="0" rtlCol="0" anchor="t">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37" name="Text 35"/>
          <p:cNvSpPr/>
          <p:nvPr/>
        </p:nvSpPr>
        <p:spPr>
          <a:xfrm>
            <a:off x="4818888" y="3108960"/>
            <a:ext cx="2606040" cy="201168"/>
          </a:xfrm>
          <a:prstGeom prst="rect">
            <a:avLst/>
          </a:prstGeom>
          <a:noFill/>
          <a:ln/>
        </p:spPr>
        <p:txBody>
          <a:bodyPr wrap="square" lIns="0" tIns="0" rIns="0" bIns="0" rtlCol="0" anchor="t">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Ownership</a:t>
            </a:r>
            <a:endParaRPr lang="en-US" sz="1300" dirty="0"/>
          </a:p>
        </p:txBody>
      </p:sp>
      <p:sp>
        <p:nvSpPr>
          <p:cNvPr id="38" name="Text 36"/>
          <p:cNvSpPr/>
          <p:nvPr/>
        </p:nvSpPr>
        <p:spPr>
          <a:xfrm>
            <a:off x="4928616" y="3611880"/>
            <a:ext cx="2359152" cy="402336"/>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inventorship inputs, employee/contractor assignment and chain of title.</a:t>
            </a:r>
            <a:endParaRPr lang="en-US" sz="840" dirty="0"/>
          </a:p>
        </p:txBody>
      </p:sp>
      <p:sp>
        <p:nvSpPr>
          <p:cNvPr id="39" name="Shape 37"/>
          <p:cNvSpPr/>
          <p:nvPr/>
        </p:nvSpPr>
        <p:spPr>
          <a:xfrm>
            <a:off x="8247888" y="1856232"/>
            <a:ext cx="3154680" cy="2633472"/>
          </a:xfrm>
          <a:prstGeom prst="roundRect">
            <a:avLst>
              <a:gd name="adj" fmla="val 2778"/>
            </a:avLst>
          </a:prstGeom>
          <a:solidFill>
            <a:srgbClr val="FFFFFF"/>
          </a:solidFill>
          <a:ln w="13970">
            <a:solidFill>
              <a:srgbClr val="F59E0B"/>
            </a:solidFill>
            <a:prstDash val="solid"/>
          </a:ln>
          <a:effectLst>
            <a:outerShdw sx="100000" sy="100000" kx="0" ky="0" algn="bl" rotWithShape="0" blurRad="12700" dist="50800" dir="2700000">
              <a:srgbClr val="9AA6B2">
                <a:alpha val="16000"/>
              </a:srgbClr>
            </a:outerShdw>
          </a:effectLst>
        </p:spPr>
      </p:sp>
      <p:sp>
        <p:nvSpPr>
          <p:cNvPr id="40" name="Shape 38"/>
          <p:cNvSpPr/>
          <p:nvPr/>
        </p:nvSpPr>
        <p:spPr>
          <a:xfrm>
            <a:off x="9390888" y="2157984"/>
            <a:ext cx="804672" cy="658368"/>
          </a:xfrm>
          <a:prstGeom prst="hexagon">
            <a:avLst/>
          </a:prstGeom>
          <a:solidFill>
            <a:srgbClr val="F59E0B"/>
          </a:solidFill>
          <a:ln w="12700">
            <a:solidFill>
              <a:srgbClr val="F59E0B"/>
            </a:solidFill>
            <a:prstDash val="solid"/>
          </a:ln>
        </p:spPr>
      </p:sp>
      <p:sp>
        <p:nvSpPr>
          <p:cNvPr id="41" name="Text 39"/>
          <p:cNvSpPr/>
          <p:nvPr/>
        </p:nvSpPr>
        <p:spPr>
          <a:xfrm>
            <a:off x="9390888" y="2331720"/>
            <a:ext cx="804672" cy="109728"/>
          </a:xfrm>
          <a:prstGeom prst="rect">
            <a:avLst/>
          </a:prstGeom>
          <a:noFill/>
          <a:ln/>
        </p:spPr>
        <p:txBody>
          <a:bodyPr wrap="square" lIns="0" tIns="0" rIns="0" bIns="0" rtlCol="0" anchor="t">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42" name="Text 40"/>
          <p:cNvSpPr/>
          <p:nvPr/>
        </p:nvSpPr>
        <p:spPr>
          <a:xfrm>
            <a:off x="8522208" y="3108960"/>
            <a:ext cx="2606040" cy="201168"/>
          </a:xfrm>
          <a:prstGeom prst="rect">
            <a:avLst/>
          </a:prstGeom>
          <a:noFill/>
          <a:ln/>
        </p:spPr>
        <p:txBody>
          <a:bodyPr wrap="square" lIns="0" tIns="0" rIns="0" bIns="0" rtlCol="0" anchor="t">
            <a:normAutofit/>
          </a:bodyPr>
          <a:lstStyle/>
          <a:p>
            <a:pPr algn="ctr" indent="0" marL="0">
              <a:buNone/>
            </a:pPr>
            <a:r>
              <a:rPr lang="en-US" sz="1300" b="1" dirty="0">
                <a:solidFill>
                  <a:srgbClr val="111827"/>
                </a:solidFill>
                <a:latin typeface="Aptos" pitchFamily="34" charset="0"/>
                <a:ea typeface="Aptos" pitchFamily="34" charset="-122"/>
                <a:cs typeface="Aptos" pitchFamily="34" charset="-120"/>
              </a:rPr>
              <a:t>Clearance</a:t>
            </a:r>
            <a:endParaRPr lang="en-US" sz="1300" dirty="0"/>
          </a:p>
        </p:txBody>
      </p:sp>
      <p:sp>
        <p:nvSpPr>
          <p:cNvPr id="43" name="Text 41"/>
          <p:cNvSpPr/>
          <p:nvPr/>
        </p:nvSpPr>
        <p:spPr>
          <a:xfrm>
            <a:off x="8631936" y="3611880"/>
            <a:ext cx="2359152" cy="402336"/>
          </a:xfrm>
          <a:prstGeom prst="rect">
            <a:avLst/>
          </a:prstGeom>
          <a:noFill/>
          <a:ln/>
        </p:spPr>
        <p:txBody>
          <a:bodyPr wrap="square" lIns="0" tIns="0" rIns="0" bIns="0" rtlCol="0" anchor="t">
            <a:normAutofit/>
          </a:bodyPr>
          <a:lstStyle/>
          <a:p>
            <a:pPr algn="ctr" indent="0" marL="0">
              <a:buNone/>
            </a:pPr>
            <a:r>
              <a:rPr lang="en-US" sz="840" dirty="0">
                <a:solidFill>
                  <a:srgbClr val="475569"/>
                </a:solidFill>
                <a:latin typeface="Aptos" pitchFamily="34" charset="0"/>
                <a:ea typeface="Aptos" pitchFamily="34" charset="-122"/>
                <a:cs typeface="Aptos" pitchFamily="34" charset="-120"/>
              </a:rPr>
              <a:t>publication review, external collaboration and patent-before-disclosure discipline.</a:t>
            </a:r>
            <a:endParaRPr lang="en-US" sz="840" dirty="0"/>
          </a:p>
        </p:txBody>
      </p:sp>
      <p:sp>
        <p:nvSpPr>
          <p:cNvPr id="44" name="Shape 42"/>
          <p:cNvSpPr/>
          <p:nvPr/>
        </p:nvSpPr>
        <p:spPr>
          <a:xfrm>
            <a:off x="1627632" y="4745736"/>
            <a:ext cx="8915400" cy="530352"/>
          </a:xfrm>
          <a:prstGeom prst="roundRect">
            <a:avLst>
              <a:gd name="adj" fmla="val 13793"/>
            </a:avLst>
          </a:prstGeom>
          <a:solidFill>
            <a:srgbClr val="EAFBF1"/>
          </a:solidFill>
          <a:ln w="11430">
            <a:solidFill>
              <a:srgbClr val="0EA5A4"/>
            </a:solidFill>
            <a:prstDash val="solid"/>
          </a:ln>
        </p:spPr>
      </p:sp>
      <p:sp>
        <p:nvSpPr>
          <p:cNvPr id="45" name="Text 43"/>
          <p:cNvSpPr/>
          <p:nvPr/>
        </p:nvSpPr>
        <p:spPr>
          <a:xfrm>
            <a:off x="1901952" y="4919472"/>
            <a:ext cx="1143000" cy="109728"/>
          </a:xfrm>
          <a:prstGeom prst="rect">
            <a:avLst/>
          </a:prstGeom>
          <a:noFill/>
          <a:ln/>
        </p:spPr>
        <p:txBody>
          <a:bodyPr wrap="square" lIns="0" tIns="0" rIns="0" bIns="0" rtlCol="0" anchor="t">
            <a:normAutofit/>
          </a:bodyPr>
          <a:lstStyle/>
          <a:p>
            <a:pPr algn="l" indent="0" marL="0">
              <a:buNone/>
            </a:pPr>
            <a:r>
              <a:rPr lang="en-US" sz="860" b="1" dirty="0">
                <a:solidFill>
                  <a:srgbClr val="0EA5A4"/>
                </a:solidFill>
                <a:latin typeface="Aptos" pitchFamily="34" charset="0"/>
                <a:ea typeface="Aptos" pitchFamily="34" charset="-122"/>
                <a:cs typeface="Aptos" pitchFamily="34" charset="-120"/>
              </a:rPr>
              <a:t>Governance lens:</a:t>
            </a:r>
            <a:endParaRPr lang="en-US" sz="860" dirty="0"/>
          </a:p>
        </p:txBody>
      </p:sp>
      <p:sp>
        <p:nvSpPr>
          <p:cNvPr id="46" name="Text 44"/>
          <p:cNvSpPr/>
          <p:nvPr/>
        </p:nvSpPr>
        <p:spPr>
          <a:xfrm>
            <a:off x="3063240" y="4919472"/>
            <a:ext cx="6675120" cy="109728"/>
          </a:xfrm>
          <a:prstGeom prst="rect">
            <a:avLst/>
          </a:prstGeom>
          <a:noFill/>
          <a:ln/>
        </p:spPr>
        <p:txBody>
          <a:bodyPr wrap="square" lIns="0" tIns="0" rIns="0" bIns="0" rtlCol="0" anchor="t">
            <a:normAutofit/>
          </a:bodyPr>
          <a:lstStyle/>
          <a:p>
            <a:pPr algn="l" indent="0" marL="0">
              <a:buNone/>
            </a:pPr>
            <a:r>
              <a:rPr lang="en-US" sz="860" b="1" dirty="0">
                <a:solidFill>
                  <a:srgbClr val="111827"/>
                </a:solidFill>
                <a:latin typeface="Aptos" pitchFamily="34" charset="0"/>
                <a:ea typeface="Aptos" pitchFamily="34" charset="-122"/>
                <a:cs typeface="Aptos" pitchFamily="34" charset="-120"/>
              </a:rPr>
              <a:t>A protectable invention can still lose value if confidentiality, ownership or disclosure timing is weak.</a:t>
            </a:r>
            <a:endParaRPr lang="en-US" sz="860" dirty="0"/>
          </a:p>
        </p:txBody>
      </p:sp>
      <p:sp>
        <p:nvSpPr>
          <p:cNvPr id="47" name="Shape 45"/>
          <p:cNvSpPr/>
          <p:nvPr/>
        </p:nvSpPr>
        <p:spPr>
          <a:xfrm>
            <a:off x="658368" y="5632704"/>
            <a:ext cx="10881360" cy="429768"/>
          </a:xfrm>
          <a:prstGeom prst="roundRect">
            <a:avLst>
              <a:gd name="adj" fmla="val 17021"/>
            </a:avLst>
          </a:prstGeom>
          <a:solidFill>
            <a:srgbClr val="F8FAFC"/>
          </a:solidFill>
          <a:ln w="13970">
            <a:solidFill>
              <a:srgbClr val="0EA5A4"/>
            </a:solidFill>
            <a:prstDash val="solid"/>
          </a:ln>
        </p:spPr>
      </p:sp>
      <p:sp>
        <p:nvSpPr>
          <p:cNvPr id="48" name="Shape 46"/>
          <p:cNvSpPr/>
          <p:nvPr/>
        </p:nvSpPr>
        <p:spPr>
          <a:xfrm>
            <a:off x="658368" y="5632704"/>
            <a:ext cx="91440" cy="429768"/>
          </a:xfrm>
          <a:prstGeom prst="rect">
            <a:avLst/>
          </a:prstGeom>
          <a:solidFill>
            <a:srgbClr val="0EA5A4"/>
          </a:solidFill>
          <a:ln w="12700">
            <a:solidFill>
              <a:srgbClr val="0EA5A4"/>
            </a:solidFill>
            <a:prstDash val="solid"/>
          </a:ln>
        </p:spPr>
      </p:sp>
      <p:sp>
        <p:nvSpPr>
          <p:cNvPr id="49" name="Text 47"/>
          <p:cNvSpPr/>
          <p:nvPr/>
        </p:nvSpPr>
        <p:spPr>
          <a:xfrm>
            <a:off x="841248" y="5742432"/>
            <a:ext cx="10287000" cy="146304"/>
          </a:xfrm>
          <a:prstGeom prst="rect">
            <a:avLst/>
          </a:prstGeom>
          <a:noFill/>
          <a:ln/>
        </p:spPr>
        <p:txBody>
          <a:bodyPr wrap="square" lIns="0" tIns="0" rIns="0" bIns="0" rtlCol="0" anchor="t">
            <a:normAutofit/>
          </a:bodyPr>
          <a:lstStyle/>
          <a:p>
            <a:pPr algn="l" indent="0" marL="0">
              <a:buNone/>
            </a:pPr>
            <a:r>
              <a:rPr lang="en-US" sz="880" b="1" dirty="0">
                <a:solidFill>
                  <a:srgbClr val="111827"/>
                </a:solidFill>
                <a:latin typeface="Aptos" pitchFamily="34" charset="0"/>
                <a:ea typeface="Aptos" pitchFamily="34" charset="-122"/>
                <a:cs typeface="Aptos" pitchFamily="34" charset="-120"/>
              </a:rPr>
              <a:t>Takeaway: IP value depends on legal governance as much as technical novelty.</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A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A2B"/>
          </a:solidFill>
          <a:ln w="12700">
            <a:solidFill>
              <a:srgbClr val="071A2B"/>
            </a:solidFill>
            <a:prstDash val="solid"/>
          </a:ln>
        </p:spPr>
      </p:sp>
      <p:sp>
        <p:nvSpPr>
          <p:cNvPr id="3" name="Shape 1"/>
          <p:cNvSpPr/>
          <p:nvPr/>
        </p:nvSpPr>
        <p:spPr>
          <a:xfrm rot="1080000">
            <a:off x="7635240" y="-1097280"/>
            <a:ext cx="5212080" cy="5212080"/>
          </a:xfrm>
          <a:prstGeom prst="arc">
            <a:avLst/>
          </a:prstGeom>
          <a:noFill/>
          <a:ln w="15240">
            <a:solidFill>
              <a:srgbClr val="00A6D6">
                <a:alpha val="26000"/>
              </a:srgbClr>
            </a:solidFill>
            <a:prstDash val="solid"/>
          </a:ln>
        </p:spPr>
      </p:sp>
      <p:sp>
        <p:nvSpPr>
          <p:cNvPr id="4" name="Shape 2"/>
          <p:cNvSpPr/>
          <p:nvPr/>
        </p:nvSpPr>
        <p:spPr>
          <a:xfrm rot="1080000">
            <a:off x="8001000" y="-713232"/>
            <a:ext cx="4434840" cy="4434840"/>
          </a:xfrm>
          <a:prstGeom prst="arc">
            <a:avLst/>
          </a:prstGeom>
          <a:noFill/>
          <a:ln w="13970">
            <a:solidFill>
              <a:srgbClr val="1D4ED8">
                <a:alpha val="30000"/>
              </a:srgbClr>
            </a:solidFill>
            <a:prstDash val="solid"/>
          </a:ln>
        </p:spPr>
      </p:sp>
      <p:sp>
        <p:nvSpPr>
          <p:cNvPr id="5" name="Shape 3"/>
          <p:cNvSpPr/>
          <p:nvPr/>
        </p:nvSpPr>
        <p:spPr>
          <a:xfrm rot="-840000">
            <a:off x="-914400" y="5349240"/>
            <a:ext cx="5943600" cy="201168"/>
          </a:xfrm>
          <a:prstGeom prst="rect">
            <a:avLst/>
          </a:prstGeom>
          <a:solidFill>
            <a:srgbClr val="1D4ED8">
              <a:alpha val="85000"/>
            </a:srgbClr>
          </a:solidFill>
          <a:ln w="12700">
            <a:solidFill>
              <a:srgbClr val="1D4ED8">
                <a:alpha val="0"/>
              </a:srgbClr>
            </a:solidFill>
            <a:prstDash val="solid"/>
          </a:ln>
        </p:spPr>
      </p:sp>
      <p:sp>
        <p:nvSpPr>
          <p:cNvPr id="6" name="Shape 4"/>
          <p:cNvSpPr/>
          <p:nvPr/>
        </p:nvSpPr>
        <p:spPr>
          <a:xfrm rot="-840000">
            <a:off x="6126480" y="6355080"/>
            <a:ext cx="6949440" cy="164592"/>
          </a:xfrm>
          <a:prstGeom prst="rect">
            <a:avLst/>
          </a:prstGeom>
          <a:solidFill>
            <a:srgbClr val="00A6D6">
              <a:alpha val="90000"/>
            </a:srgbClr>
          </a:solidFill>
          <a:ln w="12700">
            <a:solidFill>
              <a:srgbClr val="00A6D6">
                <a:alpha val="0"/>
              </a:srgbClr>
            </a:solidFill>
            <a:prstDash val="solid"/>
          </a:ln>
        </p:spPr>
      </p:sp>
      <p:sp>
        <p:nvSpPr>
          <p:cNvPr id="7" name="Shape 5"/>
          <p:cNvSpPr/>
          <p:nvPr/>
        </p:nvSpPr>
        <p:spPr>
          <a:xfrm>
            <a:off x="640080" y="1005840"/>
            <a:ext cx="1280160" cy="0"/>
          </a:xfrm>
          <a:prstGeom prst="line">
            <a:avLst/>
          </a:prstGeom>
          <a:noFill/>
          <a:ln w="12700">
            <a:solidFill>
              <a:srgbClr val="00A6D6">
                <a:alpha val="26000"/>
              </a:srgbClr>
            </a:solidFill>
            <a:prstDash val="solid"/>
          </a:ln>
        </p:spPr>
      </p:sp>
      <p:sp>
        <p:nvSpPr>
          <p:cNvPr id="8" name="Shape 6"/>
          <p:cNvSpPr/>
          <p:nvPr/>
        </p:nvSpPr>
        <p:spPr>
          <a:xfrm>
            <a:off x="1920240" y="1005840"/>
            <a:ext cx="0" cy="411480"/>
          </a:xfrm>
          <a:prstGeom prst="line">
            <a:avLst/>
          </a:prstGeom>
          <a:noFill/>
          <a:ln w="12700">
            <a:solidFill>
              <a:srgbClr val="00A6D6">
                <a:alpha val="26000"/>
              </a:srgbClr>
            </a:solidFill>
            <a:prstDash val="solid"/>
          </a:ln>
        </p:spPr>
      </p:sp>
      <p:sp>
        <p:nvSpPr>
          <p:cNvPr id="9" name="Shape 7"/>
          <p:cNvSpPr/>
          <p:nvPr/>
        </p:nvSpPr>
        <p:spPr>
          <a:xfrm>
            <a:off x="1920240" y="1417320"/>
            <a:ext cx="1005840" cy="0"/>
          </a:xfrm>
          <a:prstGeom prst="line">
            <a:avLst/>
          </a:prstGeom>
          <a:noFill/>
          <a:ln w="12700">
            <a:solidFill>
              <a:srgbClr val="00A6D6">
                <a:alpha val="26000"/>
              </a:srgbClr>
            </a:solidFill>
            <a:prstDash val="solid"/>
          </a:ln>
        </p:spPr>
      </p:sp>
      <p:sp>
        <p:nvSpPr>
          <p:cNvPr id="10" name="Shape 8"/>
          <p:cNvSpPr/>
          <p:nvPr/>
        </p:nvSpPr>
        <p:spPr>
          <a:xfrm>
            <a:off x="8229600" y="4663440"/>
            <a:ext cx="1280160" cy="0"/>
          </a:xfrm>
          <a:prstGeom prst="line">
            <a:avLst/>
          </a:prstGeom>
          <a:noFill/>
          <a:ln w="12700">
            <a:solidFill>
              <a:srgbClr val="00A6D6">
                <a:alpha val="26000"/>
              </a:srgbClr>
            </a:solidFill>
            <a:prstDash val="solid"/>
          </a:ln>
        </p:spPr>
      </p:sp>
      <p:sp>
        <p:nvSpPr>
          <p:cNvPr id="11" name="Shape 9"/>
          <p:cNvSpPr/>
          <p:nvPr/>
        </p:nvSpPr>
        <p:spPr>
          <a:xfrm>
            <a:off x="9509760" y="4663440"/>
            <a:ext cx="0" cy="-502920"/>
          </a:xfrm>
          <a:prstGeom prst="line">
            <a:avLst/>
          </a:prstGeom>
          <a:noFill/>
          <a:ln w="12700">
            <a:solidFill>
              <a:srgbClr val="00A6D6">
                <a:alpha val="26000"/>
              </a:srgbClr>
            </a:solidFill>
            <a:prstDash val="solid"/>
          </a:ln>
        </p:spPr>
      </p:sp>
      <p:sp>
        <p:nvSpPr>
          <p:cNvPr id="12" name="Shape 10"/>
          <p:cNvSpPr/>
          <p:nvPr/>
        </p:nvSpPr>
        <p:spPr>
          <a:xfrm>
            <a:off x="9509760" y="4160520"/>
            <a:ext cx="1234440" cy="0"/>
          </a:xfrm>
          <a:prstGeom prst="line">
            <a:avLst/>
          </a:prstGeom>
          <a:noFill/>
          <a:ln w="12700">
            <a:solidFill>
              <a:srgbClr val="00A6D6">
                <a:alpha val="26000"/>
              </a:srgbClr>
            </a:solidFill>
            <a:prstDash val="solid"/>
          </a:ln>
        </p:spPr>
      </p:sp>
      <p:sp>
        <p:nvSpPr>
          <p:cNvPr id="13" name="Shape 11"/>
          <p:cNvSpPr/>
          <p:nvPr/>
        </p:nvSpPr>
        <p:spPr>
          <a:xfrm>
            <a:off x="822960" y="5806440"/>
            <a:ext cx="1005840" cy="0"/>
          </a:xfrm>
          <a:prstGeom prst="line">
            <a:avLst/>
          </a:prstGeom>
          <a:noFill/>
          <a:ln w="12700">
            <a:solidFill>
              <a:srgbClr val="00A6D6">
                <a:alpha val="26000"/>
              </a:srgbClr>
            </a:solidFill>
            <a:prstDash val="solid"/>
          </a:ln>
        </p:spPr>
      </p:sp>
      <p:sp>
        <p:nvSpPr>
          <p:cNvPr id="14" name="Shape 12"/>
          <p:cNvSpPr/>
          <p:nvPr/>
        </p:nvSpPr>
        <p:spPr>
          <a:xfrm>
            <a:off x="1828800" y="5806440"/>
            <a:ext cx="320040" cy="-320040"/>
          </a:xfrm>
          <a:prstGeom prst="line">
            <a:avLst/>
          </a:prstGeom>
          <a:noFill/>
          <a:ln w="12700">
            <a:solidFill>
              <a:srgbClr val="00A6D6">
                <a:alpha val="26000"/>
              </a:srgbClr>
            </a:solidFill>
            <a:prstDash val="solid"/>
          </a:ln>
        </p:spPr>
      </p:sp>
      <p:sp>
        <p:nvSpPr>
          <p:cNvPr id="15" name="Shape 13"/>
          <p:cNvSpPr/>
          <p:nvPr/>
        </p:nvSpPr>
        <p:spPr>
          <a:xfrm>
            <a:off x="2894076" y="1385316"/>
            <a:ext cx="64008" cy="64008"/>
          </a:xfrm>
          <a:prstGeom prst="ellipse">
            <a:avLst/>
          </a:prstGeom>
          <a:solidFill>
            <a:srgbClr val="00A6D6">
              <a:alpha val="80000"/>
            </a:srgbClr>
          </a:solidFill>
          <a:ln w="12700">
            <a:solidFill>
              <a:srgbClr val="00A6D6">
                <a:alpha val="60000"/>
              </a:srgbClr>
            </a:solidFill>
            <a:prstDash val="solid"/>
          </a:ln>
        </p:spPr>
      </p:sp>
      <p:sp>
        <p:nvSpPr>
          <p:cNvPr id="16" name="Shape 14"/>
          <p:cNvSpPr/>
          <p:nvPr/>
        </p:nvSpPr>
        <p:spPr>
          <a:xfrm>
            <a:off x="10712196" y="4128516"/>
            <a:ext cx="64008" cy="64008"/>
          </a:xfrm>
          <a:prstGeom prst="ellipse">
            <a:avLst/>
          </a:prstGeom>
          <a:solidFill>
            <a:srgbClr val="00A6D6">
              <a:alpha val="80000"/>
            </a:srgbClr>
          </a:solidFill>
          <a:ln w="12700">
            <a:solidFill>
              <a:srgbClr val="00A6D6">
                <a:alpha val="60000"/>
              </a:srgbClr>
            </a:solidFill>
            <a:prstDash val="solid"/>
          </a:ln>
        </p:spPr>
      </p:sp>
      <p:sp>
        <p:nvSpPr>
          <p:cNvPr id="17" name="Shape 15"/>
          <p:cNvSpPr/>
          <p:nvPr/>
        </p:nvSpPr>
        <p:spPr>
          <a:xfrm>
            <a:off x="2116836" y="5454396"/>
            <a:ext cx="64008" cy="64008"/>
          </a:xfrm>
          <a:prstGeom prst="ellipse">
            <a:avLst/>
          </a:prstGeom>
          <a:solidFill>
            <a:srgbClr val="00A6D6">
              <a:alpha val="80000"/>
            </a:srgbClr>
          </a:solidFill>
          <a:ln w="12700">
            <a:solidFill>
              <a:srgbClr val="00A6D6">
                <a:alpha val="60000"/>
              </a:srgbClr>
            </a:solidFill>
            <a:prstDash val="solid"/>
          </a:ln>
        </p:spPr>
      </p:sp>
      <p:sp>
        <p:nvSpPr>
          <p:cNvPr id="18" name="Shape 16"/>
          <p:cNvSpPr/>
          <p:nvPr/>
        </p:nvSpPr>
        <p:spPr>
          <a:xfrm>
            <a:off x="608076" y="973836"/>
            <a:ext cx="64008" cy="64008"/>
          </a:xfrm>
          <a:prstGeom prst="ellipse">
            <a:avLst/>
          </a:prstGeom>
          <a:solidFill>
            <a:srgbClr val="00A6D6">
              <a:alpha val="80000"/>
            </a:srgbClr>
          </a:solidFill>
          <a:ln w="12700">
            <a:solidFill>
              <a:srgbClr val="00A6D6">
                <a:alpha val="60000"/>
              </a:srgbClr>
            </a:solidFill>
            <a:prstDash val="solid"/>
          </a:ln>
        </p:spPr>
      </p:sp>
      <p:sp>
        <p:nvSpPr>
          <p:cNvPr id="19" name="Shape 17"/>
          <p:cNvSpPr/>
          <p:nvPr/>
        </p:nvSpPr>
        <p:spPr>
          <a:xfrm>
            <a:off x="8197596" y="4631436"/>
            <a:ext cx="64008" cy="64008"/>
          </a:xfrm>
          <a:prstGeom prst="ellipse">
            <a:avLst/>
          </a:prstGeom>
          <a:solidFill>
            <a:srgbClr val="00A6D6">
              <a:alpha val="80000"/>
            </a:srgbClr>
          </a:solidFill>
          <a:ln w="12700">
            <a:solidFill>
              <a:srgbClr val="00A6D6">
                <a:alpha val="60000"/>
              </a:srgbClr>
            </a:solidFill>
            <a:prstDash val="solid"/>
          </a:ln>
        </p:spPr>
      </p:sp>
      <p:sp>
        <p:nvSpPr>
          <p:cNvPr id="20" name="Text 18"/>
          <p:cNvSpPr/>
          <p:nvPr/>
        </p:nvSpPr>
        <p:spPr>
          <a:xfrm>
            <a:off x="713232" y="548640"/>
            <a:ext cx="4114800" cy="219456"/>
          </a:xfrm>
          <a:prstGeom prst="rect">
            <a:avLst/>
          </a:prstGeom>
          <a:noFill/>
          <a:ln/>
        </p:spPr>
        <p:txBody>
          <a:bodyPr wrap="square" lIns="0" tIns="0" rIns="0" bIns="0" rtlCol="0" anchor="ctr"/>
          <a:lstStyle/>
          <a:p>
            <a:pPr indent="0" marL="0">
              <a:buNone/>
            </a:pPr>
            <a:r>
              <a:rPr lang="en-US" sz="900" b="1" dirty="0">
                <a:solidFill>
                  <a:srgbClr val="00A6D6"/>
                </a:solidFill>
              </a:rPr>
              <a:t>CLOSING REFLECTION</a:t>
            </a:r>
            <a:endParaRPr lang="en-US" sz="900" dirty="0"/>
          </a:p>
        </p:txBody>
      </p:sp>
      <p:sp>
        <p:nvSpPr>
          <p:cNvPr id="21" name="Text 19"/>
          <p:cNvSpPr/>
          <p:nvPr/>
        </p:nvSpPr>
        <p:spPr>
          <a:xfrm>
            <a:off x="713232" y="868680"/>
            <a:ext cx="8961120" cy="50292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What the internship changed in my understanding of IP law</a:t>
            </a:r>
            <a:endParaRPr lang="en-US" sz="2600" dirty="0"/>
          </a:p>
        </p:txBody>
      </p:sp>
      <p:sp>
        <p:nvSpPr>
          <p:cNvPr id="22" name="Shape 20"/>
          <p:cNvSpPr/>
          <p:nvPr/>
        </p:nvSpPr>
        <p:spPr>
          <a:xfrm>
            <a:off x="731520" y="1517904"/>
            <a:ext cx="2148840" cy="0"/>
          </a:xfrm>
          <a:prstGeom prst="line">
            <a:avLst/>
          </a:prstGeom>
          <a:noFill/>
          <a:ln w="30480">
            <a:solidFill>
              <a:srgbClr val="00A6D6"/>
            </a:solidFill>
            <a:prstDash val="solid"/>
          </a:ln>
        </p:spPr>
      </p:sp>
      <p:sp>
        <p:nvSpPr>
          <p:cNvPr id="23" name="Shape 21"/>
          <p:cNvSpPr/>
          <p:nvPr/>
        </p:nvSpPr>
        <p:spPr>
          <a:xfrm>
            <a:off x="859536" y="1929384"/>
            <a:ext cx="438912" cy="438912"/>
          </a:xfrm>
          <a:prstGeom prst="ellipse">
            <a:avLst/>
          </a:prstGeom>
          <a:solidFill>
            <a:srgbClr val="1D4ED8"/>
          </a:solidFill>
          <a:ln w="12700">
            <a:solidFill>
              <a:srgbClr val="1D4ED8"/>
            </a:solidFill>
            <a:prstDash val="solid"/>
          </a:ln>
        </p:spPr>
      </p:sp>
      <p:sp>
        <p:nvSpPr>
          <p:cNvPr id="24" name="Text 22"/>
          <p:cNvSpPr/>
          <p:nvPr/>
        </p:nvSpPr>
        <p:spPr>
          <a:xfrm>
            <a:off x="859536" y="2048256"/>
            <a:ext cx="438912" cy="91440"/>
          </a:xfrm>
          <a:prstGeom prst="rect">
            <a:avLst/>
          </a:prstGeom>
          <a:noFill/>
          <a:ln/>
        </p:spPr>
        <p:txBody>
          <a:bodyPr wrap="square" lIns="0" tIns="0" rIns="0" bIns="0" rtlCol="0" anchor="t">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25" name="Text 23"/>
          <p:cNvSpPr/>
          <p:nvPr/>
        </p:nvSpPr>
        <p:spPr>
          <a:xfrm>
            <a:off x="1517904" y="1901952"/>
            <a:ext cx="4023360" cy="182880"/>
          </a:xfrm>
          <a:prstGeom prst="rect">
            <a:avLst/>
          </a:prstGeom>
          <a:noFill/>
          <a:ln/>
        </p:spPr>
        <p:txBody>
          <a:bodyPr wrap="square" lIns="0" tIns="0" rIns="0" bIns="0" rtlCol="0" anchor="t">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IP law is technical fact-work</a:t>
            </a:r>
            <a:endParaRPr lang="en-US" sz="1220" dirty="0"/>
          </a:p>
        </p:txBody>
      </p:sp>
      <p:sp>
        <p:nvSpPr>
          <p:cNvPr id="26" name="Text 24"/>
          <p:cNvSpPr/>
          <p:nvPr/>
        </p:nvSpPr>
        <p:spPr>
          <a:xfrm>
            <a:off x="1517904" y="2221992"/>
            <a:ext cx="5120640" cy="155448"/>
          </a:xfrm>
          <a:prstGeom prst="rect">
            <a:avLst/>
          </a:prstGeom>
          <a:noFill/>
          <a:ln/>
        </p:spPr>
        <p:txBody>
          <a:bodyPr wrap="square" lIns="0" tIns="0" rIns="0" bIns="0" rtlCol="0" anchor="t">
            <a:normAutofit/>
          </a:bodyPr>
          <a:lstStyle/>
          <a:p>
            <a:pPr algn="l" indent="0" marL="0">
              <a:buNone/>
            </a:pPr>
            <a:r>
              <a:rPr lang="en-US" sz="880" dirty="0">
                <a:solidFill>
                  <a:srgbClr val="BFD6EA"/>
                </a:solidFill>
                <a:latin typeface="Aptos" pitchFamily="34" charset="0"/>
                <a:ea typeface="Aptos" pitchFamily="34" charset="-122"/>
                <a:cs typeface="Aptos" pitchFamily="34" charset="-120"/>
              </a:rPr>
              <a:t>Legal strength depends on understanding the invention, not merely citing doctrine.</a:t>
            </a:r>
            <a:endParaRPr lang="en-US" sz="880" dirty="0"/>
          </a:p>
        </p:txBody>
      </p:sp>
      <p:sp>
        <p:nvSpPr>
          <p:cNvPr id="27" name="Shape 25"/>
          <p:cNvSpPr/>
          <p:nvPr/>
        </p:nvSpPr>
        <p:spPr>
          <a:xfrm>
            <a:off x="859536" y="2770632"/>
            <a:ext cx="438912" cy="438912"/>
          </a:xfrm>
          <a:prstGeom prst="ellipse">
            <a:avLst/>
          </a:prstGeom>
          <a:solidFill>
            <a:srgbClr val="7C3AED"/>
          </a:solidFill>
          <a:ln w="12700">
            <a:solidFill>
              <a:srgbClr val="7C3AED"/>
            </a:solidFill>
            <a:prstDash val="solid"/>
          </a:ln>
        </p:spPr>
      </p:sp>
      <p:sp>
        <p:nvSpPr>
          <p:cNvPr id="28" name="Text 26"/>
          <p:cNvSpPr/>
          <p:nvPr/>
        </p:nvSpPr>
        <p:spPr>
          <a:xfrm>
            <a:off x="859536" y="2889504"/>
            <a:ext cx="438912" cy="91440"/>
          </a:xfrm>
          <a:prstGeom prst="rect">
            <a:avLst/>
          </a:prstGeom>
          <a:noFill/>
          <a:ln/>
        </p:spPr>
        <p:txBody>
          <a:bodyPr wrap="square" lIns="0" tIns="0" rIns="0" bIns="0" rtlCol="0" anchor="t">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9" name="Text 27"/>
          <p:cNvSpPr/>
          <p:nvPr/>
        </p:nvSpPr>
        <p:spPr>
          <a:xfrm>
            <a:off x="1517904" y="2743200"/>
            <a:ext cx="4023360" cy="182880"/>
          </a:xfrm>
          <a:prstGeom prst="rect">
            <a:avLst/>
          </a:prstGeom>
          <a:noFill/>
          <a:ln/>
        </p:spPr>
        <p:txBody>
          <a:bodyPr wrap="square" lIns="0" tIns="0" rIns="0" bIns="0" rtlCol="0" anchor="t">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Claims are the centre of analysis</a:t>
            </a:r>
            <a:endParaRPr lang="en-US" sz="1220" dirty="0"/>
          </a:p>
        </p:txBody>
      </p:sp>
      <p:sp>
        <p:nvSpPr>
          <p:cNvPr id="30" name="Text 28"/>
          <p:cNvSpPr/>
          <p:nvPr/>
        </p:nvSpPr>
        <p:spPr>
          <a:xfrm>
            <a:off x="1517904" y="3063240"/>
            <a:ext cx="5120640" cy="155448"/>
          </a:xfrm>
          <a:prstGeom prst="rect">
            <a:avLst/>
          </a:prstGeom>
          <a:noFill/>
          <a:ln/>
        </p:spPr>
        <p:txBody>
          <a:bodyPr wrap="square" lIns="0" tIns="0" rIns="0" bIns="0" rtlCol="0" anchor="t">
            <a:normAutofit/>
          </a:bodyPr>
          <a:lstStyle/>
          <a:p>
            <a:pPr algn="l" indent="0" marL="0">
              <a:buNone/>
            </a:pPr>
            <a:r>
              <a:rPr lang="en-US" sz="880" dirty="0">
                <a:solidFill>
                  <a:srgbClr val="BFD6EA"/>
                </a:solidFill>
                <a:latin typeface="Aptos" pitchFamily="34" charset="0"/>
                <a:ea typeface="Aptos" pitchFamily="34" charset="-122"/>
                <a:cs typeface="Aptos" pitchFamily="34" charset="-120"/>
              </a:rPr>
              <a:t>Patentability, FTO, prosecution and infringement all return to claim elements.</a:t>
            </a:r>
            <a:endParaRPr lang="en-US" sz="880" dirty="0"/>
          </a:p>
        </p:txBody>
      </p:sp>
      <p:sp>
        <p:nvSpPr>
          <p:cNvPr id="31" name="Shape 29"/>
          <p:cNvSpPr/>
          <p:nvPr/>
        </p:nvSpPr>
        <p:spPr>
          <a:xfrm>
            <a:off x="859536" y="3611880"/>
            <a:ext cx="438912" cy="438912"/>
          </a:xfrm>
          <a:prstGeom prst="ellipse">
            <a:avLst/>
          </a:prstGeom>
          <a:solidFill>
            <a:srgbClr val="0EA5A4"/>
          </a:solidFill>
          <a:ln w="12700">
            <a:solidFill>
              <a:srgbClr val="0EA5A4"/>
            </a:solidFill>
            <a:prstDash val="solid"/>
          </a:ln>
        </p:spPr>
      </p:sp>
      <p:sp>
        <p:nvSpPr>
          <p:cNvPr id="32" name="Text 30"/>
          <p:cNvSpPr/>
          <p:nvPr/>
        </p:nvSpPr>
        <p:spPr>
          <a:xfrm>
            <a:off x="859536" y="3730752"/>
            <a:ext cx="438912" cy="91440"/>
          </a:xfrm>
          <a:prstGeom prst="rect">
            <a:avLst/>
          </a:prstGeom>
          <a:noFill/>
          <a:ln/>
        </p:spPr>
        <p:txBody>
          <a:bodyPr wrap="square" lIns="0" tIns="0" rIns="0" bIns="0" rtlCol="0" anchor="t">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33" name="Text 31"/>
          <p:cNvSpPr/>
          <p:nvPr/>
        </p:nvSpPr>
        <p:spPr>
          <a:xfrm>
            <a:off x="1517904" y="3584448"/>
            <a:ext cx="4023360" cy="182880"/>
          </a:xfrm>
          <a:prstGeom prst="rect">
            <a:avLst/>
          </a:prstGeom>
          <a:noFill/>
          <a:ln/>
        </p:spPr>
        <p:txBody>
          <a:bodyPr wrap="square" lIns="0" tIns="0" rIns="0" bIns="0" rtlCol="0" anchor="t">
            <a:normAutofit/>
          </a:bodyPr>
          <a:lstStyle/>
          <a:p>
            <a:pPr algn="l" indent="0" marL="0">
              <a:buNone/>
            </a:pPr>
            <a:r>
              <a:rPr lang="en-US" sz="1220" b="1" dirty="0">
                <a:solidFill>
                  <a:srgbClr val="FFFFFF"/>
                </a:solidFill>
                <a:latin typeface="Aptos" pitchFamily="34" charset="0"/>
                <a:ea typeface="Aptos" pitchFamily="34" charset="-122"/>
                <a:cs typeface="Aptos" pitchFamily="34" charset="-120"/>
              </a:rPr>
              <a:t>Evidence discipline creates useful advice</a:t>
            </a:r>
            <a:endParaRPr lang="en-US" sz="1220" dirty="0"/>
          </a:p>
        </p:txBody>
      </p:sp>
      <p:sp>
        <p:nvSpPr>
          <p:cNvPr id="34" name="Text 32"/>
          <p:cNvSpPr/>
          <p:nvPr/>
        </p:nvSpPr>
        <p:spPr>
          <a:xfrm>
            <a:off x="1517904" y="3904488"/>
            <a:ext cx="5120640" cy="155448"/>
          </a:xfrm>
          <a:prstGeom prst="rect">
            <a:avLst/>
          </a:prstGeom>
          <a:noFill/>
          <a:ln/>
        </p:spPr>
        <p:txBody>
          <a:bodyPr wrap="square" lIns="0" tIns="0" rIns="0" bIns="0" rtlCol="0" anchor="t">
            <a:normAutofit/>
          </a:bodyPr>
          <a:lstStyle/>
          <a:p>
            <a:pPr algn="l" indent="0" marL="0">
              <a:buNone/>
            </a:pPr>
            <a:r>
              <a:rPr lang="en-US" sz="880" dirty="0">
                <a:solidFill>
                  <a:srgbClr val="BFD6EA"/>
                </a:solidFill>
                <a:latin typeface="Aptos" pitchFamily="34" charset="0"/>
                <a:ea typeface="Aptos" pitchFamily="34" charset="-122"/>
                <a:cs typeface="Aptos" pitchFamily="34" charset="-120"/>
              </a:rPr>
              <a:t>A good IP note shows the source, the mapping and the legal consequence.</a:t>
            </a:r>
            <a:endParaRPr lang="en-US" sz="880" dirty="0"/>
          </a:p>
        </p:txBody>
      </p:sp>
      <p:sp>
        <p:nvSpPr>
          <p:cNvPr id="35" name="Shape 33"/>
          <p:cNvSpPr/>
          <p:nvPr/>
        </p:nvSpPr>
        <p:spPr>
          <a:xfrm>
            <a:off x="6812280" y="1874520"/>
            <a:ext cx="4297680" cy="2724912"/>
          </a:xfrm>
          <a:prstGeom prst="roundRect">
            <a:avLst>
              <a:gd name="adj" fmla="val 2685"/>
            </a:avLst>
          </a:prstGeom>
          <a:solidFill>
            <a:srgbClr val="0F2B43"/>
          </a:solidFill>
          <a:ln w="13970">
            <a:solidFill>
              <a:srgbClr val="00A6D6"/>
            </a:solidFill>
            <a:prstDash val="solid"/>
          </a:ln>
        </p:spPr>
      </p:sp>
      <p:sp>
        <p:nvSpPr>
          <p:cNvPr id="36" name="Text 34"/>
          <p:cNvSpPr/>
          <p:nvPr/>
        </p:nvSpPr>
        <p:spPr>
          <a:xfrm>
            <a:off x="7132320" y="2157984"/>
            <a:ext cx="2057400" cy="201168"/>
          </a:xfrm>
          <a:prstGeom prst="rect">
            <a:avLst/>
          </a:prstGeom>
          <a:noFill/>
          <a:ln/>
        </p:spPr>
        <p:txBody>
          <a:bodyPr wrap="square" lIns="0" tIns="0" rIns="0" bIns="0" rtlCol="0" anchor="t">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30-second summary</a:t>
            </a:r>
            <a:endParaRPr lang="en-US" sz="1400" dirty="0"/>
          </a:p>
        </p:txBody>
      </p:sp>
      <p:sp>
        <p:nvSpPr>
          <p:cNvPr id="37" name="Text 35"/>
          <p:cNvSpPr/>
          <p:nvPr/>
        </p:nvSpPr>
        <p:spPr>
          <a:xfrm>
            <a:off x="7150608" y="2651760"/>
            <a:ext cx="3520440" cy="1325880"/>
          </a:xfrm>
          <a:prstGeom prst="rect">
            <a:avLst/>
          </a:prstGeom>
          <a:noFill/>
          <a:ln/>
        </p:spPr>
        <p:txBody>
          <a:bodyPr wrap="square" lIns="0" tIns="0" rIns="0" bIns="0" rtlCol="0" anchor="t">
            <a:normAutofit/>
          </a:bodyPr>
          <a:lstStyle/>
          <a:p>
            <a:pPr algn="l" indent="0" marL="0">
              <a:buNone/>
            </a:pPr>
            <a:r>
              <a:rPr lang="en-US" sz="870" dirty="0">
                <a:solidFill>
                  <a:srgbClr val="D7E8F7"/>
                </a:solidFill>
                <a:latin typeface="Aptos" pitchFamily="34" charset="0"/>
                <a:ea typeface="Aptos" pitchFamily="34" charset="-122"/>
                <a:cs typeface="Aptos" pitchFamily="34" charset="-120"/>
              </a:rPr>
              <a:t>“During my two-month IP law internship, I learned how legal work supports the full journey from R&amp;D disclosure to protected IP asset. My work involved capturing invention facts, locating prior art, analysing patentability and FTO issues, interpreting claims, supporting prosecution inputs, and understanding governance through confidentiality and ownership controls. The key learning was that strong IP advice is precise, evidence-backed and technically informed.”</a:t>
            </a:r>
            <a:endParaRPr lang="en-US" sz="870" dirty="0"/>
          </a:p>
        </p:txBody>
      </p:sp>
      <p:sp>
        <p:nvSpPr>
          <p:cNvPr id="38" name="Text 36"/>
          <p:cNvSpPr/>
          <p:nvPr/>
        </p:nvSpPr>
        <p:spPr>
          <a:xfrm>
            <a:off x="7150608" y="4169664"/>
            <a:ext cx="1920240" cy="246888"/>
          </a:xfrm>
          <a:prstGeom prst="rect">
            <a:avLst/>
          </a:prstGeom>
          <a:noFill/>
          <a:ln/>
        </p:spPr>
        <p:txBody>
          <a:bodyPr wrap="square" lIns="0" tIns="0" rIns="0" bIns="0" rtlCol="0" anchor="t">
            <a:normAutofit/>
          </a:bodyPr>
          <a:lstStyle/>
          <a:p>
            <a:pPr algn="l" indent="0" marL="0">
              <a:buNone/>
            </a:pPr>
            <a:r>
              <a:rPr lang="en-US" sz="1800" b="1" dirty="0">
                <a:solidFill>
                  <a:srgbClr val="00A6D6"/>
                </a:solidFill>
                <a:latin typeface="Aptos Display" pitchFamily="34" charset="0"/>
                <a:ea typeface="Aptos Display" pitchFamily="34" charset="-122"/>
                <a:cs typeface="Aptos Display" pitchFamily="34" charset="-120"/>
              </a:rPr>
              <a:t>Thank you</a:t>
            </a:r>
            <a:endParaRPr lang="en-US" sz="1800" dirty="0"/>
          </a:p>
        </p:txBody>
      </p:sp>
      <p:sp>
        <p:nvSpPr>
          <p:cNvPr id="39" name="Shape 37"/>
          <p:cNvSpPr/>
          <p:nvPr/>
        </p:nvSpPr>
        <p:spPr>
          <a:xfrm>
            <a:off x="475488" y="6364224"/>
            <a:ext cx="987552" cy="256032"/>
          </a:xfrm>
          <a:prstGeom prst="roundRect">
            <a:avLst>
              <a:gd name="adj" fmla="val 28571"/>
            </a:avLst>
          </a:prstGeom>
          <a:solidFill>
            <a:srgbClr val="1D4ED8"/>
          </a:solidFill>
          <a:ln w="7620">
            <a:solidFill>
              <a:srgbClr val="1D4ED8"/>
            </a:solidFill>
            <a:prstDash val="solid"/>
          </a:ln>
        </p:spPr>
      </p:sp>
      <p:sp>
        <p:nvSpPr>
          <p:cNvPr id="40" name="Text 38"/>
          <p:cNvSpPr/>
          <p:nvPr/>
        </p:nvSpPr>
        <p:spPr>
          <a:xfrm>
            <a:off x="53949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C</a:t>
            </a:r>
            <a:endParaRPr lang="en-US" sz="750" dirty="0"/>
          </a:p>
        </p:txBody>
      </p:sp>
      <p:sp>
        <p:nvSpPr>
          <p:cNvPr id="41" name="Text 39"/>
          <p:cNvSpPr/>
          <p:nvPr/>
        </p:nvSpPr>
        <p:spPr>
          <a:xfrm>
            <a:off x="72237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Capture</a:t>
            </a:r>
            <a:endParaRPr lang="en-US" sz="670" dirty="0"/>
          </a:p>
        </p:txBody>
      </p:sp>
      <p:sp>
        <p:nvSpPr>
          <p:cNvPr id="42" name="Shape 40"/>
          <p:cNvSpPr/>
          <p:nvPr/>
        </p:nvSpPr>
        <p:spPr>
          <a:xfrm>
            <a:off x="1572768" y="6364224"/>
            <a:ext cx="987552" cy="256032"/>
          </a:xfrm>
          <a:prstGeom prst="roundRect">
            <a:avLst>
              <a:gd name="adj" fmla="val 28571"/>
            </a:avLst>
          </a:prstGeom>
          <a:solidFill>
            <a:srgbClr val="00A6D6"/>
          </a:solidFill>
          <a:ln w="7620">
            <a:solidFill>
              <a:srgbClr val="00A6D6"/>
            </a:solidFill>
            <a:prstDash val="solid"/>
          </a:ln>
        </p:spPr>
      </p:sp>
      <p:sp>
        <p:nvSpPr>
          <p:cNvPr id="43" name="Text 41"/>
          <p:cNvSpPr/>
          <p:nvPr/>
        </p:nvSpPr>
        <p:spPr>
          <a:xfrm>
            <a:off x="163677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L</a:t>
            </a:r>
            <a:endParaRPr lang="en-US" sz="750" dirty="0"/>
          </a:p>
        </p:txBody>
      </p:sp>
      <p:sp>
        <p:nvSpPr>
          <p:cNvPr id="44" name="Text 42"/>
          <p:cNvSpPr/>
          <p:nvPr/>
        </p:nvSpPr>
        <p:spPr>
          <a:xfrm>
            <a:off x="181965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Locate</a:t>
            </a:r>
            <a:endParaRPr lang="en-US" sz="670" dirty="0"/>
          </a:p>
        </p:txBody>
      </p:sp>
      <p:sp>
        <p:nvSpPr>
          <p:cNvPr id="45" name="Shape 43"/>
          <p:cNvSpPr/>
          <p:nvPr/>
        </p:nvSpPr>
        <p:spPr>
          <a:xfrm>
            <a:off x="2670048" y="6364224"/>
            <a:ext cx="987552" cy="256032"/>
          </a:xfrm>
          <a:prstGeom prst="roundRect">
            <a:avLst>
              <a:gd name="adj" fmla="val 28571"/>
            </a:avLst>
          </a:prstGeom>
          <a:solidFill>
            <a:srgbClr val="F59E0B"/>
          </a:solidFill>
          <a:ln w="7620">
            <a:solidFill>
              <a:srgbClr val="F59E0B"/>
            </a:solidFill>
            <a:prstDash val="solid"/>
          </a:ln>
        </p:spPr>
      </p:sp>
      <p:sp>
        <p:nvSpPr>
          <p:cNvPr id="46" name="Text 44"/>
          <p:cNvSpPr/>
          <p:nvPr/>
        </p:nvSpPr>
        <p:spPr>
          <a:xfrm>
            <a:off x="273405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A</a:t>
            </a:r>
            <a:endParaRPr lang="en-US" sz="750" dirty="0"/>
          </a:p>
        </p:txBody>
      </p:sp>
      <p:sp>
        <p:nvSpPr>
          <p:cNvPr id="47" name="Text 45"/>
          <p:cNvSpPr/>
          <p:nvPr/>
        </p:nvSpPr>
        <p:spPr>
          <a:xfrm>
            <a:off x="291693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Analyse</a:t>
            </a:r>
            <a:endParaRPr lang="en-US" sz="670" dirty="0"/>
          </a:p>
        </p:txBody>
      </p:sp>
      <p:sp>
        <p:nvSpPr>
          <p:cNvPr id="48" name="Shape 46"/>
          <p:cNvSpPr/>
          <p:nvPr/>
        </p:nvSpPr>
        <p:spPr>
          <a:xfrm>
            <a:off x="3767328" y="6364224"/>
            <a:ext cx="987552" cy="256032"/>
          </a:xfrm>
          <a:prstGeom prst="roundRect">
            <a:avLst>
              <a:gd name="adj" fmla="val 28571"/>
            </a:avLst>
          </a:prstGeom>
          <a:solidFill>
            <a:srgbClr val="7C3AED"/>
          </a:solidFill>
          <a:ln w="7620">
            <a:solidFill>
              <a:srgbClr val="7C3AED"/>
            </a:solidFill>
            <a:prstDash val="solid"/>
          </a:ln>
        </p:spPr>
      </p:sp>
      <p:sp>
        <p:nvSpPr>
          <p:cNvPr id="49" name="Text 47"/>
          <p:cNvSpPr/>
          <p:nvPr/>
        </p:nvSpPr>
        <p:spPr>
          <a:xfrm>
            <a:off x="383133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I</a:t>
            </a:r>
            <a:endParaRPr lang="en-US" sz="750" dirty="0"/>
          </a:p>
        </p:txBody>
      </p:sp>
      <p:sp>
        <p:nvSpPr>
          <p:cNvPr id="50" name="Text 48"/>
          <p:cNvSpPr/>
          <p:nvPr/>
        </p:nvSpPr>
        <p:spPr>
          <a:xfrm>
            <a:off x="401421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Interpret</a:t>
            </a:r>
            <a:endParaRPr lang="en-US" sz="670" dirty="0"/>
          </a:p>
        </p:txBody>
      </p:sp>
      <p:sp>
        <p:nvSpPr>
          <p:cNvPr id="51" name="Shape 49"/>
          <p:cNvSpPr/>
          <p:nvPr/>
        </p:nvSpPr>
        <p:spPr>
          <a:xfrm>
            <a:off x="4864608" y="6364224"/>
            <a:ext cx="987552" cy="256032"/>
          </a:xfrm>
          <a:prstGeom prst="roundRect">
            <a:avLst>
              <a:gd name="adj" fmla="val 28571"/>
            </a:avLst>
          </a:prstGeom>
          <a:solidFill>
            <a:srgbClr val="0EA5A4"/>
          </a:solidFill>
          <a:ln w="7620">
            <a:solidFill>
              <a:srgbClr val="0EA5A4"/>
            </a:solidFill>
            <a:prstDash val="solid"/>
          </a:ln>
        </p:spPr>
      </p:sp>
      <p:sp>
        <p:nvSpPr>
          <p:cNvPr id="52" name="Text 50"/>
          <p:cNvSpPr/>
          <p:nvPr/>
        </p:nvSpPr>
        <p:spPr>
          <a:xfrm>
            <a:off x="4928616" y="6396228"/>
            <a:ext cx="164592" cy="128016"/>
          </a:xfrm>
          <a:prstGeom prst="rect">
            <a:avLst/>
          </a:prstGeom>
          <a:noFill/>
          <a:ln/>
        </p:spPr>
        <p:txBody>
          <a:bodyPr wrap="square" lIns="0" tIns="0" rIns="0" bIns="0" rtlCol="0" anchor="ctr"/>
          <a:lstStyle/>
          <a:p>
            <a:pPr indent="0" marL="0">
              <a:buNone/>
            </a:pPr>
            <a:r>
              <a:rPr lang="en-US" sz="750" b="1" dirty="0">
                <a:solidFill>
                  <a:srgbClr val="FFFFFF"/>
                </a:solidFill>
                <a:latin typeface="Aptos Display" pitchFamily="34" charset="0"/>
                <a:ea typeface="Aptos Display" pitchFamily="34" charset="-122"/>
                <a:cs typeface="Aptos Display" pitchFamily="34" charset="-120"/>
              </a:rPr>
              <a:t>M</a:t>
            </a:r>
            <a:endParaRPr lang="en-US" sz="750" dirty="0"/>
          </a:p>
        </p:txBody>
      </p:sp>
      <p:sp>
        <p:nvSpPr>
          <p:cNvPr id="53" name="Text 51"/>
          <p:cNvSpPr/>
          <p:nvPr/>
        </p:nvSpPr>
        <p:spPr>
          <a:xfrm>
            <a:off x="5111496" y="6396228"/>
            <a:ext cx="667512" cy="137160"/>
          </a:xfrm>
          <a:prstGeom prst="rect">
            <a:avLst/>
          </a:prstGeom>
          <a:noFill/>
          <a:ln/>
        </p:spPr>
        <p:txBody>
          <a:bodyPr wrap="square" lIns="0" tIns="0" rIns="0" bIns="0" rtlCol="0" anchor="ctr"/>
          <a:lstStyle/>
          <a:p>
            <a:pPr indent="0" marL="0">
              <a:buNone/>
            </a:pPr>
            <a:r>
              <a:rPr lang="en-US" sz="670" b="1" dirty="0">
                <a:solidFill>
                  <a:srgbClr val="FFFFFF"/>
                </a:solidFill>
              </a:rPr>
              <a:t>Manage</a:t>
            </a:r>
            <a:endParaRPr lang="en-US" sz="670" dirty="0"/>
          </a:p>
        </p:txBody>
      </p:sp>
      <p:sp>
        <p:nvSpPr>
          <p:cNvPr id="54" name="Text 52"/>
          <p:cNvSpPr/>
          <p:nvPr/>
        </p:nvSpPr>
        <p:spPr>
          <a:xfrm>
            <a:off x="6172200" y="6400800"/>
            <a:ext cx="3383280" cy="137160"/>
          </a:xfrm>
          <a:prstGeom prst="rect">
            <a:avLst/>
          </a:prstGeom>
          <a:noFill/>
          <a:ln/>
        </p:spPr>
        <p:txBody>
          <a:bodyPr wrap="square" lIns="0" tIns="0" rIns="0" bIns="0" rtlCol="0" anchor="ctr"/>
          <a:lstStyle/>
          <a:p>
            <a:pPr algn="r" indent="0" marL="0">
              <a:buNone/>
            </a:pPr>
            <a:r>
              <a:rPr lang="en-US" sz="680" dirty="0">
                <a:solidFill>
                  <a:srgbClr val="BFD6EA"/>
                </a:solidFill>
              </a:rPr>
              <a:t>Non-confidential internship summary</a:t>
            </a:r>
            <a:endParaRPr lang="en-US" sz="680" dirty="0"/>
          </a:p>
        </p:txBody>
      </p:sp>
      <p:sp>
        <p:nvSpPr>
          <p:cNvPr id="55" name="Text 53"/>
          <p:cNvSpPr/>
          <p:nvPr/>
        </p:nvSpPr>
        <p:spPr>
          <a:xfrm>
            <a:off x="11109960" y="6373368"/>
            <a:ext cx="475488" cy="182880"/>
          </a:xfrm>
          <a:prstGeom prst="rect">
            <a:avLst/>
          </a:prstGeom>
          <a:noFill/>
          <a:ln/>
        </p:spPr>
        <p:txBody>
          <a:bodyPr wrap="square" lIns="0" tIns="0" rIns="0" bIns="0" rtlCol="0" anchor="ctr"/>
          <a:lstStyle/>
          <a:p>
            <a:pPr algn="r" indent="0" marL="0">
              <a:buNone/>
            </a:pPr>
            <a:r>
              <a:rPr lang="en-US" sz="800" b="1" dirty="0">
                <a:solidFill>
                  <a:srgbClr val="BFD6EA"/>
                </a:solidFill>
                <a:latin typeface="Aptos Display" pitchFamily="34" charset="0"/>
                <a:ea typeface="Aptos Display" pitchFamily="34" charset="-122"/>
                <a:cs typeface="Aptos Display"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R&amp;D Idea to IP Asset - IP Law Internship</dc:title>
  <dc:subject>Two-month IP law internship presentation</dc:subject>
  <dc:creator>OpenAI</dc:creator>
  <cp:lastModifiedBy>OpenAI</cp:lastModifiedBy>
  <cp:revision>1</cp:revision>
  <dcterms:created xsi:type="dcterms:W3CDTF">2026-06-25T03:39:41Z</dcterms:created>
  <dcterms:modified xsi:type="dcterms:W3CDTF">2026-06-25T03:39:41Z</dcterms:modified>
</cp:coreProperties>
</file>