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msung_assets/cover_bg_prepar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21792"/>
            <a:ext cx="73152" cy="521208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640080"/>
            <a:ext cx="1572768" cy="29260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3816" y="67665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SAMSUNG IP TEAM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749808" y="1298448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Internship</a:t>
            </a:r>
            <a:endParaRPr lang="en-US" sz="4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86384" y="27889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5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Two-month work summary across standards analysis, invention capture, claim drafting, prior-art search, and patent landscaping.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86384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Surendra Mundvadiya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786384" y="42793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8D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Wi‑Fi 8 Standards  |  AR Glasses Invention  |  AI‑Driven Cybersecurity Landscape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6384" y="4956048"/>
            <a:ext cx="4206240" cy="493776"/>
          </a:xfrm>
          <a:prstGeom prst="roundRect">
            <a:avLst/>
          </a:prstGeom>
          <a:solidFill>
            <a:srgbClr val="FFFFFF">
              <a:alpha val="14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50840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DF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discussion summary; final technical and legal conclusions remain subject to mentor review.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TECHNOLOGY SCOPE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I Worked 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main technology tracks, supported by one strategic landscape project.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40" dirty="0"/>
          </a:p>
        </p:txBody>
      </p:sp>
      <p:pic>
        <p:nvPicPr>
          <p:cNvPr id="10" name="Image 0" descr="/mnt/data/samsung_assets/chip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72768"/>
            <a:ext cx="3063240" cy="17190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" y="1572768"/>
            <a:ext cx="3063240" cy="171907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pic>
        <p:nvPicPr>
          <p:cNvPr id="12" name="Image 1" descr="/mnt/data/samsung_assets/drawing_16x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572768"/>
            <a:ext cx="3063240" cy="17190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53712" y="1572768"/>
            <a:ext cx="3063240" cy="171907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pic>
        <p:nvPicPr>
          <p:cNvPr id="14" name="Image 2" descr="/mnt/data/samsung_assets/patent_16x9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572768"/>
            <a:ext cx="3063240" cy="17190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503920" y="1572768"/>
            <a:ext cx="3063240" cy="171907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85216" y="3529584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85216" y="3529584"/>
            <a:ext cx="73152" cy="2194560"/>
          </a:xfrm>
          <a:prstGeom prst="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13816" y="369417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Wi‑Fi 8 Standards / Core IP</a:t>
            </a:r>
            <a:endParaRPr lang="en-US" sz="1340" dirty="0"/>
          </a:p>
        </p:txBody>
      </p:sp>
      <p:sp>
        <p:nvSpPr>
          <p:cNvPr id="19" name="Text 14"/>
          <p:cNvSpPr/>
          <p:nvPr/>
        </p:nvSpPr>
        <p:spPr>
          <a:xfrm>
            <a:off x="813816" y="4041648"/>
            <a:ext cx="27157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and proposal review, claim-to-standard mapping, claim chart preparation, and potential read-on analysis for the proposal shared by Neel Mani Jha.</a:t>
            </a:r>
            <a:endParaRPr lang="en-US" sz="1070" dirty="0"/>
          </a:p>
        </p:txBody>
      </p:sp>
      <p:sp>
        <p:nvSpPr>
          <p:cNvPr id="20" name="Shape 15"/>
          <p:cNvSpPr/>
          <p:nvPr/>
        </p:nvSpPr>
        <p:spPr>
          <a:xfrm>
            <a:off x="4553712" y="3529584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53712" y="3529584"/>
            <a:ext cx="73152" cy="2194560"/>
          </a:xfrm>
          <a:prstGeom prst="rect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82312" y="369417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Glasses Invention</a:t>
            </a:r>
            <a:endParaRPr lang="en-US" sz="1340" dirty="0"/>
          </a:p>
        </p:txBody>
      </p:sp>
      <p:sp>
        <p:nvSpPr>
          <p:cNvPr id="23" name="Text 18"/>
          <p:cNvSpPr/>
          <p:nvPr/>
        </p:nvSpPr>
        <p:spPr>
          <a:xfrm>
            <a:off x="4782312" y="4041648"/>
            <a:ext cx="27157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Invention discussion with Naveen Kumar Allada, claim drafting support, AR glasses prior-art search, embodiment review, and fallback-feature identification.</a:t>
            </a:r>
            <a:endParaRPr lang="en-US" sz="1070" dirty="0"/>
          </a:p>
        </p:txBody>
      </p:sp>
      <p:sp>
        <p:nvSpPr>
          <p:cNvPr id="24" name="Shape 19"/>
          <p:cNvSpPr/>
          <p:nvPr/>
        </p:nvSpPr>
        <p:spPr>
          <a:xfrm>
            <a:off x="8503920" y="3529584"/>
            <a:ext cx="30632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03920" y="3529584"/>
            <a:ext cx="73152" cy="2194560"/>
          </a:xfrm>
          <a:prstGeom prst="rect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32520" y="369417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AI‑Driven Cybersecurity</a:t>
            </a:r>
            <a:endParaRPr lang="en-US" sz="1340" dirty="0"/>
          </a:p>
        </p:txBody>
      </p:sp>
      <p:sp>
        <p:nvSpPr>
          <p:cNvPr id="27" name="Text 22"/>
          <p:cNvSpPr/>
          <p:nvPr/>
        </p:nvSpPr>
        <p:spPr>
          <a:xfrm>
            <a:off x="8732520" y="4041648"/>
            <a:ext cx="27157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Patent landscape creation: scope definition, taxonomy, search strategy, cluster review, assignee/activity view, and potential whitespace identification.</a:t>
            </a:r>
            <a:endParaRPr lang="en-US" sz="10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INVENTION DISCUSSION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Did in Invention Discussion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glasses invention work with Naveen Kumar Allada.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594360" y="1609344"/>
            <a:ext cx="6446520" cy="4407408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470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role: convert the technical idea into clear patent-drafting inputs.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868680" y="2295144"/>
            <a:ext cx="329184" cy="329184"/>
          </a:xfrm>
          <a:prstGeom prst="ellipse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5458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7592" y="233172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Understood the invention context: problem, solution, technical effect, and user scenario.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68680" y="2935224"/>
            <a:ext cx="329184" cy="329184"/>
          </a:xfrm>
          <a:prstGeom prst="ellipse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9946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07592" y="297180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 the concept into device components, data flow, user interaction, and processing logic.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68680" y="3575304"/>
            <a:ext cx="329184" cy="329184"/>
          </a:xfrm>
          <a:prstGeom prst="ellipse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347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07592" y="361188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Asked clarifying questions on variants, edge cases, alternatives, and implementation choices.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868680" y="4215384"/>
            <a:ext cx="329184" cy="329184"/>
          </a:xfrm>
          <a:prstGeom prst="ellipse">
            <a:avLst/>
          </a:prstGeom>
          <a:solidFill>
            <a:srgbClr val="C27803"/>
          </a:solidFill>
          <a:ln w="10160">
            <a:solidFill>
              <a:srgbClr val="C278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7482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07592" y="425196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claim-worthy elements: core feature, dependent features, and fallback embodiments.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868680" y="4855464"/>
            <a:ext cx="329184" cy="329184"/>
          </a:xfrm>
          <a:prstGeom prst="ellipse">
            <a:avLst/>
          </a:prstGeom>
          <a:solidFill>
            <a:srgbClr val="C27803"/>
          </a:solidFill>
          <a:ln w="10160">
            <a:solidFill>
              <a:srgbClr val="C278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1490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07592" y="489204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discussion notes that could support claim drafting and prior-art search.</a:t>
            </a:r>
            <a:endParaRPr lang="en-US" sz="1280" dirty="0"/>
          </a:p>
        </p:txBody>
      </p:sp>
      <p:pic>
        <p:nvPicPr>
          <p:cNvPr id="27" name="Image 0" descr="/mnt/data/samsung_assets/drawing_panel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27632"/>
            <a:ext cx="4114800" cy="23317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498080" y="1627632"/>
            <a:ext cx="4114800" cy="233172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0" y="4169664"/>
            <a:ext cx="4114800" cy="1810512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462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of the discussion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7772400" y="4828032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Structured invention notes</a:t>
            </a:r>
            <a:endParaRPr lang="en-US" sz="10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Possible claim elements</a:t>
            </a:r>
            <a:endParaRPr lang="en-US" sz="10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Embodiments and variations</a:t>
            </a:r>
            <a:endParaRPr lang="en-US" sz="10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 direction for prior art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INVENTION DISCUSSION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 from Invention Discussion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 discussion is the bridge between engineering detail and protectable claim scope.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713232" y="1691640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1956816"/>
            <a:ext cx="713232" cy="713232"/>
          </a:xfrm>
          <a:prstGeom prst="ellipse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21305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798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technical idea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27614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concept, use case, and engineering intuition.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4471416" y="1691640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33288" y="1956816"/>
            <a:ext cx="713232" cy="713232"/>
          </a:xfrm>
          <a:prstGeom prst="ellipse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21305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disclosure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36592" y="3246120"/>
            <a:ext cx="272491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Problem, solution, technical effect, variants, and support.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229600" y="1691640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1956816"/>
            <a:ext cx="713232" cy="713232"/>
          </a:xfrm>
          <a:prstGeom prst="ellipse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213055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77072" y="279806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Draftable claims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85632" y="3246120"/>
            <a:ext cx="27614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2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independent concept plus dependent fallback positions.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024128" y="4663440"/>
            <a:ext cx="2468880" cy="676656"/>
          </a:xfrm>
          <a:prstGeom prst="chevron">
            <a:avLst/>
          </a:prstGeom>
          <a:solidFill>
            <a:srgbClr val="E8EEFF"/>
          </a:solidFill>
          <a:ln w="7620">
            <a:solidFill>
              <a:srgbClr val="E8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828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core concept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details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782312" y="4663440"/>
            <a:ext cx="2468880" cy="676656"/>
          </a:xfrm>
          <a:prstGeom prst="chevron">
            <a:avLst/>
          </a:prstGeom>
          <a:solidFill>
            <a:srgbClr val="E8FAFC"/>
          </a:solidFill>
          <a:ln w="7620">
            <a:solidFill>
              <a:srgbClr val="E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4828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every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feature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540496" y="4663440"/>
            <a:ext cx="2468880" cy="676656"/>
          </a:xfrm>
          <a:prstGeom prst="chevron">
            <a:avLst/>
          </a:prstGeom>
          <a:solidFill>
            <a:srgbClr val="EAF7F0"/>
          </a:solidFill>
          <a:ln w="7620">
            <a:solidFill>
              <a:srgbClr val="EAF7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4828032"/>
            <a:ext cx="2286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E8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fallback</a:t>
            </a:r>
            <a:endParaRPr lang="en-US" sz="9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E8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PRIOR-ART SEARCH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Did in Prior-Art Search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mainly on AR glasses-related invention search.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713232" y="1572768"/>
            <a:ext cx="3749040" cy="4343400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10512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workflow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2331720"/>
            <a:ext cx="2971800" cy="438912"/>
          </a:xfrm>
          <a:prstGeom prst="round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2450592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extraction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1280160" y="2862072"/>
            <a:ext cx="2606040" cy="438912"/>
          </a:xfrm>
          <a:prstGeom prst="roundRect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5024" y="2980944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+ synonym search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1463040" y="3392424"/>
            <a:ext cx="2240280" cy="438912"/>
          </a:xfrm>
          <a:prstGeom prst="roundRect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3511296"/>
            <a:ext cx="2130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/ assignee review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1645920" y="3922776"/>
            <a:ext cx="1874520" cy="438912"/>
          </a:xfrm>
          <a:prstGeom prst="roundRect">
            <a:avLst/>
          </a:prstGeom>
          <a:solidFill>
            <a:srgbClr val="C27803"/>
          </a:solidFill>
          <a:ln w="10160">
            <a:solidFill>
              <a:srgbClr val="C278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4041648"/>
            <a:ext cx="1764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+ priority screening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1828800" y="4453128"/>
            <a:ext cx="1508760" cy="438912"/>
          </a:xfrm>
          <a:prstGeom prst="roundRect">
            <a:avLst/>
          </a:prstGeom>
          <a:solidFill>
            <a:srgbClr val="B42318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457200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Relevance notes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882896" y="1572768"/>
            <a:ext cx="66294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810512"/>
            <a:ext cx="5897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specifically performed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0368" y="2322576"/>
            <a:ext cx="5760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9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Extracted key invention features from discussion notes and disclosure material.</a:t>
            </a:r>
            <a:endParaRPr lang="en-US" sz="129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9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 search strings using AR-glasses synonyms and adjacent terms such as headset, HMD, wearable display, near-eye display, mixed reality, and XR.</a:t>
            </a:r>
            <a:endParaRPr lang="en-US" sz="129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9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classification, assignee, and inventor-oriented searching to reduce keyword bias.</a:t>
            </a:r>
            <a:endParaRPr lang="en-US" sz="129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9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Reviewed patent families and priority information to assess temporal relevance.</a:t>
            </a:r>
            <a:endParaRPr lang="en-US" sz="129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9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Compared references against invention features and prepared relevance comments for drafting review.</a:t>
            </a:r>
            <a:endParaRPr lang="en-US" sz="1290" dirty="0"/>
          </a:p>
        </p:txBody>
      </p:sp>
      <p:sp>
        <p:nvSpPr>
          <p:cNvPr id="25" name="Shape 23"/>
          <p:cNvSpPr/>
          <p:nvPr/>
        </p:nvSpPr>
        <p:spPr>
          <a:xfrm>
            <a:off x="5230368" y="5102352"/>
            <a:ext cx="5897880" cy="438912"/>
          </a:xfrm>
          <a:prstGeom prst="roundRect">
            <a:avLst/>
          </a:prstGeom>
          <a:solidFill>
            <a:srgbClr val="E8EE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5230368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Deliverable: prior-art search output that could guide claim scope, fallback features, and novelty discussion.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PRIOR-ART SEARCH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 from Prior-Art Search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patent search is iterative, not only keyword matching.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40" dirty="0"/>
          </a:p>
        </p:txBody>
      </p:sp>
      <p:pic>
        <p:nvPicPr>
          <p:cNvPr id="10" name="Image 0" descr="/mnt/data/samsung_assets/patent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72768"/>
            <a:ext cx="3840480" cy="21579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" y="1572768"/>
            <a:ext cx="3840480" cy="2157984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3986784"/>
            <a:ext cx="3840480" cy="1700784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270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is drafting input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896112" y="4700016"/>
            <a:ext cx="3218688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4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result is not just a list of references; it shows risky features, safer claim angles, and useful fallback options.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4892040" y="1682496"/>
            <a:ext cx="651052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92040" y="1682496"/>
            <a:ext cx="73152" cy="1115568"/>
          </a:xfrm>
          <a:prstGeom prst="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1847088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broad, then narrow</a:t>
            </a:r>
            <a:endParaRPr lang="en-US" sz="1340" dirty="0"/>
          </a:p>
        </p:txBody>
      </p:sp>
      <p:sp>
        <p:nvSpPr>
          <p:cNvPr id="18" name="Text 15"/>
          <p:cNvSpPr/>
          <p:nvPr/>
        </p:nvSpPr>
        <p:spPr>
          <a:xfrm>
            <a:off x="5120640" y="2194560"/>
            <a:ext cx="6163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understand terminology and field boundaries; then filter based on the actual inventive feature.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4892040" y="3035808"/>
            <a:ext cx="651052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92040" y="3035808"/>
            <a:ext cx="73152" cy="1115568"/>
          </a:xfrm>
          <a:prstGeom prst="rect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20640" y="320040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claims and specification</a:t>
            </a:r>
            <a:endParaRPr lang="en-US" sz="1340" dirty="0"/>
          </a:p>
        </p:txBody>
      </p:sp>
      <p:sp>
        <p:nvSpPr>
          <p:cNvPr id="22" name="Text 19"/>
          <p:cNvSpPr/>
          <p:nvPr/>
        </p:nvSpPr>
        <p:spPr>
          <a:xfrm>
            <a:off x="5120640" y="3547872"/>
            <a:ext cx="6163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show legal scope, while the specification reveals implementations and variants.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4892040" y="4389120"/>
            <a:ext cx="651052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92040" y="4389120"/>
            <a:ext cx="73152" cy="1115568"/>
          </a:xfrm>
          <a:prstGeom prst="rect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4553712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relevance clearly</a:t>
            </a:r>
            <a:endParaRPr lang="en-US" sz="1340" dirty="0"/>
          </a:p>
        </p:txBody>
      </p:sp>
      <p:sp>
        <p:nvSpPr>
          <p:cNvPr id="26" name="Text 23"/>
          <p:cNvSpPr/>
          <p:nvPr/>
        </p:nvSpPr>
        <p:spPr>
          <a:xfrm>
            <a:off x="5120640" y="4901184"/>
            <a:ext cx="6163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search note states which features match, which do not, and why the reference matters.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4892040" y="5742432"/>
            <a:ext cx="6510528" cy="201168"/>
          </a:xfrm>
          <a:prstGeom prst="round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CLAIM DRAFTING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Helped in Drafting Claims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drafting inputs and claim language for mentor review.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658368" y="1627632"/>
            <a:ext cx="4983480" cy="4334256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836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 areas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2404872"/>
            <a:ext cx="42976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Converted invention features into claim elements and logical claim order.</a:t>
            </a:r>
            <a:endParaRPr lang="en-US" sz="12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Helped frame an independent-claim skeleton around the broad technical solution.</a:t>
            </a:r>
            <a:endParaRPr lang="en-US" sz="12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Suggested dependent-claim directions for embodiments, variants, and fallback features.</a:t>
            </a:r>
            <a:endParaRPr lang="en-US" sz="12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Checked clarity points: antecedent basis, component relationships, and unnecessary narrowing.</a:t>
            </a:r>
            <a:endParaRPr lang="en-US" sz="12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5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Aligned claim language with prior-art findings and inventor-discussion notes.</a:t>
            </a:r>
            <a:endParaRPr lang="en-US" sz="1250" dirty="0"/>
          </a:p>
        </p:txBody>
      </p:sp>
      <p:pic>
        <p:nvPicPr>
          <p:cNvPr id="13" name="Image 0" descr="/mnt/data/samsung_assets/drawing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27632"/>
            <a:ext cx="5440680" cy="3063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35040" y="1627632"/>
            <a:ext cx="5440680" cy="306324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4901184"/>
            <a:ext cx="5440680" cy="1060704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51389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principle I followed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6327648" y="5431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independent claim focused on the essential inventive concept; use dependent claims for concrete implementations and fallback positions.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CLAIM DRAFTING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 from Claim Drafting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drafting is disciplined abstraction.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822960" y="1755648"/>
            <a:ext cx="1056132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975104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claim should not merely describe the product; it should protect the inventive principle with supported and enforceable language.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2971800" y="3035808"/>
            <a:ext cx="6263640" cy="658368"/>
          </a:xfrm>
          <a:prstGeom prst="round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3218688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claim: minimal essential features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2331720" y="3822192"/>
            <a:ext cx="7543800" cy="658368"/>
          </a:xfrm>
          <a:prstGeom prst="roundRect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4005072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Dependent claims: embodiments, alternatives, fallback positions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1691640" y="4608576"/>
            <a:ext cx="8823960" cy="658368"/>
          </a:xfrm>
          <a:prstGeom prst="roundRect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791456"/>
            <a:ext cx="8458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Specification support: disclosure basis for each claimed feature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41248" y="5504688"/>
            <a:ext cx="32461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504688"/>
            <a:ext cx="73152" cy="713232"/>
          </a:xfrm>
          <a:prstGeom prst="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9848" y="56692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Breadth vs support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1069848" y="6016752"/>
            <a:ext cx="2898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language is useful only when the disclosure and prior art allow it.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4517136" y="5504688"/>
            <a:ext cx="32461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17136" y="5504688"/>
            <a:ext cx="73152" cy="713232"/>
          </a:xfrm>
          <a:prstGeom prst="rect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56692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language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4745736" y="6016752"/>
            <a:ext cx="2898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 must be backed by structure, steps, or implementation detail.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8193024" y="5504688"/>
            <a:ext cx="32461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5504688"/>
            <a:ext cx="73152" cy="713232"/>
          </a:xfrm>
          <a:prstGeom prst="rect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21624" y="56692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categories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8421624" y="6016752"/>
            <a:ext cx="2898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7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relevant, consider system, method, device, and medium angles.</a:t>
            </a:r>
            <a:endParaRPr lang="en-US" sz="10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CORE IP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IP: How I Searched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Wi‑Fi 8 standard/proposal work; claim chart prepared for potential read-on analysis.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658368" y="1627632"/>
            <a:ext cx="3840480" cy="4370832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93852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meaning of “core IP”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969264" y="2615184"/>
            <a:ext cx="32004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that appear strategically important because their limitations potentially map to a standard/proposal feature or commercially significant implementation behavior.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3986784"/>
            <a:ext cx="3236976" cy="804672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062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80" dirty="0">
                <a:solidFill>
                  <a:srgbClr val="E8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focus: Wi‑Fi 8 standard/proposal material, including the proposal shared by Neel Mani Jha.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919472" y="1627632"/>
            <a:ext cx="6519672" cy="4370832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874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method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85232" y="2359152"/>
            <a:ext cx="57150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 standard/proposal text and extracted operative technical features.</a:t>
            </a:r>
            <a:endParaRPr lang="en-US" sz="12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Translated each feature into patent-claim search concepts and synonyms.</a:t>
            </a:r>
            <a:endParaRPr lang="en-US" sz="12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Searched and screened claims, starting from independent claims.</a:t>
            </a:r>
            <a:endParaRPr lang="en-US" sz="12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Compared claim limitations with proposal language and identified potential correspondence.</a:t>
            </a:r>
            <a:endParaRPr lang="en-US" sz="12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8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Prepared claim chart: limitation-by-limitation mapping with evidence and comments.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285232" y="4882896"/>
            <a:ext cx="5715000" cy="566928"/>
          </a:xfrm>
          <a:prstGeom prst="roundRect">
            <a:avLst/>
          </a:prstGeom>
          <a:solidFill>
            <a:srgbClr val="E8EE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4688" y="504748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9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wording used: “claim mapping”, “potential correspondence”, and “potential read-on” unless final legal review approves stronger conclusions.</a:t>
            </a:r>
            <a:endParaRPr lang="en-US" sz="8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CORE IP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IP: How I Found the Claims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standard feature to claim chart evidence.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1691640" cy="713232"/>
          </a:xfrm>
          <a:prstGeom prst="chevron">
            <a:avLst/>
          </a:prstGeom>
          <a:solidFill>
            <a:srgbClr val="1428A0"/>
          </a:solidFill>
          <a:ln w="7620">
            <a:solidFill>
              <a:srgbClr val="142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/ proposal text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2496312" y="1645920"/>
            <a:ext cx="1691640" cy="713232"/>
          </a:xfrm>
          <a:prstGeom prst="chevron">
            <a:avLst/>
          </a:prstGeom>
          <a:solidFill>
            <a:srgbClr val="1428A0"/>
          </a:solidFill>
          <a:ln w="762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9464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decomposition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352544" y="1645920"/>
            <a:ext cx="1691640" cy="713232"/>
          </a:xfrm>
          <a:prstGeom prst="chevron">
            <a:avLst/>
          </a:prstGeom>
          <a:solidFill>
            <a:srgbClr val="00A6B2"/>
          </a:solidFill>
          <a:ln w="7620">
            <a:solidFill>
              <a:srgbClr val="00A6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concepts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208776" y="1645920"/>
            <a:ext cx="1691640" cy="713232"/>
          </a:xfrm>
          <a:prstGeom prst="chevron">
            <a:avLst/>
          </a:prstGeom>
          <a:solidFill>
            <a:srgbClr val="00A6B2"/>
          </a:solidFill>
          <a:ln w="7620">
            <a:solidFill>
              <a:srgbClr val="00A6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claims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8065008" y="1645920"/>
            <a:ext cx="1691640" cy="713232"/>
          </a:xfrm>
          <a:prstGeom prst="chevron">
            <a:avLst/>
          </a:prstGeom>
          <a:solidFill>
            <a:srgbClr val="0E8F57"/>
          </a:solidFill>
          <a:ln w="7620">
            <a:solidFill>
              <a:srgbClr val="0E8F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 mapping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921240" y="1645920"/>
            <a:ext cx="1691640" cy="713232"/>
          </a:xfrm>
          <a:prstGeom prst="chevron">
            <a:avLst/>
          </a:prstGeom>
          <a:solidFill>
            <a:srgbClr val="0E8F57"/>
          </a:solidFill>
          <a:ln w="7620">
            <a:solidFill>
              <a:srgbClr val="0E8F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94392" y="181051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chart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04672" y="2834640"/>
            <a:ext cx="10680192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2834640"/>
            <a:ext cx="3200400" cy="384048"/>
          </a:xfrm>
          <a:prstGeom prst="rect">
            <a:avLst/>
          </a:prstGeom>
          <a:solidFill>
            <a:srgbClr val="1428A0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5072" y="2834640"/>
            <a:ext cx="3977640" cy="384048"/>
          </a:xfrm>
          <a:prstGeom prst="rect">
            <a:avLst/>
          </a:prstGeom>
          <a:solidFill>
            <a:srgbClr val="1428A0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82712" y="2834640"/>
            <a:ext cx="3502152" cy="384048"/>
          </a:xfrm>
          <a:prstGeom prst="rect">
            <a:avLst/>
          </a:prstGeom>
          <a:solidFill>
            <a:srgbClr val="1428A0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2935224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element reviewed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114800" y="2935224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evidence checked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092440" y="2935224"/>
            <a:ext cx="3273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note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04672" y="3218688"/>
            <a:ext cx="3200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5072" y="3218688"/>
            <a:ext cx="39776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2712" y="3218688"/>
            <a:ext cx="350215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364992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/ protocol operation context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41605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Corresponding operation or scenario in the Wi‑Fi 8 proposal.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8138160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whether the feature is mandatory, optional, or conditional.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04672" y="3785616"/>
            <a:ext cx="320040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05072" y="3785616"/>
            <a:ext cx="397764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712" y="3785616"/>
            <a:ext cx="3502152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39319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Condition-triggered step or behavior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416052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text describing a trigger, condition, threshold, or procedure.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8138160" y="3904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exact terminology and whether all claim limitations are present.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804672" y="4352544"/>
            <a:ext cx="32004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05072" y="4352544"/>
            <a:ext cx="39776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82712" y="4352544"/>
            <a:ext cx="350215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0120" y="44988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Resulting device action or communication effect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4160520" y="4471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description of the action performed by device/network entity.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8138160" y="4471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evidence, gaps, and assumptions in the chart.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804672" y="5212080"/>
            <a:ext cx="1068019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" y="5212080"/>
            <a:ext cx="73152" cy="960120"/>
          </a:xfrm>
          <a:prstGeom prst="rect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54315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learning</a:t>
            </a:r>
            <a:endParaRPr lang="en-US" sz="1520" dirty="0"/>
          </a:p>
        </p:txBody>
      </p:sp>
      <p:sp>
        <p:nvSpPr>
          <p:cNvPr id="50" name="Text 48"/>
          <p:cNvSpPr/>
          <p:nvPr/>
        </p:nvSpPr>
        <p:spPr>
          <a:xfrm>
            <a:off x="3364992" y="5404104"/>
            <a:ext cx="7754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language controls the analysis. The standard/proposal may provide evidence, but claim construction and mandatory/optional status determine the strength of the mapping.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LANDSCAPE CREATION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Landscape Creation: AI‑Driven Cybersecurity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 a patent landscape structure rather than a raw reference list.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40" dirty="0"/>
          </a:p>
        </p:txBody>
      </p:sp>
      <p:sp>
        <p:nvSpPr>
          <p:cNvPr id="10" name="Shape 8"/>
          <p:cNvSpPr/>
          <p:nvPr/>
        </p:nvSpPr>
        <p:spPr>
          <a:xfrm>
            <a:off x="658368" y="1591056"/>
            <a:ext cx="5175504" cy="4498848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470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did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" y="2340864"/>
            <a:ext cx="45720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3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scope: AI/ML used in cybersecurity detection, prediction, prevention, response, and SOC automation.</a:t>
            </a:r>
            <a:endParaRPr lang="en-US" sz="123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3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 a taxonomy by use case, attack type, security layer, and AI technique.</a:t>
            </a:r>
            <a:endParaRPr lang="en-US" sz="123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3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keyword searches, classification filters, assignee review, and patent-family cleanup.</a:t>
            </a:r>
            <a:endParaRPr lang="en-US" sz="123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3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Organized results into clusters to show active areas, major assignees, and potential whitespace/monitoring areas.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950976" y="5084064"/>
            <a:ext cx="4572000" cy="493776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5239512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0E8F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Landscape output = field structure + strategic signals + searchable evidence base.</a:t>
            </a:r>
            <a:endParaRPr lang="en-US" sz="930" dirty="0"/>
          </a:p>
        </p:txBody>
      </p:sp>
      <p:pic>
        <p:nvPicPr>
          <p:cNvPr id="15" name="Image 0" descr="/mnt/data/samsung_assets/chip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1072" y="1591056"/>
            <a:ext cx="5230368" cy="294436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91072" y="1591056"/>
            <a:ext cx="5230368" cy="2944368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91072" y="4773168"/>
            <a:ext cx="5230368" cy="1316736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501091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learned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83680" y="5321808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4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landscape answers strategic questions: where the activity is, who is active, which areas are crowded, and which areas may need monitoring or deeper review.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428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AR GLASSES INVENTION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566928" y="4937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Learned from the AR Glasses Invention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glasses require patent thinking across hardware, software, and user interaction.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11292840" y="43891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66928" y="6565392"/>
            <a:ext cx="11064240" cy="10973"/>
          </a:xfrm>
          <a:prstGeom prst="rect">
            <a:avLst/>
          </a:prstGeom>
          <a:solidFill>
            <a:srgbClr val="D6DDEA"/>
          </a:solidFill>
          <a:ln w="12700">
            <a:solidFill>
              <a:srgbClr val="D6DDE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629400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Internship Presentation | Samsung IP Team | Surendra Mundvadiya</a:t>
            </a:r>
            <a:endParaRPr lang="en-US" sz="640" dirty="0"/>
          </a:p>
        </p:txBody>
      </p:sp>
      <p:sp>
        <p:nvSpPr>
          <p:cNvPr id="9" name="Text 7"/>
          <p:cNvSpPr/>
          <p:nvPr/>
        </p:nvSpPr>
        <p:spPr>
          <a:xfrm>
            <a:off x="11384280" y="66294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40" dirty="0"/>
          </a:p>
        </p:txBody>
      </p:sp>
      <p:pic>
        <p:nvPicPr>
          <p:cNvPr id="10" name="Image 0" descr="/mnt/data/samsung_assets/drawing_panel_16x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54480"/>
            <a:ext cx="4041648" cy="22677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5216" y="1554480"/>
            <a:ext cx="4041648" cy="226771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6DDEA">
                <a:alpha val="8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078224"/>
            <a:ext cx="4041648" cy="1783080"/>
          </a:xfrm>
          <a:prstGeom prst="roundRect">
            <a:avLst/>
          </a:prstGeom>
          <a:solidFill>
            <a:srgbClr val="081832"/>
          </a:solidFill>
          <a:ln w="10160">
            <a:solidFill>
              <a:srgbClr val="0818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435254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learning</a:t>
            </a:r>
            <a:endParaRPr lang="en-US" sz="1360" dirty="0"/>
          </a:p>
        </p:txBody>
      </p:sp>
      <p:sp>
        <p:nvSpPr>
          <p:cNvPr id="14" name="Text 11"/>
          <p:cNvSpPr/>
          <p:nvPr/>
        </p:nvSpPr>
        <p:spPr>
          <a:xfrm>
            <a:off x="877824" y="4773168"/>
            <a:ext cx="34564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AR glasses as an integrated technical system, not a single device component.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5047488" y="1554480"/>
            <a:ext cx="6327648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DD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58384" y="1810512"/>
            <a:ext cx="329184" cy="329184"/>
          </a:xfrm>
          <a:prstGeom prst="ellipse">
            <a:avLst/>
          </a:prstGeom>
          <a:solidFill>
            <a:srgbClr val="1428A0"/>
          </a:solidFill>
          <a:ln w="10160">
            <a:solidFill>
              <a:srgbClr val="1428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58384" y="18699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97296" y="1828800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Multi-layer invention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5797296" y="2084832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inventions span optical/display systems, sensors, device control, context awareness, UI, connectivity, and processing.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5358384" y="2688336"/>
            <a:ext cx="329184" cy="329184"/>
          </a:xfrm>
          <a:prstGeom prst="ellipse">
            <a:avLst/>
          </a:prstGeom>
          <a:solidFill>
            <a:srgbClr val="00A6B2"/>
          </a:solidFill>
          <a:ln w="10160">
            <a:solidFill>
              <a:srgbClr val="00A6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58384" y="274777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97296" y="2706624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across neighboring fields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797296" y="2962656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art may appear as HMDs, smart glasses, wearable displays, near-eye displays, mixed reality, or XR systems.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5358384" y="3566160"/>
            <a:ext cx="329184" cy="329184"/>
          </a:xfrm>
          <a:prstGeom prst="ellipse">
            <a:avLst/>
          </a:prstGeom>
          <a:solidFill>
            <a:srgbClr val="0E8F57"/>
          </a:solidFill>
          <a:ln w="10160">
            <a:solidFill>
              <a:srgbClr val="0E8F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58384" y="36255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797296" y="358444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architecture and flow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5797296" y="3840480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should cover the device architecture and the operational method, not just one isolated feature.</a:t>
            </a:r>
            <a:endParaRPr lang="en-US" sz="1010" dirty="0"/>
          </a:p>
        </p:txBody>
      </p:sp>
      <p:sp>
        <p:nvSpPr>
          <p:cNvPr id="28" name="Shape 25"/>
          <p:cNvSpPr/>
          <p:nvPr/>
        </p:nvSpPr>
        <p:spPr>
          <a:xfrm>
            <a:off x="5358384" y="4443984"/>
            <a:ext cx="329184" cy="329184"/>
          </a:xfrm>
          <a:prstGeom prst="ellipse">
            <a:avLst/>
          </a:prstGeom>
          <a:solidFill>
            <a:srgbClr val="C27803"/>
          </a:solidFill>
          <a:ln w="10160">
            <a:solidFill>
              <a:srgbClr val="C2780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58384" y="450342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797296" y="4462272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Embodiments create fallback value</a:t>
            </a:r>
            <a:endParaRPr lang="en-US" sz="1260" dirty="0"/>
          </a:p>
        </p:txBody>
      </p:sp>
      <p:sp>
        <p:nvSpPr>
          <p:cNvPr id="31" name="Text 28"/>
          <p:cNvSpPr/>
          <p:nvPr/>
        </p:nvSpPr>
        <p:spPr>
          <a:xfrm>
            <a:off x="5797296" y="4718304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1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sensors, displays, user inputs, processing locations, and configuration choices may support dependent claims.</a:t>
            </a:r>
            <a:endParaRPr lang="en-US" sz="10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msung_assets/closing_bg_prepar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76656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 &amp; Learning Outcomes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31520" y="1261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DC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internship helped me connect technology analysis, patent search, claim drafting, and strategic IP review.</a:t>
            </a:r>
            <a:endParaRPr lang="en-US" sz="1280" dirty="0"/>
          </a:p>
        </p:txBody>
      </p:sp>
      <p:sp>
        <p:nvSpPr>
          <p:cNvPr id="5" name="Shape 2"/>
          <p:cNvSpPr/>
          <p:nvPr/>
        </p:nvSpPr>
        <p:spPr>
          <a:xfrm>
            <a:off x="731520" y="1938528"/>
            <a:ext cx="5376672" cy="358444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222199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products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1005840" y="2724912"/>
            <a:ext cx="46634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Wi‑Fi 8 claim chart and core IP mapping.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 glasses invention-discussion notes.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 glasses draft-claim support.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 glasses prior-art search and relevance review.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AI‑driven cybersecurity patent landscape structure.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82512" y="1938528"/>
            <a:ext cx="5074920" cy="3584448"/>
          </a:xfrm>
          <a:prstGeom prst="roundRect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56832" y="22219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improved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6656832" y="2724912"/>
            <a:ext cx="438912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Standard-to-claim mapping.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Patent search strategy and search documentation.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 drafting discipline and fallback thinking.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Invention capture and inventor-questioning technique.</a:t>
            </a:r>
            <a:endParaRPr lang="en-US" sz="1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Landscape taxonomy and strategic IP interpretation.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6016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Internship Presentation - Samsung IP Team</dc:title>
  <dc:subject>Samsung IP Team final internship presentation</dc:subject>
  <dc:creator>OpenAI</dc:creator>
  <cp:lastModifiedBy>OpenAI</cp:lastModifiedBy>
  <cp:revision>1</cp:revision>
  <dcterms:created xsi:type="dcterms:W3CDTF">2026-06-26T08:36:15Z</dcterms:created>
  <dcterms:modified xsi:type="dcterms:W3CDTF">2026-06-26T08:36:15Z</dcterms:modified>
</cp:coreProperties>
</file>