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state that this is a non-confidential summary of a two-month IP law internship at SRI-B.
Position the talk around legal contribution in a technology-heavy R&amp;D environment: patentability, search, risk screening and documentation discipline.
Replace the date placeholder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the audience expectation: the deck moves from context to tasks, then legal method, then outcomes.
Emphasise that the internship was not merely reading law; it involved translating technical disclosures into legal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IP function receives technical inputs and converts them into legal and strategic outputs.
Source anchor: Samsung Research official SRI-B overview, accessed 25 June 2026; it describes SRI-B as a major R&amp;D centre and innovation hub.
Avoid disclosing any internal project name, invention content or filing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four working objectives: protect, assess, de-risk and communicate.
Link this to the skill profile expected from an IP lawyer in a technology company: technical comprehension plus legal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slide for the “what I did” section.
If any task was not part of your actual internship, replace it with a precise task you performed; the slide is designed to be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an invention disclosure is converted into a patentability question.
Legal anchor: Patents Act, 1970, including Sections 2(1)(j), 2(1)(ja), 2(1)(ac), 3 and 10 as relevant.
Avoid giving a final legal opinion; frame the work as supervised research and assessment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prior-art search sound disciplined: scope, search strings, classification, screening and matrix.
Mention that a good prior-art search is iterative because each reference improves the next search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landscape work as a bridge between legal research and business strategy.
Do not present confidential data; use anonymised sub-areas or public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table: element-by-element analysis is the discipline that prevents overbroad conclusions.
Use this to demonstrate legal maturity: claims, not abstracts or titles, define the legal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patentability from FTO; this is a high-value legal distinction.
State clearly that final FTO opinions require counsel review and complete product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supervised support, not independent filing or legal representation.
Emphasise that prosecution work sharpened your understanding of how claims change after examiner scrutiny.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patents are only one part of IP protection; confidentiality and ownership are equally critical.
Use neutral language: reviewed clauses, identified issues, escalated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sound practical and professional.
It shows you learned the operational discipline behind IP law, not just statutory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summarise personal development without sounding generic.
The strongest phrase is: claims, evidence and risk. Repeat it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thanking mentors and the institution; insert actual mentor/team names only if allowed.
Close with the three takeaways: technical fact-work, claims-centred reasoning and documentation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TWO-MONTH INTERNSHIP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1225296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 Law Internship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67512" y="2084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R&amp;D Institute India–Bangalore (SRI-B)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76656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Surendra Mundvadiya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320040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Rajiv Gandhi School of Intellectual Property Law, IIT Kharagpur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193852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Non-confidential summary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61488" y="3767328"/>
            <a:ext cx="1755648" cy="347472"/>
          </a:xfrm>
          <a:prstGeom prst="roundRect">
            <a:avLst/>
          </a:prstGeom>
          <a:solidFill>
            <a:srgbClr val="173B67"/>
          </a:solidFill>
          <a:ln>
            <a:solidFill>
              <a:srgbClr val="173B6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[Month–Month, Year]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4892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invention disclosure to patent intelligence, prosecution support and IP governance.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89720" y="1097280"/>
            <a:ext cx="1143000" cy="1143000"/>
          </a:xfrm>
          <a:prstGeom prst="ellipse">
            <a:avLst/>
          </a:prstGeom>
          <a:solidFill>
            <a:srgbClr val="0C2648"/>
          </a:solidFill>
          <a:ln w="15240">
            <a:solidFill>
              <a:srgbClr val="1E3A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AE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10012680" y="2788920"/>
            <a:ext cx="868680" cy="868680"/>
          </a:xfrm>
          <a:prstGeom prst="ellipse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9640" y="4069080"/>
            <a:ext cx="1005840" cy="502920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B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flow: turning R&amp;D activity into protected IP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27832" y="2400300"/>
            <a:ext cx="201168" cy="0"/>
          </a:xfrm>
          <a:prstGeom prst="line">
            <a:avLst/>
          </a:prstGeom>
          <a:noFill/>
          <a:ln w="1778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2400300"/>
            <a:ext cx="201168" cy="0"/>
          </a:xfrm>
          <a:prstGeom prst="line">
            <a:avLst/>
          </a:prstGeom>
          <a:noFill/>
          <a:ln w="1778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4968" y="2400300"/>
            <a:ext cx="201168" cy="0"/>
          </a:xfrm>
          <a:prstGeom prst="line">
            <a:avLst/>
          </a:prstGeom>
          <a:noFill/>
          <a:ln w="1778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03536" y="2400300"/>
            <a:ext cx="201168" cy="0"/>
          </a:xfrm>
          <a:prstGeom prst="line">
            <a:avLst/>
          </a:prstGeom>
          <a:noFill/>
          <a:ln w="1778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" y="1920240"/>
            <a:ext cx="2057400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029968"/>
            <a:ext cx="384048" cy="384048"/>
          </a:xfrm>
          <a:prstGeom prst="ellipse">
            <a:avLst/>
          </a:prstGeom>
          <a:solidFill>
            <a:srgbClr val="1428A0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" y="20299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
</a:t>
            </a:r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IP law role looks like inside an R&amp;D centre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2916936" y="192024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2656" y="2029968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9856" y="20299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tasks
</a:t>
            </a:r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art, patentability, claims, FTO and prosecution support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175504" y="192024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029968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78424" y="20299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method
</a:t>
            </a:r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legal tests were applied to technical inventions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434072" y="192024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2029968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36992" y="20299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
</a:t>
            </a:r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Matrices, claim charts, search notes and risk memos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692640" y="192024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029968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95560" y="202996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
</a:t>
            </a:r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Legal, technical and professional capabilities built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242816"/>
            <a:ext cx="9875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is structured to show not only “what tasks were done”, but why each task mattered to innovation protection, legal risk management and business decision-making.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49808" y="5285232"/>
            <a:ext cx="1325880" cy="27432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40280" y="52486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 an R&amp;D setting is evidence-driven: legal conclusions depend on technical facts, documentary discipline and claim-level analysis.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Internship context: IP law inside a technology R&amp;D environment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44752"/>
            <a:ext cx="5623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Research’s SRI-B is presented by Samsung as a major R&amp;D centre and innovation hub. In that setting, IP work sits close to invention creation, product engineering and strategic risk review.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7360920" y="2761488"/>
            <a:ext cx="-1234440" cy="0"/>
          </a:xfrm>
          <a:prstGeom prst="line">
            <a:avLst/>
          </a:prstGeom>
          <a:noFill/>
          <a:ln w="17780">
            <a:solidFill>
              <a:srgbClr val="B8C7D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3200400"/>
            <a:ext cx="0" cy="1078992"/>
          </a:xfrm>
          <a:prstGeom prst="line">
            <a:avLst/>
          </a:prstGeom>
          <a:noFill/>
          <a:ln w="17780">
            <a:solidFill>
              <a:srgbClr val="B8C7D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05088" y="2761488"/>
            <a:ext cx="1225296" cy="0"/>
          </a:xfrm>
          <a:prstGeom prst="line">
            <a:avLst/>
          </a:prstGeom>
          <a:noFill/>
          <a:ln w="17780">
            <a:solidFill>
              <a:srgbClr val="B8C7D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02352" y="2359152"/>
            <a:ext cx="1371600" cy="777240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teams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267712"/>
            <a:ext cx="1627632" cy="932688"/>
          </a:xfrm>
          <a:prstGeom prst="ellipse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/ Legal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37776" y="2359152"/>
            <a:ext cx="1600200" cy="7772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/ Product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96328" y="4334256"/>
            <a:ext cx="1600200" cy="62179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4944" y="2788920"/>
            <a:ext cx="42245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IP matters here
</a:t>
            </a:r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creates technical solutions; IP law identifies what can be protected, how it should be documented, and what risks must be screened before disclosure or launch.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41248" y="2898648"/>
            <a:ext cx="3931920" cy="0"/>
          </a:xfrm>
          <a:prstGeom prst="line">
            <a:avLst/>
          </a:prstGeom>
          <a:noFill/>
          <a:ln w="15240">
            <a:solidFill>
              <a:srgbClr val="00AEE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315968"/>
            <a:ext cx="422452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role in the flow
</a:t>
            </a:r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 with legal research, prior-art review, claim-level analysis, documentation review and non-confidential legal memos under supervision.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41248" y="4425696"/>
            <a:ext cx="3931920" cy="0"/>
          </a:xfrm>
          <a:prstGeom prst="line">
            <a:avLst/>
          </a:prstGeom>
          <a:noFill/>
          <a:ln w="1524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989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note: Samsung Research SRI-B overview; factual company details should be updated before formal external use.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Internship mandate: legal support for innovation protection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1732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objective was to understand how IP law supports technology creation from the earliest invention stage through filing, prosecution, risk screening and confidentiality management.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8096" y="2423160"/>
            <a:ext cx="2578608" cy="475488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8096" y="303580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protectable technical contributions and document them before disclosure.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584448" y="2423160"/>
            <a:ext cx="2578608" cy="475488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584448" y="303580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patentability standards through structured prior-art and claim analysis.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2578608" cy="475488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De-risk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00800" y="303580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infringement, FTO, confidentiality and ownership concerns at an early stage.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217152" y="2423160"/>
            <a:ext cx="2578608" cy="475488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217152" y="303580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technical/legal analysis into clear memos, charts and decision notes.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86384" y="4983480"/>
            <a:ext cx="1664208" cy="292608"/>
          </a:xfrm>
          <a:prstGeom prst="roundRect">
            <a:avLst/>
          </a:prstGeom>
          <a:solidFill>
            <a:srgbClr val="071426"/>
          </a:solidFill>
          <a:ln>
            <a:solidFill>
              <a:srgbClr val="071426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principle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493776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first: every conclusion had to be traceable to a claim, a prior-art reference, a legal provision, a contract clause, or a documented technical fact.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Workstream map: tasks handled during the internship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39512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21424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03336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85248" y="2354580"/>
            <a:ext cx="16459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58368" y="1920240"/>
            <a:ext cx="1417320" cy="86868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Invention intake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technical disclosure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2240280" y="1920240"/>
            <a:ext cx="1417320" cy="868680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Prior-art search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closest references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3822192" y="1920240"/>
            <a:ext cx="1417320" cy="8686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Patentability note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novelty, inventive step, utility</a:t>
            </a:r>
            <a:endParaRPr lang="en-US" sz="890" dirty="0"/>
          </a:p>
        </p:txBody>
      </p:sp>
      <p:sp>
        <p:nvSpPr>
          <p:cNvPr id="17" name="Text 15"/>
          <p:cNvSpPr/>
          <p:nvPr/>
        </p:nvSpPr>
        <p:spPr>
          <a:xfrm>
            <a:off x="5404104" y="1920240"/>
            <a:ext cx="1417320" cy="8686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analysis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construe and map elements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6986016" y="1920240"/>
            <a:ext cx="1417320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FTO screening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infringement-risk check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8567928" y="1920240"/>
            <a:ext cx="14173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Prosecution support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office-action and response research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10149840" y="1920240"/>
            <a:ext cx="1417320" cy="868680"/>
          </a:xfrm>
          <a:prstGeom prst="roundRect">
            <a:avLst/>
          </a:prstGeom>
          <a:solidFill>
            <a:srgbClr val="334155"/>
          </a:solidFill>
          <a:ln>
            <a:solidFill>
              <a:srgbClr val="33415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governance
</a:t>
            </a:r>
            <a:pPr algn="ctr" indent="0" marL="0">
              <a:buNone/>
            </a:pPr>
            <a:r>
              <a:rPr lang="en-US" sz="890" dirty="0">
                <a:solidFill>
                  <a:srgbClr val="E8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confidentiality, ownership, records</a:t>
            </a:r>
            <a:endParaRPr lang="en-US" sz="89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5321808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legal tasks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Patentability assessment under Indian patent law principles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Prior-art search and reference mapping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 construction and claim charting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FTO / infringement-risk screening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Prosecution and office-action research support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3544" y="3511296"/>
            <a:ext cx="5029200" cy="0"/>
          </a:xfrm>
          <a:prstGeom prst="line">
            <a:avLst/>
          </a:prstGeom>
          <a:noFill/>
          <a:ln w="15240">
            <a:solidFill>
              <a:srgbClr val="1428A0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401568"/>
            <a:ext cx="4846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governance tasks
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Confidentiality and invention-record discipline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IP ownership / assignment clause 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NDA and disclosure-control checks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Research memos on IP policy and comparative practice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Non-confidential presentation of legal findings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92824" y="3511296"/>
            <a:ext cx="4553712" cy="0"/>
          </a:xfrm>
          <a:prstGeom prst="line">
            <a:avLst/>
          </a:prstGeom>
          <a:noFill/>
          <a:ln w="15240">
            <a:solidFill>
              <a:srgbClr val="0E7490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56235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as the agenda for the core section. The next slides unpack each high-value task with method, legal relevance and output.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PATENTABILITY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1: Patentability assessment of invention disclosures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question: does the disclosed technical solution satisfy the legal threshold for patent protection, and where are the weak points?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1965960" y="2057400"/>
            <a:ext cx="1874520" cy="841248"/>
          </a:xfrm>
          <a:prstGeom prst="ellipse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</a:t>
            </a:r>
            <a:endParaRPr lang="en-US" sz="1640" dirty="0"/>
          </a:p>
        </p:txBody>
      </p:sp>
      <p:sp>
        <p:nvSpPr>
          <p:cNvPr id="10" name="Text 8"/>
          <p:cNvSpPr/>
          <p:nvPr/>
        </p:nvSpPr>
        <p:spPr>
          <a:xfrm>
            <a:off x="1645920" y="3063240"/>
            <a:ext cx="2514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every material feature absent from a single prior-art reference?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157216" y="2057400"/>
            <a:ext cx="1874520" cy="841248"/>
          </a:xfrm>
          <a:prstGeom prst="ellipse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Inventive step</a:t>
            </a:r>
            <a:endParaRPr lang="en-US" sz="1640" dirty="0"/>
          </a:p>
        </p:txBody>
      </p:sp>
      <p:sp>
        <p:nvSpPr>
          <p:cNvPr id="12" name="Text 10"/>
          <p:cNvSpPr/>
          <p:nvPr/>
        </p:nvSpPr>
        <p:spPr>
          <a:xfrm>
            <a:off x="4837176" y="3063240"/>
            <a:ext cx="2514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the difference be non-obvious to a skilled person?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348472" y="2057400"/>
            <a:ext cx="1874520" cy="841248"/>
          </a:xfrm>
          <a:prstGeom prst="ellipse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application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8028432" y="3063240"/>
            <a:ext cx="25146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product or process be made or used in industry?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840480" y="2468880"/>
            <a:ext cx="129844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50024" y="2468880"/>
            <a:ext cx="129844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" y="4617720"/>
            <a:ext cx="4800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output
</a:t>
            </a:r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legal note with: invention summary, key differentiating features, closest prior art, patentability flags, and recommended next steps.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014984" y="4727448"/>
            <a:ext cx="4507992" cy="0"/>
          </a:xfrm>
          <a:prstGeom prst="line">
            <a:avLst/>
          </a:prstGeom>
          <a:noFill/>
          <a:ln w="1524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617720"/>
            <a:ext cx="4572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anchors used
</a:t>
            </a:r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Patents Act, 1970: invention, inventive step, industrial application, exclusions under Section 3, and specification/claim support issues.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364224" y="4727448"/>
            <a:ext cx="4279392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598017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note: statutory references verified against India Code version of the Patents Act, 1970.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ART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2: Prior-art search and reference mapping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Prior-art work was treated as an evidence exercise: the goal was not to find many documents, but to find the most relevant disclosures against the invention’s core features.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347472" cy="347472"/>
          </a:xfrm>
          <a:prstGeom prst="ellipse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53312" y="20848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Decompose invention: </a:t>
            </a:r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features, problem, technical effect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069848" y="2432304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761488"/>
            <a:ext cx="347472" cy="347472"/>
          </a:xfrm>
          <a:prstGeom prst="ellipse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53312" y="2743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search strategy: </a:t>
            </a:r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keywords, synonyms, IPC/CPC, assignees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1069848" y="3090672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419856"/>
            <a:ext cx="347472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53312" y="34015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references: </a:t>
            </a:r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claims, abstract, drawings, examples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1069848" y="3749040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78224"/>
            <a:ext cx="347472" cy="347472"/>
          </a:xfrm>
          <a:prstGeom prst="ellipse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53312" y="40599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evidence: </a:t>
            </a:r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chart and relevance ranking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69848" y="4407408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736592"/>
            <a:ext cx="347472" cy="347472"/>
          </a:xfrm>
          <a:prstGeom prst="ellipse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47183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findings: </a:t>
            </a:r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art, gaps, next search paths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6675120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lens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56832" y="233172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terms
</a:t>
            </a:r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synonyms + variants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8714232" y="233172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
</a:t>
            </a:r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IPC / CPC families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6656832" y="306324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
</a:t>
            </a:r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assignees + inventors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714232" y="306324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trails
</a:t>
            </a:r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+ backward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6656832" y="379476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Non-patent literature
</a:t>
            </a:r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standards, papers, manuals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656832" y="4709160"/>
            <a:ext cx="4251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
</a:t>
            </a:r>
            <a:pPr indent="0" marL="0">
              <a:buNone/>
            </a:pPr>
            <a:r>
              <a:rPr lang="en-US" sz="11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prior-art matrix showing reference details, relevant passages/figures, mapped features, relevance score and follow-up action.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6803136" y="4818888"/>
            <a:ext cx="3959352" cy="0"/>
          </a:xfrm>
          <a:prstGeom prst="line">
            <a:avLst/>
          </a:prstGeom>
          <a:noFill/>
          <a:ln w="15240">
            <a:solidFill>
              <a:srgbClr val="0E7490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3: Patent landscape and technology mapping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 work converts individual patent documents into a strategic picture: who is active, where filings cluster, and which spaces may need deeper search.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05840" y="5102352"/>
            <a:ext cx="47548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5102352"/>
            <a:ext cx="0" cy="-299923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61488" y="53583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Filing density / activity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 rot="16200000">
            <a:off x="365760" y="3127248"/>
            <a:ext cx="228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relevance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74520" y="4498848"/>
            <a:ext cx="402336" cy="402336"/>
          </a:xfrm>
          <a:prstGeom prst="ellipse">
            <a:avLst/>
          </a:prstGeom>
          <a:solidFill>
            <a:srgbClr val="1428A0">
              <a:alpha val="97000"/>
            </a:srgbClr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3749040"/>
            <a:ext cx="502920" cy="502920"/>
          </a:xfrm>
          <a:prstGeom prst="ellipse">
            <a:avLst/>
          </a:prstGeom>
          <a:solidFill>
            <a:srgbClr val="0E7490">
              <a:alpha val="97000"/>
            </a:srgbClr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944368"/>
            <a:ext cx="658368" cy="658368"/>
          </a:xfrm>
          <a:prstGeom prst="ellipse">
            <a:avLst/>
          </a:prstGeom>
          <a:solidFill>
            <a:srgbClr val="7C3AED">
              <a:alpha val="97000"/>
            </a:srgbClr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4187952"/>
            <a:ext cx="438912" cy="438912"/>
          </a:xfrm>
          <a:prstGeom prst="ellipse">
            <a:avLst/>
          </a:prstGeom>
          <a:solidFill>
            <a:srgbClr val="F59E0B">
              <a:alpha val="97000"/>
            </a:srgbClr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606040"/>
            <a:ext cx="566928" cy="566928"/>
          </a:xfrm>
          <a:prstGeom prst="ellipse">
            <a:avLst/>
          </a:prstGeom>
          <a:solidFill>
            <a:srgbClr val="10B981">
              <a:alpha val="97000"/>
            </a:srgbClr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742432"/>
            <a:ext cx="146304" cy="146304"/>
          </a:xfrm>
          <a:prstGeom prst="ellipse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07008" y="57287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Sub-area 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12848" y="5742432"/>
            <a:ext cx="146304" cy="146304"/>
          </a:xfrm>
          <a:prstGeom prst="ellipse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14016" y="57287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Sub-area 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19856" y="5742432"/>
            <a:ext cx="146304" cy="146304"/>
          </a:xfrm>
          <a:prstGeom prst="ellipse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21024" y="57287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Sub-area C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46520" y="1965960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mapped
</a:t>
            </a:r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Technology sub-areas and patent clusters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Important assignees and filing families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Jurisdictions, status and expiry cues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 patterns and recurring limitations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592824" y="2075688"/>
            <a:ext cx="4325112" cy="0"/>
          </a:xfrm>
          <a:prstGeom prst="line">
            <a:avLst/>
          </a:prstGeom>
          <a:noFill/>
          <a:ln w="15240">
            <a:solidFill>
              <a:srgbClr val="1428A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22192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mattered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 outputs help decide whether to file, where to focus claim scope, which competitors to monitor, and what further legal search is required.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92824" y="3931920"/>
            <a:ext cx="4325112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18105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map only — replace clusters with actual non-confidential technology categories if permitted.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4: Claim construction and claim charting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 claims are the legal boundary of the invention. The task was to break claims into elements and test each element against prior art or product features.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2084832"/>
            <a:ext cx="2148840" cy="566928"/>
          </a:xfrm>
          <a:prstGeom prst="rect">
            <a:avLst/>
          </a:prstGeom>
          <a:solidFill>
            <a:srgbClr val="1428A0"/>
          </a:solidFill>
          <a:ln w="8890">
            <a:solidFill>
              <a:srgbClr val="1428A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element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62072" y="2084832"/>
            <a:ext cx="3794760" cy="566928"/>
          </a:xfrm>
          <a:prstGeom prst="rect">
            <a:avLst/>
          </a:prstGeom>
          <a:solidFill>
            <a:srgbClr val="1428A0"/>
          </a:solidFill>
          <a:ln w="8890">
            <a:solidFill>
              <a:srgbClr val="1428A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/ construction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56832" y="2084832"/>
            <a:ext cx="4251960" cy="566928"/>
          </a:xfrm>
          <a:prstGeom prst="rect">
            <a:avLst/>
          </a:prstGeom>
          <a:solidFill>
            <a:srgbClr val="1428A0"/>
          </a:solidFill>
          <a:ln w="8890">
            <a:solidFill>
              <a:srgbClr val="1428A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mapped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 A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2862072" y="2651760"/>
            <a:ext cx="3794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component / step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6656832" y="2651760"/>
            <a:ext cx="4251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paragraph, figure or product document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713232" y="3218688"/>
            <a:ext cx="214884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 B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862072" y="3218688"/>
            <a:ext cx="379476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limitation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656832" y="3218688"/>
            <a:ext cx="425196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Closest matching disclosure + gap noted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13232" y="3785616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 C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2862072" y="3785616"/>
            <a:ext cx="37947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interaction or sequence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6656832" y="3785616"/>
            <a:ext cx="425196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absent / partially disclosed / fully disclosed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713232" y="4352544"/>
            <a:ext cx="214884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 D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2862072" y="4352544"/>
            <a:ext cx="379476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narrowing feature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6656832" y="4352544"/>
            <a:ext cx="4251960" cy="566928"/>
          </a:xfrm>
          <a:prstGeom prst="rect">
            <a:avLst/>
          </a:prstGeom>
          <a:solidFill>
            <a:srgbClr val="F1F5F9"/>
          </a:solidFill>
          <a:ln w="7620">
            <a:solidFill>
              <a:srgbClr val="D6E3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novelty or non-infringement position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4892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 learned
</a:t>
            </a:r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claim chart forces disciplined legal reasoning: no conclusion unless every material element is separately addressed.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69264" y="5184648"/>
            <a:ext cx="4599432" cy="0"/>
          </a:xfrm>
          <a:prstGeom prst="line">
            <a:avLst/>
          </a:prstGeom>
          <a:noFill/>
          <a:ln w="15240">
            <a:solidFill>
              <a:srgbClr val="0E749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5074920"/>
            <a:ext cx="4617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value
</a:t>
            </a:r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patentability, infringement analysis, FTO screening, invalidity review and prosecution strategy.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336792" y="5184648"/>
            <a:ext cx="4325112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SCREENING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5: Freedom-to-operate and infringement-risk screening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FTO research asks a different question from patentability: even if our invention is patentable, can the product be practiced without infringing active third-party rights?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2834640" y="2615184"/>
            <a:ext cx="30175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02352" y="2615184"/>
            <a:ext cx="30175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70064" y="2615184"/>
            <a:ext cx="30175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37776" y="2615184"/>
            <a:ext cx="301752" cy="0"/>
          </a:xfrm>
          <a:prstGeom prst="line">
            <a:avLst/>
          </a:prstGeom>
          <a:noFill/>
          <a:ln w="17780">
            <a:solidFill>
              <a:srgbClr val="C7D7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2240280"/>
            <a:ext cx="1965960" cy="749808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/ feature
</a:t>
            </a:r>
            <a:pPr algn="ctr" indent="0" marL="0">
              <a:buNone/>
            </a:pPr>
            <a:r>
              <a:rPr lang="en-US" sz="98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actual implementation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36392" y="2240280"/>
            <a:ext cx="1965960" cy="749808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patent set
</a:t>
            </a:r>
            <a:pPr algn="ctr" indent="0" marL="0">
              <a:buNone/>
            </a:pPr>
            <a:r>
              <a:rPr lang="en-US" sz="98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jurisdiction, assignee, status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404104" y="2240280"/>
            <a:ext cx="1965960" cy="749808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mapping
</a:t>
            </a:r>
            <a:pPr algn="ctr" indent="0" marL="0">
              <a:buNone/>
            </a:pPr>
            <a:r>
              <a:rPr lang="en-US" sz="98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elements rule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671816" y="2240280"/>
            <a:ext cx="1965960" cy="749808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
</a:t>
            </a:r>
            <a:pPr algn="ctr" indent="0" marL="0">
              <a:buNone/>
            </a:pPr>
            <a:r>
              <a:rPr lang="en-US" sz="98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literal / equivalent / expiry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9939528" y="2240280"/>
            <a:ext cx="1965960" cy="7498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 review
</a:t>
            </a:r>
            <a:pPr algn="ctr" indent="0" marL="0">
              <a:buNone/>
            </a:pPr>
            <a:r>
              <a:rPr lang="en-US" sz="980" dirty="0">
                <a:solidFill>
                  <a:srgbClr val="F0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legal opinion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68680" y="3822192"/>
            <a:ext cx="4663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checks performed
</a:t>
            </a:r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Patent family and legal status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Filing/grant jurisdiction and expiry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Independent claim elements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Product-feature mapping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Design-around or escalation points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14984" y="3931920"/>
            <a:ext cx="4370832" cy="0"/>
          </a:xfrm>
          <a:prstGeom prst="line">
            <a:avLst/>
          </a:prstGeom>
          <a:noFill/>
          <a:ln w="15240">
            <a:solidFill>
              <a:srgbClr val="1428A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822192"/>
            <a:ext cx="4754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boundary
</a:t>
            </a:r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work was preliminary research support. FTO opinions are legal-risk determinations that require full facts, claim interpretation and authorised counsel review.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227064" y="3931920"/>
            <a:ext cx="4462272" cy="0"/>
          </a:xfrm>
          <a:prstGeom prst="line">
            <a:avLst/>
          </a:prstGeom>
          <a:noFill/>
          <a:ln w="1524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PROSECUTION SUPPORT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6: Patent prosecution and office-action support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Prosecution support involved understanding examiner objections, checking the legal basis, and preparing research inputs for possible response strategy.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2240280" cy="493776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Examiner objection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3337560" y="2084832"/>
            <a:ext cx="7635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precise ground? novelty, inventive step, subject matter, clarity, support or unity.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929384" y="2587752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2960" y="2898648"/>
            <a:ext cx="2240280" cy="493776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analysis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7635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passage or figure is relied on, and does it disclose every limitation?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1929384" y="3429000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3739896"/>
            <a:ext cx="2240280" cy="493776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position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3337560" y="3767328"/>
            <a:ext cx="7635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statutory requirement or examination principle is engaged?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1929384" y="4270248"/>
            <a:ext cx="0" cy="283464"/>
          </a:xfrm>
          <a:prstGeom prst="line">
            <a:avLst/>
          </a:prstGeom>
          <a:noFill/>
          <a:ln w="15240">
            <a:solidFill>
              <a:srgbClr val="D6E3F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22960" y="4581144"/>
            <a:ext cx="2240280" cy="493776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options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3337560" y="4608576"/>
            <a:ext cx="76352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Argument, amendment, evidence, clarification, or escalation for counsel decision.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932688" y="5504688"/>
            <a:ext cx="98755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taught me
</a:t>
            </a:r>
            <a:pPr indent="0" marL="0">
              <a:buNone/>
            </a:pPr>
            <a:r>
              <a:rPr lang="en-US" sz="11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 prosecution is not isolated drafting. It is a structured negotiation between claim scope, prior art, statutory requirements and business objectives.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1078992" y="5614416"/>
            <a:ext cx="9582912" cy="0"/>
          </a:xfrm>
          <a:prstGeom prst="line">
            <a:avLst/>
          </a:prstGeom>
          <a:noFill/>
          <a:ln w="1524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GOVERNANCE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7: IP contracts, confidentiality and ownership review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 IP work is patent search. A large part of corporate IP protection depends on contractual ownership, controlled disclosure and confidentiality discipline.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786384" y="2212848"/>
            <a:ext cx="2057400" cy="420624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 / confidentiality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26664" y="2194560"/>
            <a:ext cx="27889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scope, permitted use, disclosure controls, survival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18504" y="2212848"/>
            <a:ext cx="2057400" cy="420624"/>
          </a:xfrm>
          <a:prstGeom prst="roundRect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ownership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58784" y="2194560"/>
            <a:ext cx="27889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assignment, work product, inventor/author obligations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3584448"/>
            <a:ext cx="2057400" cy="420624"/>
          </a:xfrm>
          <a:prstGeom prst="round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Disclosure control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26664" y="3566160"/>
            <a:ext cx="27889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pre-filing publication, demos, external sharing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18504" y="3584448"/>
            <a:ext cx="2057400" cy="420624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material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58784" y="3566160"/>
            <a:ext cx="27889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open-source, standards, vendor inputs, data rights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9966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output
</a:t>
            </a:r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Clause issue notes and review comments identifying missing definitions, ambiguous ownership language, risky disclosure permissions, and items requiring escalation.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1060704" y="5184648"/>
            <a:ext cx="9674352" cy="0"/>
          </a:xfrm>
          <a:prstGeom prst="line">
            <a:avLst/>
          </a:prstGeom>
          <a:noFill/>
          <a:ln w="15240">
            <a:solidFill>
              <a:srgbClr val="0E749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LEARNING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discipline: making inventions legally usable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legal analysis fails if the factual record is weak. I learned to treat invention documentation as part of the IP asset creation process.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841248" y="2057400"/>
            <a:ext cx="4937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Invention disclosure checklist
</a:t>
            </a:r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solved and technical effect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Novel features and implementation variants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Inventor contribution and dates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Drawings, flowcharts and test results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Known prior art or product comparisons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Publication / demo / external disclosure plan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987552" y="2167128"/>
            <a:ext cx="4645152" cy="0"/>
          </a:xfrm>
          <a:prstGeom prst="line">
            <a:avLst/>
          </a:prstGeom>
          <a:noFill/>
          <a:ln w="15240">
            <a:solidFill>
              <a:srgbClr val="1428A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46177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Disclosure hygiene
</a:t>
            </a:r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 sensitive documents correctly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premature public disclosure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document versions and authorship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Separate facts from legal conclusions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search trails reproducible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Escalate uncertainty early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64224" y="2167128"/>
            <a:ext cx="4325112" cy="0"/>
          </a:xfrm>
          <a:prstGeom prst="line">
            <a:avLst/>
          </a:prstGeom>
          <a:noFill/>
          <a:ln w="1524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285232"/>
            <a:ext cx="1143000" cy="274320"/>
          </a:xfrm>
          <a:prstGeom prst="roundRect">
            <a:avLst/>
          </a:prstGeom>
          <a:solidFill>
            <a:srgbClr val="071426"/>
          </a:solidFill>
          <a:ln>
            <a:solidFill>
              <a:srgbClr val="07142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12848" y="524865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IP protection begins before filing: it begins with precise, dated, technically complete and confidential records.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" y="0"/>
            <a:ext cx="45720" cy="68580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65836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14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learnings and capabilities developed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" y="1207008"/>
            <a:ext cx="100584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strengthened both legal reasoning and technology-facing communication. The most important shift was learning to reason at the level of claims, evidence and risk.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/ IP capability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2624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Patentability analysis using statutory criteria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41248" y="30540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3044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Prior-art search strategy and relevance ranking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41248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3465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construction and claim charts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41248" y="38953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3886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FTO and infringement-risk screening logic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4306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Contractual IP ownership and confidentiality review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capability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26334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93408" y="26243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technical material with legal purpose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419088" y="30540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93408" y="3044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concise memos for decision-making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419088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93408" y="3465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confidentiality and factual discipline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419088" y="38953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93408" y="3886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Communicating uncertainty without overclaiming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419088" y="43159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93408" y="4306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Coordinating legal analysis with engineering context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14400" y="5532120"/>
            <a:ext cx="98755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3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071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valuable takeaway
</a:t>
            </a:r>
            <a:pPr indent="0" marL="0">
              <a:buNone/>
            </a:pPr>
            <a:r>
              <a:rPr lang="en-US" sz="11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becomes strategically useful when it is precise enough for lawyers, technically accurate enough for engineers, and clear enough for business stakeholders.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1060704" y="5641848"/>
            <a:ext cx="9582912" cy="0"/>
          </a:xfrm>
          <a:prstGeom prst="line">
            <a:avLst/>
          </a:prstGeom>
          <a:noFill/>
          <a:ln w="15240">
            <a:solidFill>
              <a:srgbClr val="00AEEF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Internship | Samsung Research Institute Bangalore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473952"/>
            <a:ext cx="411480" cy="228600"/>
          </a:xfrm>
          <a:prstGeom prst="roundRect">
            <a:avLst/>
          </a:prstGeom>
          <a:solidFill>
            <a:srgbClr val="1428A0"/>
          </a:solidFill>
          <a:ln>
            <a:solidFill>
              <a:srgbClr val="1428A0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6583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" y="1234440"/>
            <a:ext cx="1097280" cy="0"/>
          </a:xfrm>
          <a:prstGeom prst="line">
            <a:avLst/>
          </a:prstGeom>
          <a:noFill/>
          <a:ln w="27940">
            <a:solidFill>
              <a:srgbClr val="00AE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996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internship changed in my understanding of IP 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26771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2494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law is technical fact-work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58775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advice requires understanding the invention, not merely the statute.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346704"/>
            <a:ext cx="420624" cy="420624"/>
          </a:xfrm>
          <a:prstGeom prst="ellipse">
            <a:avLst/>
          </a:prstGeom>
          <a:solidFill>
            <a:srgbClr val="0E7490"/>
          </a:solidFill>
          <a:ln>
            <a:solidFill>
              <a:srgbClr val="0E749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3284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are the centre of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36667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Patentability, FTO, prosecution and infringement all return to claim elements.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4425696"/>
            <a:ext cx="420624" cy="420624"/>
          </a:xfrm>
          <a:prstGeom prst="ellipse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407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is protection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47457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Confidentiality, ownership and evidence discipline preserve legal options.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69680" y="20848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9034272" y="2670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68512" y="4709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[email / LinkedIn]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13648" y="504748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Surendra Mundvadiya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B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with 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Law Internship Presentation - Samsung Research Institute Bangalore</dc:title>
  <dc:subject>Two-month IP Law Internship Presentation</dc:subject>
  <dc:creator>Surendra Mundvadiya</dc:creator>
  <cp:lastModifiedBy>Surendra Mundvadiya</cp:lastModifiedBy>
  <cp:revision>1</cp:revision>
  <dcterms:created xsi:type="dcterms:W3CDTF">2026-06-25T03:31:14Z</dcterms:created>
  <dcterms:modified xsi:type="dcterms:W3CDTF">2026-06-25T03:31:14Z</dcterms:modified>
</cp:coreProperties>
</file>