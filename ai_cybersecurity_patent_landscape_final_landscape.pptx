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8.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9.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3"/>
          <c:y val="0.05"/>
          <c:w val="0.82"/>
          <c:h val="0.84"/>
        </c:manualLayout>
      </c:layout>
      <c:barChart>
        <c:barDir val="col"/>
        <c:grouping val="clustered"/>
        <c:varyColors val="0"/>
        <c:ser>
          <c:idx val="0"/>
          <c:order val="0"/>
          <c:tx>
            <c:strRef>
              <c:f>Sheet1!$B$1</c:f>
              <c:strCache>
                <c:ptCount val="1"/>
                <c:pt idx="0">
                  <c:v>Records</c:v>
                </c:pt>
              </c:strCache>
            </c:strRef>
          </c:tx>
          <c:spPr>
            <a:solidFill>
              <a:srgbClr val="2F55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US</c:v>
                  </c:pt>
                  <c:pt idx="1">
                    <c:v>EP</c:v>
                  </c:pt>
                  <c:pt idx="2">
                    <c:v>WO</c:v>
                  </c:pt>
                  <c:pt idx="3">
                    <c:v>CN</c:v>
                  </c:pt>
                  <c:pt idx="4">
                    <c:v>IN</c:v>
                  </c:pt>
                  <c:pt idx="5">
                    <c:v>JP</c:v>
                  </c:pt>
                </c:lvl>
              </c:multiLvlStrCache>
            </c:multiLvlStrRef>
          </c:cat>
          <c:val>
            <c:numRef>
              <c:f>Sheet1!$B$2:$B$7</c:f>
              <c:numCache>
                <c:formatCode>0</c:formatCode>
                <c:ptCount val="6"/>
                <c:pt idx="0">
                  <c:v>558</c:v>
                </c:pt>
                <c:pt idx="1">
                  <c:v>49</c:v>
                </c:pt>
                <c:pt idx="2">
                  <c:v>46</c:v>
                </c:pt>
                <c:pt idx="3">
                  <c:v>16</c:v>
                </c:pt>
                <c:pt idx="4">
                  <c:v>6</c:v>
                </c:pt>
                <c:pt idx="5">
                  <c:v>5</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3"/>
          <c:y val="0.05"/>
          <c:w val="0.82"/>
          <c:h val="0.84"/>
        </c:manualLayout>
      </c:layout>
      <c:barChart>
        <c:barDir val="bar"/>
        <c:grouping val="clustered"/>
        <c:varyColors val="0"/>
        <c:ser>
          <c:idx val="0"/>
          <c:order val="0"/>
          <c:tx>
            <c:strRef>
              <c:f>Sheet1!$B$1</c:f>
              <c:strCache>
                <c:ptCount val="1"/>
                <c:pt idx="0">
                  <c:v>Records</c:v>
                </c:pt>
              </c:strCache>
            </c:strRef>
          </c:tx>
          <c:spPr>
            <a:solidFill>
              <a:srgbClr val="2F55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Threat Detection and Response</c:v>
                  </c:pt>
                  <c:pt idx="1">
                    <c:v>Network and Cloud Security</c:v>
                  </c:pt>
                  <c:pt idx="2">
                    <c:v>Vulnerability and Risk Management</c:v>
                  </c:pt>
                  <c:pt idx="3">
                    <c:v>Identity and Access Management</c:v>
                  </c:pt>
                  <c:pt idx="4">
                    <c:v>AI Model Security</c:v>
                  </c:pt>
                  <c:pt idx="5">
                    <c:v>Malware and Phishing Defense</c:v>
                  </c:pt>
                  <c:pt idx="6">
                    <c:v>Security Automation and Testing</c:v>
                  </c:pt>
                  <c:pt idx="7">
                    <c:v>Data and Privacy Protection</c:v>
                  </c:pt>
                </c:lvl>
              </c:multiLvlStrCache>
            </c:multiLvlStrRef>
          </c:cat>
          <c:val>
            <c:numRef>
              <c:f>Sheet1!$B$2:$B$9</c:f>
              <c:numCache>
                <c:formatCode>0</c:formatCode>
                <c:ptCount val="8"/>
                <c:pt idx="0">
                  <c:v>258</c:v>
                </c:pt>
                <c:pt idx="1">
                  <c:v>146</c:v>
                </c:pt>
                <c:pt idx="2">
                  <c:v>75</c:v>
                </c:pt>
                <c:pt idx="3">
                  <c:v>67</c:v>
                </c:pt>
                <c:pt idx="4">
                  <c:v>60</c:v>
                </c:pt>
                <c:pt idx="5">
                  <c:v>32</c:v>
                </c:pt>
                <c:pt idx="6">
                  <c:v>26</c:v>
                </c:pt>
                <c:pt idx="7">
                  <c:v>25</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3"/>
          <c:y val="0.05"/>
          <c:w val="0.82"/>
          <c:h val="0.84"/>
        </c:manualLayout>
      </c:layout>
      <c:barChart>
        <c:barDir val="bar"/>
        <c:grouping val="clustered"/>
        <c:varyColors val="0"/>
        <c:ser>
          <c:idx val="0"/>
          <c:order val="0"/>
          <c:tx>
            <c:strRef>
              <c:f>Sheet1!$B$1</c:f>
              <c:strCache>
                <c:ptCount val="1"/>
                <c:pt idx="0">
                  <c:v>Records</c:v>
                </c:pt>
              </c:strCache>
            </c:strRef>
          </c:tx>
          <c:spPr>
            <a:solidFill>
              <a:srgbClr val="2F55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Sheet1!$A$2:$A$11</c:f>
              <c:multiLvlStrCache>
                <c:ptCount val="10"/>
                <c:lvl>
                  <c:pt idx="0">
                    <c:v>Microsoft</c:v>
                  </c:pt>
                  <c:pt idx="1">
                    <c:v>Cisco</c:v>
                  </c:pt>
                  <c:pt idx="2">
                    <c:v>Fortinet</c:v>
                  </c:pt>
                  <c:pt idx="3">
                    <c:v>Palo Alto Networks</c:v>
                  </c:pt>
                  <c:pt idx="4">
                    <c:v>Google</c:v>
                  </c:pt>
                  <c:pt idx="5">
                    <c:v>Rapid7</c:v>
                  </c:pt>
                  <c:pt idx="6">
                    <c:v>Trend Micro</c:v>
                  </c:pt>
                  <c:pt idx="7">
                    <c:v>CyberArk</c:v>
                  </c:pt>
                  <c:pt idx="8">
                    <c:v>McAfee</c:v>
                  </c:pt>
                  <c:pt idx="9">
                    <c:v>Salesforce</c:v>
                  </c:pt>
                </c:lvl>
              </c:multiLvlStrCache>
            </c:multiLvlStrRef>
          </c:cat>
          <c:val>
            <c:numRef>
              <c:f>Sheet1!$B$2:$B$11</c:f>
              <c:numCache>
                <c:formatCode>0</c:formatCode>
                <c:ptCount val="10"/>
                <c:pt idx="0">
                  <c:v>167</c:v>
                </c:pt>
                <c:pt idx="1">
                  <c:v>158</c:v>
                </c:pt>
                <c:pt idx="2">
                  <c:v>96</c:v>
                </c:pt>
                <c:pt idx="3">
                  <c:v>96</c:v>
                </c:pt>
                <c:pt idx="4">
                  <c:v>46</c:v>
                </c:pt>
                <c:pt idx="5">
                  <c:v>42</c:v>
                </c:pt>
                <c:pt idx="6">
                  <c:v>27</c:v>
                </c:pt>
                <c:pt idx="7">
                  <c:v>13</c:v>
                </c:pt>
                <c:pt idx="8">
                  <c:v>12</c:v>
                </c:pt>
                <c:pt idx="9">
                  <c:v>10</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7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7"/>
          <c:y val="0.04"/>
          <c:w val="0.78"/>
          <c:h val="0.86"/>
        </c:manualLayout>
      </c:layout>
      <c:barChart>
        <c:barDir val="bar"/>
        <c:grouping val="clustered"/>
        <c:varyColors val="0"/>
        <c:ser>
          <c:idx val="0"/>
          <c:order val="0"/>
          <c:tx>
            <c:strRef>
              <c:f>Sheet1!$B$1</c:f>
              <c:strCache>
                <c:ptCount val="1"/>
                <c:pt idx="0">
                  <c:v>Records</c:v>
                </c:pt>
              </c:strCache>
            </c:strRef>
          </c:tx>
          <c:spPr>
            <a:solidFill>
              <a:srgbClr val="00A6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Sheet1!$A$2:$A$13</c:f>
              <c:multiLvlStrCache>
                <c:ptCount val="12"/>
                <c:lvl>
                  <c:pt idx="0">
                    <c:v>H04L 63/1425</c:v>
                  </c:pt>
                  <c:pt idx="1">
                    <c:v>H04L 63/1416</c:v>
                  </c:pt>
                  <c:pt idx="2">
                    <c:v>H04L 63/1433</c:v>
                  </c:pt>
                  <c:pt idx="3">
                    <c:v>H04L 63/20</c:v>
                  </c:pt>
                  <c:pt idx="4">
                    <c:v>G06N 20/00</c:v>
                  </c:pt>
                  <c:pt idx="5">
                    <c:v>G06F 21/554</c:v>
                  </c:pt>
                  <c:pt idx="6">
                    <c:v>G06F 21/577</c:v>
                  </c:pt>
                  <c:pt idx="7">
                    <c:v>G06F 21/552</c:v>
                  </c:pt>
                  <c:pt idx="8">
                    <c:v>G06F 2221/034</c:v>
                  </c:pt>
                  <c:pt idx="9">
                    <c:v>H04L 63/1441</c:v>
                  </c:pt>
                  <c:pt idx="10">
                    <c:v>H04L 63/1408</c:v>
                  </c:pt>
                  <c:pt idx="11">
                    <c:v>G06N 3/08</c:v>
                  </c:pt>
                </c:lvl>
              </c:multiLvlStrCache>
            </c:multiLvlStrRef>
          </c:cat>
          <c:val>
            <c:numRef>
              <c:f>Sheet1!$B$2:$B$13</c:f>
              <c:numCache>
                <c:formatCode>0</c:formatCode>
                <c:ptCount val="12"/>
                <c:pt idx="0">
                  <c:v>189</c:v>
                </c:pt>
                <c:pt idx="1">
                  <c:v>159</c:v>
                </c:pt>
                <c:pt idx="2">
                  <c:v>146</c:v>
                </c:pt>
                <c:pt idx="3">
                  <c:v>127</c:v>
                </c:pt>
                <c:pt idx="4">
                  <c:v>104</c:v>
                </c:pt>
                <c:pt idx="5">
                  <c:v>89</c:v>
                </c:pt>
                <c:pt idx="6">
                  <c:v>85</c:v>
                </c:pt>
                <c:pt idx="7">
                  <c:v>69</c:v>
                </c:pt>
                <c:pt idx="8">
                  <c:v>62</c:v>
                </c:pt>
                <c:pt idx="9">
                  <c:v>62</c:v>
                </c:pt>
                <c:pt idx="10">
                  <c:v>47</c:v>
                </c:pt>
                <c:pt idx="11">
                  <c:v>46</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73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05"/>
          <c:w val="0.86"/>
          <c:h val="0.78"/>
        </c:manualLayout>
      </c:layout>
      <c:barChart>
        <c:barDir val="bar"/>
        <c:grouping val="stacked"/>
        <c:varyColors val="0"/>
        <c:ser>
          <c:idx val="0"/>
          <c:order val="0"/>
          <c:tx>
            <c:strRef>
              <c:f>Sheet1!$B$1</c:f>
              <c:strCache>
                <c:ptCount val="1"/>
                <c:pt idx="0">
                  <c:v>Threat Detection and Response</c:v>
                </c:pt>
              </c:strCache>
            </c:strRef>
          </c:tx>
          <c:spPr>
            <a:solidFill>
              <a:srgbClr val="2F55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Microsoft</c:v>
                  </c:pt>
                  <c:pt idx="1">
                    <c:v>Cisco</c:v>
                  </c:pt>
                  <c:pt idx="2">
                    <c:v>Fortinet</c:v>
                  </c:pt>
                  <c:pt idx="3">
                    <c:v>Palo Alto Networks</c:v>
                  </c:pt>
                  <c:pt idx="4">
                    <c:v>Google</c:v>
                  </c:pt>
                  <c:pt idx="5">
                    <c:v>Rapid7</c:v>
                  </c:pt>
                  <c:pt idx="6">
                    <c:v>Trend Micro</c:v>
                  </c:pt>
                  <c:pt idx="7">
                    <c:v>CyberArk</c:v>
                  </c:pt>
                </c:lvl>
              </c:multiLvlStrCache>
            </c:multiLvlStrRef>
          </c:cat>
          <c:val>
            <c:numRef>
              <c:f>Sheet1!$B$2:$B$9</c:f>
              <c:numCache>
                <c:formatCode>General</c:formatCode>
                <c:ptCount val="8"/>
                <c:pt idx="0">
                  <c:v>87</c:v>
                </c:pt>
                <c:pt idx="1">
                  <c:v>51</c:v>
                </c:pt>
                <c:pt idx="2">
                  <c:v>28</c:v>
                </c:pt>
                <c:pt idx="3">
                  <c:v>20</c:v>
                </c:pt>
                <c:pt idx="4">
                  <c:v>21</c:v>
                </c:pt>
                <c:pt idx="5">
                  <c:v>18</c:v>
                </c:pt>
                <c:pt idx="6">
                  <c:v>13</c:v>
                </c:pt>
                <c:pt idx="7">
                  <c:v>1</c:v>
                </c:pt>
              </c:numCache>
            </c:numRef>
          </c:val>
        </c:ser>
        <c:ser>
          <c:idx val="1"/>
          <c:order val="1"/>
          <c:tx>
            <c:strRef>
              <c:f>Sheet1!$C$1</c:f>
              <c:strCache>
                <c:ptCount val="1"/>
                <c:pt idx="0">
                  <c:v>Network and Cloud Security</c:v>
                </c:pt>
              </c:strCache>
            </c:strRef>
          </c:tx>
          <c:spPr>
            <a:solidFill>
              <a:srgbClr val="00A6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Microsoft</c:v>
                  </c:pt>
                  <c:pt idx="1">
                    <c:v>Cisco</c:v>
                  </c:pt>
                  <c:pt idx="2">
                    <c:v>Fortinet</c:v>
                  </c:pt>
                  <c:pt idx="3">
                    <c:v>Palo Alto Networks</c:v>
                  </c:pt>
                  <c:pt idx="4">
                    <c:v>Google</c:v>
                  </c:pt>
                  <c:pt idx="5">
                    <c:v>Rapid7</c:v>
                  </c:pt>
                  <c:pt idx="6">
                    <c:v>Trend Micro</c:v>
                  </c:pt>
                  <c:pt idx="7">
                    <c:v>CyberArk</c:v>
                  </c:pt>
                </c:lvl>
              </c:multiLvlStrCache>
            </c:multiLvlStrRef>
          </c:cat>
          <c:val>
            <c:numRef>
              <c:f>Sheet1!$C$2:$C$9</c:f>
              <c:numCache>
                <c:formatCode>General</c:formatCode>
                <c:ptCount val="8"/>
                <c:pt idx="0">
                  <c:v>22</c:v>
                </c:pt>
                <c:pt idx="1">
                  <c:v>41</c:v>
                </c:pt>
                <c:pt idx="2">
                  <c:v>41</c:v>
                </c:pt>
                <c:pt idx="3">
                  <c:v>22</c:v>
                </c:pt>
                <c:pt idx="4">
                  <c:v>6</c:v>
                </c:pt>
                <c:pt idx="5">
                  <c:v>6</c:v>
                </c:pt>
                <c:pt idx="6">
                  <c:v>4</c:v>
                </c:pt>
                <c:pt idx="7">
                  <c:v>0</c:v>
                </c:pt>
              </c:numCache>
            </c:numRef>
          </c:val>
        </c:ser>
        <c:ser>
          <c:idx val="2"/>
          <c:order val="2"/>
          <c:tx>
            <c:strRef>
              <c:f>Sheet1!$D$1</c:f>
              <c:strCache>
                <c:ptCount val="1"/>
                <c:pt idx="0">
                  <c:v>Identity and Access Management</c:v>
                </c:pt>
              </c:strCache>
            </c:strRef>
          </c:tx>
          <c:spPr>
            <a:solidFill>
              <a:srgbClr val="7B61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Microsoft</c:v>
                  </c:pt>
                  <c:pt idx="1">
                    <c:v>Cisco</c:v>
                  </c:pt>
                  <c:pt idx="2">
                    <c:v>Fortinet</c:v>
                  </c:pt>
                  <c:pt idx="3">
                    <c:v>Palo Alto Networks</c:v>
                  </c:pt>
                  <c:pt idx="4">
                    <c:v>Google</c:v>
                  </c:pt>
                  <c:pt idx="5">
                    <c:v>Rapid7</c:v>
                  </c:pt>
                  <c:pt idx="6">
                    <c:v>Trend Micro</c:v>
                  </c:pt>
                  <c:pt idx="7">
                    <c:v>CyberArk</c:v>
                  </c:pt>
                </c:lvl>
              </c:multiLvlStrCache>
            </c:multiLvlStrRef>
          </c:cat>
          <c:val>
            <c:numRef>
              <c:f>Sheet1!$D$2:$D$9</c:f>
              <c:numCache>
                <c:formatCode>General</c:formatCode>
                <c:ptCount val="8"/>
                <c:pt idx="0">
                  <c:v>13</c:v>
                </c:pt>
                <c:pt idx="1">
                  <c:v>21</c:v>
                </c:pt>
                <c:pt idx="2">
                  <c:v>12</c:v>
                </c:pt>
                <c:pt idx="3">
                  <c:v>5</c:v>
                </c:pt>
                <c:pt idx="4">
                  <c:v>1</c:v>
                </c:pt>
                <c:pt idx="5">
                  <c:v>1</c:v>
                </c:pt>
                <c:pt idx="6">
                  <c:v>0</c:v>
                </c:pt>
                <c:pt idx="7">
                  <c:v>7</c:v>
                </c:pt>
              </c:numCache>
            </c:numRef>
          </c:val>
        </c:ser>
        <c:ser>
          <c:idx val="3"/>
          <c:order val="3"/>
          <c:tx>
            <c:strRef>
              <c:f>Sheet1!$E$1</c:f>
              <c:strCache>
                <c:ptCount val="1"/>
                <c:pt idx="0">
                  <c:v>Vulnerability and Risk Management</c:v>
                </c:pt>
              </c:strCache>
            </c:strRef>
          </c:tx>
          <c:spPr>
            <a:solidFill>
              <a:srgbClr val="F59E0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Microsoft</c:v>
                  </c:pt>
                  <c:pt idx="1">
                    <c:v>Cisco</c:v>
                  </c:pt>
                  <c:pt idx="2">
                    <c:v>Fortinet</c:v>
                  </c:pt>
                  <c:pt idx="3">
                    <c:v>Palo Alto Networks</c:v>
                  </c:pt>
                  <c:pt idx="4">
                    <c:v>Google</c:v>
                  </c:pt>
                  <c:pt idx="5">
                    <c:v>Rapid7</c:v>
                  </c:pt>
                  <c:pt idx="6">
                    <c:v>Trend Micro</c:v>
                  </c:pt>
                  <c:pt idx="7">
                    <c:v>CyberArk</c:v>
                  </c:pt>
                </c:lvl>
              </c:multiLvlStrCache>
            </c:multiLvlStrRef>
          </c:cat>
          <c:val>
            <c:numRef>
              <c:f>Sheet1!$E$2:$E$9</c:f>
              <c:numCache>
                <c:formatCode>General</c:formatCode>
                <c:ptCount val="8"/>
                <c:pt idx="0">
                  <c:v>13</c:v>
                </c:pt>
                <c:pt idx="1">
                  <c:v>22</c:v>
                </c:pt>
                <c:pt idx="2">
                  <c:v>5</c:v>
                </c:pt>
                <c:pt idx="3">
                  <c:v>10</c:v>
                </c:pt>
                <c:pt idx="4">
                  <c:v>3</c:v>
                </c:pt>
                <c:pt idx="5">
                  <c:v>15</c:v>
                </c:pt>
                <c:pt idx="6">
                  <c:v>3</c:v>
                </c:pt>
                <c:pt idx="7">
                  <c:v>2</c:v>
                </c:pt>
              </c:numCache>
            </c:numRef>
          </c:val>
        </c:ser>
        <c:ser>
          <c:idx val="4"/>
          <c:order val="4"/>
          <c:tx>
            <c:strRef>
              <c:f>Sheet1!$F$1</c:f>
              <c:strCache>
                <c:ptCount val="1"/>
                <c:pt idx="0">
                  <c:v>AI Model Security</c:v>
                </c:pt>
              </c:strCache>
            </c:strRef>
          </c:tx>
          <c:spPr>
            <a:solidFill>
              <a:srgbClr val="C026D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Microsoft</c:v>
                  </c:pt>
                  <c:pt idx="1">
                    <c:v>Cisco</c:v>
                  </c:pt>
                  <c:pt idx="2">
                    <c:v>Fortinet</c:v>
                  </c:pt>
                  <c:pt idx="3">
                    <c:v>Palo Alto Networks</c:v>
                  </c:pt>
                  <c:pt idx="4">
                    <c:v>Google</c:v>
                  </c:pt>
                  <c:pt idx="5">
                    <c:v>Rapid7</c:v>
                  </c:pt>
                  <c:pt idx="6">
                    <c:v>Trend Micro</c:v>
                  </c:pt>
                  <c:pt idx="7">
                    <c:v>CyberArk</c:v>
                  </c:pt>
                </c:lvl>
              </c:multiLvlStrCache>
            </c:multiLvlStrRef>
          </c:cat>
          <c:val>
            <c:numRef>
              <c:f>Sheet1!$F$2:$F$9</c:f>
              <c:numCache>
                <c:formatCode>General</c:formatCode>
                <c:ptCount val="8"/>
                <c:pt idx="0">
                  <c:v>17</c:v>
                </c:pt>
                <c:pt idx="1">
                  <c:v>7</c:v>
                </c:pt>
                <c:pt idx="2">
                  <c:v>1</c:v>
                </c:pt>
                <c:pt idx="3">
                  <c:v>20</c:v>
                </c:pt>
                <c:pt idx="4">
                  <c:v>4</c:v>
                </c:pt>
                <c:pt idx="5">
                  <c:v>0</c:v>
                </c:pt>
                <c:pt idx="6">
                  <c:v>2</c:v>
                </c:pt>
                <c:pt idx="7">
                  <c:v>1</c:v>
                </c:pt>
              </c:numCache>
            </c:numRef>
          </c:val>
        </c:ser>
        <c:ser>
          <c:idx val="5"/>
          <c:order val="5"/>
          <c:tx>
            <c:strRef>
              <c:f>Sheet1!$G$1</c:f>
              <c:strCache>
                <c:ptCount val="1"/>
                <c:pt idx="0">
                  <c:v>Malware and Phishing Defense</c:v>
                </c:pt>
              </c:strCache>
            </c:strRef>
          </c:tx>
          <c:spPr>
            <a:solidFill>
              <a:srgbClr val="EF44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Microsoft</c:v>
                  </c:pt>
                  <c:pt idx="1">
                    <c:v>Cisco</c:v>
                  </c:pt>
                  <c:pt idx="2">
                    <c:v>Fortinet</c:v>
                  </c:pt>
                  <c:pt idx="3">
                    <c:v>Palo Alto Networks</c:v>
                  </c:pt>
                  <c:pt idx="4">
                    <c:v>Google</c:v>
                  </c:pt>
                  <c:pt idx="5">
                    <c:v>Rapid7</c:v>
                  </c:pt>
                  <c:pt idx="6">
                    <c:v>Trend Micro</c:v>
                  </c:pt>
                  <c:pt idx="7">
                    <c:v>CyberArk</c:v>
                  </c:pt>
                </c:lvl>
              </c:multiLvlStrCache>
            </c:multiLvlStrRef>
          </c:cat>
          <c:val>
            <c:numRef>
              <c:f>Sheet1!$G$2:$G$9</c:f>
              <c:numCache>
                <c:formatCode>General</c:formatCode>
                <c:ptCount val="8"/>
                <c:pt idx="0">
                  <c:v>6</c:v>
                </c:pt>
                <c:pt idx="1">
                  <c:v>5</c:v>
                </c:pt>
                <c:pt idx="2">
                  <c:v>2</c:v>
                </c:pt>
                <c:pt idx="3">
                  <c:v>10</c:v>
                </c:pt>
                <c:pt idx="4">
                  <c:v>3</c:v>
                </c:pt>
                <c:pt idx="5">
                  <c:v>0</c:v>
                </c:pt>
                <c:pt idx="6">
                  <c:v>4</c:v>
                </c:pt>
                <c:pt idx="7">
                  <c:v>0</c:v>
                </c:pt>
              </c:numCache>
            </c:numRef>
          </c:val>
        </c:ser>
        <c:ser>
          <c:idx val="6"/>
          <c:order val="6"/>
          <c:tx>
            <c:strRef>
              <c:f>Sheet1!$H$1</c:f>
              <c:strCache>
                <c:ptCount val="1"/>
                <c:pt idx="0">
                  <c:v>Data and Privacy Protection</c:v>
                </c:pt>
              </c:strCache>
            </c:strRef>
          </c:tx>
          <c:spPr>
            <a:solidFill>
              <a:srgbClr val="16A3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Microsoft</c:v>
                  </c:pt>
                  <c:pt idx="1">
                    <c:v>Cisco</c:v>
                  </c:pt>
                  <c:pt idx="2">
                    <c:v>Fortinet</c:v>
                  </c:pt>
                  <c:pt idx="3">
                    <c:v>Palo Alto Networks</c:v>
                  </c:pt>
                  <c:pt idx="4">
                    <c:v>Google</c:v>
                  </c:pt>
                  <c:pt idx="5">
                    <c:v>Rapid7</c:v>
                  </c:pt>
                  <c:pt idx="6">
                    <c:v>Trend Micro</c:v>
                  </c:pt>
                  <c:pt idx="7">
                    <c:v>CyberArk</c:v>
                  </c:pt>
                </c:lvl>
              </c:multiLvlStrCache>
            </c:multiLvlStrRef>
          </c:cat>
          <c:val>
            <c:numRef>
              <c:f>Sheet1!$H$2:$H$9</c:f>
              <c:numCache>
                <c:formatCode>General</c:formatCode>
                <c:ptCount val="8"/>
                <c:pt idx="0">
                  <c:v>5</c:v>
                </c:pt>
                <c:pt idx="1">
                  <c:v>7</c:v>
                </c:pt>
                <c:pt idx="2">
                  <c:v>3</c:v>
                </c:pt>
                <c:pt idx="3">
                  <c:v>3</c:v>
                </c:pt>
                <c:pt idx="4">
                  <c:v>3</c:v>
                </c:pt>
                <c:pt idx="5">
                  <c:v>1</c:v>
                </c:pt>
                <c:pt idx="6">
                  <c:v>0</c:v>
                </c:pt>
                <c:pt idx="7">
                  <c:v>1</c:v>
                </c:pt>
              </c:numCache>
            </c:numRef>
          </c:val>
        </c:ser>
        <c:ser>
          <c:idx val="7"/>
          <c:order val="7"/>
          <c:tx>
            <c:strRef>
              <c:f>Sheet1!$I$1</c:f>
              <c:strCache>
                <c:ptCount val="1"/>
                <c:pt idx="0">
                  <c:v>Security Automation and Testing</c:v>
                </c:pt>
              </c:strCache>
            </c:strRef>
          </c:tx>
          <c:spPr>
            <a:solidFill>
              <a:srgbClr val="6B728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Microsoft</c:v>
                  </c:pt>
                  <c:pt idx="1">
                    <c:v>Cisco</c:v>
                  </c:pt>
                  <c:pt idx="2">
                    <c:v>Fortinet</c:v>
                  </c:pt>
                  <c:pt idx="3">
                    <c:v>Palo Alto Networks</c:v>
                  </c:pt>
                  <c:pt idx="4">
                    <c:v>Google</c:v>
                  </c:pt>
                  <c:pt idx="5">
                    <c:v>Rapid7</c:v>
                  </c:pt>
                  <c:pt idx="6">
                    <c:v>Trend Micro</c:v>
                  </c:pt>
                  <c:pt idx="7">
                    <c:v>CyberArk</c:v>
                  </c:pt>
                </c:lvl>
              </c:multiLvlStrCache>
            </c:multiLvlStrRef>
          </c:cat>
          <c:val>
            <c:numRef>
              <c:f>Sheet1!$I$2:$I$9</c:f>
              <c:numCache>
                <c:formatCode>General</c:formatCode>
                <c:ptCount val="8"/>
                <c:pt idx="0">
                  <c:v>4</c:v>
                </c:pt>
                <c:pt idx="1">
                  <c:v>4</c:v>
                </c:pt>
                <c:pt idx="2">
                  <c:v>4</c:v>
                </c:pt>
                <c:pt idx="3">
                  <c:v>6</c:v>
                </c:pt>
                <c:pt idx="4">
                  <c:v>5</c:v>
                </c:pt>
                <c:pt idx="5">
                  <c:v>1</c:v>
                </c:pt>
                <c:pt idx="6">
                  <c:v>1</c:v>
                </c:pt>
                <c:pt idx="7">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05"/>
          <c:w val="0.86"/>
          <c:h val="0.78"/>
        </c:manualLayout>
      </c:layout>
      <c:barChart>
        <c:barDir val="col"/>
        <c:grouping val="stacked"/>
        <c:varyColors val="0"/>
        <c:ser>
          <c:idx val="0"/>
          <c:order val="0"/>
          <c:tx>
            <c:strRef>
              <c:f>Sheet1!$B$1</c:f>
              <c:strCache>
                <c:ptCount val="1"/>
                <c:pt idx="0">
                  <c:v>Microsoft</c:v>
                </c:pt>
              </c:strCache>
            </c:strRef>
          </c:tx>
          <c:spPr>
            <a:solidFill>
              <a:srgbClr val="2F55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2023</c:v>
                  </c:pt>
                  <c:pt idx="1">
                    <c:v>2024</c:v>
                  </c:pt>
                  <c:pt idx="2">
                    <c:v>2025</c:v>
                  </c:pt>
                  <c:pt idx="3">
                    <c:v>2026</c:v>
                  </c:pt>
                </c:lvl>
              </c:multiLvlStrCache>
            </c:multiLvlStrRef>
          </c:cat>
          <c:val>
            <c:numRef>
              <c:f>Sheet1!$B$2:$B$5</c:f>
              <c:numCache>
                <c:formatCode>General</c:formatCode>
                <c:ptCount val="4"/>
                <c:pt idx="0">
                  <c:v>27</c:v>
                </c:pt>
                <c:pt idx="1">
                  <c:v>28</c:v>
                </c:pt>
                <c:pt idx="2">
                  <c:v>57</c:v>
                </c:pt>
                <c:pt idx="3">
                  <c:v>55</c:v>
                </c:pt>
              </c:numCache>
            </c:numRef>
          </c:val>
        </c:ser>
        <c:ser>
          <c:idx val="1"/>
          <c:order val="1"/>
          <c:tx>
            <c:strRef>
              <c:f>Sheet1!$C$1</c:f>
              <c:strCache>
                <c:ptCount val="1"/>
                <c:pt idx="0">
                  <c:v>Cisco</c:v>
                </c:pt>
              </c:strCache>
            </c:strRef>
          </c:tx>
          <c:spPr>
            <a:solidFill>
              <a:srgbClr val="00A6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2023</c:v>
                  </c:pt>
                  <c:pt idx="1">
                    <c:v>2024</c:v>
                  </c:pt>
                  <c:pt idx="2">
                    <c:v>2025</c:v>
                  </c:pt>
                  <c:pt idx="3">
                    <c:v>2026</c:v>
                  </c:pt>
                </c:lvl>
              </c:multiLvlStrCache>
            </c:multiLvlStrRef>
          </c:cat>
          <c:val>
            <c:numRef>
              <c:f>Sheet1!$C$2:$C$5</c:f>
              <c:numCache>
                <c:formatCode>General</c:formatCode>
                <c:ptCount val="4"/>
                <c:pt idx="0">
                  <c:v>17</c:v>
                </c:pt>
                <c:pt idx="1">
                  <c:v>29</c:v>
                </c:pt>
                <c:pt idx="2">
                  <c:v>75</c:v>
                </c:pt>
                <c:pt idx="3">
                  <c:v>37</c:v>
                </c:pt>
              </c:numCache>
            </c:numRef>
          </c:val>
        </c:ser>
        <c:ser>
          <c:idx val="2"/>
          <c:order val="2"/>
          <c:tx>
            <c:strRef>
              <c:f>Sheet1!$D$1</c:f>
              <c:strCache>
                <c:ptCount val="1"/>
                <c:pt idx="0">
                  <c:v>Fortinet</c:v>
                </c:pt>
              </c:strCache>
            </c:strRef>
          </c:tx>
          <c:spPr>
            <a:solidFill>
              <a:srgbClr val="7B61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2023</c:v>
                  </c:pt>
                  <c:pt idx="1">
                    <c:v>2024</c:v>
                  </c:pt>
                  <c:pt idx="2">
                    <c:v>2025</c:v>
                  </c:pt>
                  <c:pt idx="3">
                    <c:v>2026</c:v>
                  </c:pt>
                </c:lvl>
              </c:multiLvlStrCache>
            </c:multiLvlStrRef>
          </c:cat>
          <c:val>
            <c:numRef>
              <c:f>Sheet1!$D$2:$D$5</c:f>
              <c:numCache>
                <c:formatCode>General</c:formatCode>
                <c:ptCount val="4"/>
                <c:pt idx="0">
                  <c:v>12</c:v>
                </c:pt>
                <c:pt idx="1">
                  <c:v>18</c:v>
                </c:pt>
                <c:pt idx="2">
                  <c:v>39</c:v>
                </c:pt>
                <c:pt idx="3">
                  <c:v>27</c:v>
                </c:pt>
              </c:numCache>
            </c:numRef>
          </c:val>
        </c:ser>
        <c:ser>
          <c:idx val="3"/>
          <c:order val="3"/>
          <c:tx>
            <c:strRef>
              <c:f>Sheet1!$E$1</c:f>
              <c:strCache>
                <c:ptCount val="1"/>
                <c:pt idx="0">
                  <c:v>Palo Alto Networks</c:v>
                </c:pt>
              </c:strCache>
            </c:strRef>
          </c:tx>
          <c:spPr>
            <a:solidFill>
              <a:srgbClr val="F59E0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2023</c:v>
                  </c:pt>
                  <c:pt idx="1">
                    <c:v>2024</c:v>
                  </c:pt>
                  <c:pt idx="2">
                    <c:v>2025</c:v>
                  </c:pt>
                  <c:pt idx="3">
                    <c:v>2026</c:v>
                  </c:pt>
                </c:lvl>
              </c:multiLvlStrCache>
            </c:multiLvlStrRef>
          </c:cat>
          <c:val>
            <c:numRef>
              <c:f>Sheet1!$E$2:$E$5</c:f>
              <c:numCache>
                <c:formatCode>General</c:formatCode>
                <c:ptCount val="4"/>
                <c:pt idx="0">
                  <c:v>9</c:v>
                </c:pt>
                <c:pt idx="1">
                  <c:v>8</c:v>
                </c:pt>
                <c:pt idx="2">
                  <c:v>42</c:v>
                </c:pt>
                <c:pt idx="3">
                  <c:v>37</c:v>
                </c:pt>
              </c:numCache>
            </c:numRef>
          </c:val>
        </c:ser>
        <c:ser>
          <c:idx val="4"/>
          <c:order val="4"/>
          <c:tx>
            <c:strRef>
              <c:f>Sheet1!$F$1</c:f>
              <c:strCache>
                <c:ptCount val="1"/>
                <c:pt idx="0">
                  <c:v>Google</c:v>
                </c:pt>
              </c:strCache>
            </c:strRef>
          </c:tx>
          <c:spPr>
            <a:solidFill>
              <a:srgbClr val="C026D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2023</c:v>
                  </c:pt>
                  <c:pt idx="1">
                    <c:v>2024</c:v>
                  </c:pt>
                  <c:pt idx="2">
                    <c:v>2025</c:v>
                  </c:pt>
                  <c:pt idx="3">
                    <c:v>2026</c:v>
                  </c:pt>
                </c:lvl>
              </c:multiLvlStrCache>
            </c:multiLvlStrRef>
          </c:cat>
          <c:val>
            <c:numRef>
              <c:f>Sheet1!$F$2:$F$5</c:f>
              <c:numCache>
                <c:formatCode>General</c:formatCode>
                <c:ptCount val="4"/>
                <c:pt idx="0">
                  <c:v>5</c:v>
                </c:pt>
                <c:pt idx="1">
                  <c:v>12</c:v>
                </c:pt>
                <c:pt idx="2">
                  <c:v>14</c:v>
                </c:pt>
                <c:pt idx="3">
                  <c:v>15</c:v>
                </c:pt>
              </c:numCache>
            </c:numRef>
          </c:val>
        </c:ser>
        <c:ser>
          <c:idx val="5"/>
          <c:order val="5"/>
          <c:tx>
            <c:strRef>
              <c:f>Sheet1!$G$1</c:f>
              <c:strCache>
                <c:ptCount val="1"/>
                <c:pt idx="0">
                  <c:v>Rapid7</c:v>
                </c:pt>
              </c:strCache>
            </c:strRef>
          </c:tx>
          <c:spPr>
            <a:solidFill>
              <a:srgbClr val="16A3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2023</c:v>
                  </c:pt>
                  <c:pt idx="1">
                    <c:v>2024</c:v>
                  </c:pt>
                  <c:pt idx="2">
                    <c:v>2025</c:v>
                  </c:pt>
                  <c:pt idx="3">
                    <c:v>2026</c:v>
                  </c:pt>
                </c:lvl>
              </c:multiLvlStrCache>
            </c:multiLvlStrRef>
          </c:cat>
          <c:val>
            <c:numRef>
              <c:f>Sheet1!$G$2:$G$5</c:f>
              <c:numCache>
                <c:formatCode>General</c:formatCode>
                <c:ptCount val="4"/>
                <c:pt idx="0">
                  <c:v>10</c:v>
                </c:pt>
                <c:pt idx="1">
                  <c:v>15</c:v>
                </c:pt>
                <c:pt idx="2">
                  <c:v>10</c:v>
                </c:pt>
                <c:pt idx="3">
                  <c:v>7</c:v>
                </c:pt>
              </c:numCache>
            </c:numRef>
          </c:val>
        </c:ser>
        <c:ser>
          <c:idx val="6"/>
          <c:order val="6"/>
          <c:tx>
            <c:strRef>
              <c:f>Sheet1!$H$1</c:f>
              <c:strCache>
                <c:ptCount val="1"/>
                <c:pt idx="0">
                  <c:v>Trend Micro</c:v>
                </c:pt>
              </c:strCache>
            </c:strRef>
          </c:tx>
          <c:spPr>
            <a:solidFill>
              <a:srgbClr val="EF44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2023</c:v>
                  </c:pt>
                  <c:pt idx="1">
                    <c:v>2024</c:v>
                  </c:pt>
                  <c:pt idx="2">
                    <c:v>2025</c:v>
                  </c:pt>
                  <c:pt idx="3">
                    <c:v>2026</c:v>
                  </c:pt>
                </c:lvl>
              </c:multiLvlStrCache>
            </c:multiLvlStrRef>
          </c:cat>
          <c:val>
            <c:numRef>
              <c:f>Sheet1!$H$2:$H$5</c:f>
              <c:numCache>
                <c:formatCode>General</c:formatCode>
                <c:ptCount val="4"/>
                <c:pt idx="0">
                  <c:v>3</c:v>
                </c:pt>
                <c:pt idx="1">
                  <c:v>4</c:v>
                </c:pt>
                <c:pt idx="2">
                  <c:v>11</c:v>
                </c:pt>
                <c:pt idx="3">
                  <c:v>9</c:v>
                </c:pt>
              </c:numCache>
            </c:numRef>
          </c:val>
        </c:ser>
        <c:ser>
          <c:idx val="7"/>
          <c:order val="7"/>
          <c:tx>
            <c:strRef>
              <c:f>Sheet1!$I$1</c:f>
              <c:strCache>
                <c:ptCount val="1"/>
                <c:pt idx="0">
                  <c:v>Others</c:v>
                </c:pt>
              </c:strCache>
            </c:strRef>
          </c:tx>
          <c:spPr>
            <a:solidFill>
              <a:srgbClr val="6B728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2023</c:v>
                  </c:pt>
                  <c:pt idx="1">
                    <c:v>2024</c:v>
                  </c:pt>
                  <c:pt idx="2">
                    <c:v>2025</c:v>
                  </c:pt>
                  <c:pt idx="3">
                    <c:v>2026</c:v>
                  </c:pt>
                </c:lvl>
              </c:multiLvlStrCache>
            </c:multiLvlStrRef>
          </c:cat>
          <c:val>
            <c:numRef>
              <c:f>Sheet1!$I$2:$I$5</c:f>
              <c:numCache>
                <c:formatCode>General</c:formatCode>
                <c:ptCount val="4"/>
                <c:pt idx="0">
                  <c:v>2</c:v>
                </c:pt>
                <c:pt idx="1">
                  <c:v>1</c:v>
                </c:pt>
                <c:pt idx="2">
                  <c:v>9</c:v>
                </c:pt>
                <c:pt idx="3">
                  <c:v>10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5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7"/>
          <c:y val="0.06"/>
          <c:w val="0.86"/>
          <c:h val="0.78"/>
        </c:manualLayout>
      </c:layout>
      <c:lineChart>
        <c:varyColors val="0"/>
        <c:ser>
          <c:idx val="0"/>
          <c:order val="0"/>
          <c:tx>
            <c:strRef>
              <c:f>Sheet1!$B$1</c:f>
              <c:strCache>
                <c:ptCount val="1"/>
                <c:pt idx="0">
                  <c:v>Threat Detection and Response</c:v>
                </c:pt>
              </c:strCache>
            </c:strRef>
          </c:tx>
          <c:spPr>
            <a:solidFill>
              <a:srgbClr val="2F5597"/>
            </a:solidFill>
            <a:ln w="25400" cap="flat">
              <a:solidFill>
                <a:srgbClr val="2F559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F5597"/>
              </a:solidFill>
              <a:ln w="9525" cap="flat">
                <a:solidFill>
                  <a:srgbClr val="2F5597"/>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c:v>
                  </c:pt>
                </c:lvl>
              </c:multiLvlStrCache>
            </c:multiLvlStrRef>
          </c:cat>
          <c:val>
            <c:numRef>
              <c:f>Sheet1!$B$2:$B$12</c:f>
              <c:numCache>
                <c:formatCode>General</c:formatCode>
                <c:ptCount val="11"/>
                <c:pt idx="0">
                  <c:v>1</c:v>
                </c:pt>
                <c:pt idx="1">
                  <c:v>0</c:v>
                </c:pt>
                <c:pt idx="2">
                  <c:v>1</c:v>
                </c:pt>
                <c:pt idx="3">
                  <c:v>11</c:v>
                </c:pt>
                <c:pt idx="4">
                  <c:v>26</c:v>
                </c:pt>
                <c:pt idx="5">
                  <c:v>44</c:v>
                </c:pt>
                <c:pt idx="6">
                  <c:v>42</c:v>
                </c:pt>
                <c:pt idx="7">
                  <c:v>47</c:v>
                </c:pt>
                <c:pt idx="8">
                  <c:v>55</c:v>
                </c:pt>
                <c:pt idx="9">
                  <c:v>31</c:v>
                </c:pt>
                <c:pt idx="10">
                  <c:v>0</c:v>
                </c:pt>
              </c:numCache>
            </c:numRef>
          </c:val>
          <c:smooth val="0"/>
        </c:ser>
        <c:ser>
          <c:idx val="1"/>
          <c:order val="1"/>
          <c:tx>
            <c:strRef>
              <c:f>Sheet1!$C$1</c:f>
              <c:strCache>
                <c:ptCount val="1"/>
                <c:pt idx="0">
                  <c:v>Network and Cloud Security</c:v>
                </c:pt>
              </c:strCache>
            </c:strRef>
          </c:tx>
          <c:spPr>
            <a:solidFill>
              <a:srgbClr val="00A6A6"/>
            </a:solidFill>
            <a:ln w="25400" cap="flat">
              <a:solidFill>
                <a:srgbClr val="00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A6A6"/>
              </a:solidFill>
              <a:ln w="9525" cap="flat">
                <a:solidFill>
                  <a:srgbClr val="00A6A6"/>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c:v>
                  </c:pt>
                </c:lvl>
              </c:multiLvlStrCache>
            </c:multiLvlStrRef>
          </c:cat>
          <c:val>
            <c:numRef>
              <c:f>Sheet1!$C$2:$C$12</c:f>
              <c:numCache>
                <c:formatCode>General</c:formatCode>
                <c:ptCount val="11"/>
                <c:pt idx="0">
                  <c:v>1</c:v>
                </c:pt>
                <c:pt idx="1">
                  <c:v>2</c:v>
                </c:pt>
                <c:pt idx="2">
                  <c:v>2</c:v>
                </c:pt>
                <c:pt idx="3">
                  <c:v>3</c:v>
                </c:pt>
                <c:pt idx="4">
                  <c:v>7</c:v>
                </c:pt>
                <c:pt idx="5">
                  <c:v>11</c:v>
                </c:pt>
                <c:pt idx="6">
                  <c:v>28</c:v>
                </c:pt>
                <c:pt idx="7">
                  <c:v>46</c:v>
                </c:pt>
                <c:pt idx="8">
                  <c:v>34</c:v>
                </c:pt>
                <c:pt idx="9">
                  <c:v>12</c:v>
                </c:pt>
                <c:pt idx="10">
                  <c:v>0</c:v>
                </c:pt>
              </c:numCache>
            </c:numRef>
          </c:val>
          <c:smooth val="0"/>
        </c:ser>
        <c:ser>
          <c:idx val="2"/>
          <c:order val="2"/>
          <c:tx>
            <c:strRef>
              <c:f>Sheet1!$D$1</c:f>
              <c:strCache>
                <c:ptCount val="1"/>
                <c:pt idx="0">
                  <c:v>Identity and Access Management</c:v>
                </c:pt>
              </c:strCache>
            </c:strRef>
          </c:tx>
          <c:spPr>
            <a:solidFill>
              <a:srgbClr val="7B61FF"/>
            </a:solidFill>
            <a:ln w="25400" cap="flat">
              <a:solidFill>
                <a:srgbClr val="7B61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B61FF"/>
              </a:solidFill>
              <a:ln w="9525" cap="flat">
                <a:solidFill>
                  <a:srgbClr val="7B61FF"/>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c:v>
                  </c:pt>
                </c:lvl>
              </c:multiLvlStrCache>
            </c:multiLvlStrRef>
          </c:cat>
          <c:val>
            <c:numRef>
              <c:f>Sheet1!$D$2:$D$12</c:f>
              <c:numCache>
                <c:formatCode>General</c:formatCode>
                <c:ptCount val="11"/>
                <c:pt idx="0">
                  <c:v>0</c:v>
                </c:pt>
                <c:pt idx="1">
                  <c:v>2</c:v>
                </c:pt>
                <c:pt idx="2">
                  <c:v>2</c:v>
                </c:pt>
                <c:pt idx="3">
                  <c:v>3</c:v>
                </c:pt>
                <c:pt idx="4">
                  <c:v>4</c:v>
                </c:pt>
                <c:pt idx="5">
                  <c:v>4</c:v>
                </c:pt>
                <c:pt idx="6">
                  <c:v>6</c:v>
                </c:pt>
                <c:pt idx="7">
                  <c:v>14</c:v>
                </c:pt>
                <c:pt idx="8">
                  <c:v>26</c:v>
                </c:pt>
                <c:pt idx="9">
                  <c:v>5</c:v>
                </c:pt>
                <c:pt idx="10">
                  <c:v>1</c:v>
                </c:pt>
              </c:numCache>
            </c:numRef>
          </c:val>
          <c:smooth val="0"/>
        </c:ser>
        <c:ser>
          <c:idx val="3"/>
          <c:order val="3"/>
          <c:tx>
            <c:strRef>
              <c:f>Sheet1!$E$1</c:f>
              <c:strCache>
                <c:ptCount val="1"/>
                <c:pt idx="0">
                  <c:v>Vulnerability and Risk Management</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9E0B"/>
              </a:solidFill>
              <a:ln w="9525" cap="flat">
                <a:solidFill>
                  <a:srgbClr val="F59E0B"/>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c:v>
                  </c:pt>
                </c:lvl>
              </c:multiLvlStrCache>
            </c:multiLvlStrRef>
          </c:cat>
          <c:val>
            <c:numRef>
              <c:f>Sheet1!$E$2:$E$12</c:f>
              <c:numCache>
                <c:formatCode>General</c:formatCode>
                <c:ptCount val="11"/>
                <c:pt idx="0">
                  <c:v>0</c:v>
                </c:pt>
                <c:pt idx="1">
                  <c:v>1</c:v>
                </c:pt>
                <c:pt idx="2">
                  <c:v>1</c:v>
                </c:pt>
                <c:pt idx="3">
                  <c:v>0</c:v>
                </c:pt>
                <c:pt idx="4">
                  <c:v>1</c:v>
                </c:pt>
                <c:pt idx="5">
                  <c:v>10</c:v>
                </c:pt>
                <c:pt idx="6">
                  <c:v>11</c:v>
                </c:pt>
                <c:pt idx="7">
                  <c:v>23</c:v>
                </c:pt>
                <c:pt idx="8">
                  <c:v>22</c:v>
                </c:pt>
                <c:pt idx="9">
                  <c:v>6</c:v>
                </c:pt>
                <c:pt idx="10">
                  <c:v>0</c:v>
                </c:pt>
              </c:numCache>
            </c:numRef>
          </c:val>
          <c:smooth val="0"/>
        </c:ser>
        <c:ser>
          <c:idx val="4"/>
          <c:order val="4"/>
          <c:tx>
            <c:strRef>
              <c:f>Sheet1!$F$1</c:f>
              <c:strCache>
                <c:ptCount val="1"/>
                <c:pt idx="0">
                  <c:v>AI Model Security</c:v>
                </c:pt>
              </c:strCache>
            </c:strRef>
          </c:tx>
          <c:spPr>
            <a:solidFill>
              <a:srgbClr val="C026D3"/>
            </a:solidFill>
            <a:ln w="25400" cap="flat">
              <a:solidFill>
                <a:srgbClr val="C026D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26D3"/>
              </a:solidFill>
              <a:ln w="9525" cap="flat">
                <a:solidFill>
                  <a:srgbClr val="C026D3"/>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c:v>
                  </c:pt>
                </c:lvl>
              </c:multiLvlStrCache>
            </c:multiLvlStrRef>
          </c:cat>
          <c:val>
            <c:numRef>
              <c:f>Sheet1!$F$2:$F$12</c:f>
              <c:numCache>
                <c:formatCode>General</c:formatCode>
                <c:ptCount val="11"/>
                <c:pt idx="0">
                  <c:v>0</c:v>
                </c:pt>
                <c:pt idx="1">
                  <c:v>0</c:v>
                </c:pt>
                <c:pt idx="2">
                  <c:v>0</c:v>
                </c:pt>
                <c:pt idx="3">
                  <c:v>0</c:v>
                </c:pt>
                <c:pt idx="4">
                  <c:v>0</c:v>
                </c:pt>
                <c:pt idx="5">
                  <c:v>0</c:v>
                </c:pt>
                <c:pt idx="6">
                  <c:v>0</c:v>
                </c:pt>
                <c:pt idx="7">
                  <c:v>8</c:v>
                </c:pt>
                <c:pt idx="8">
                  <c:v>43</c:v>
                </c:pt>
                <c:pt idx="9">
                  <c:v>8</c:v>
                </c:pt>
                <c:pt idx="10">
                  <c:v>1</c:v>
                </c:pt>
              </c:numCache>
            </c:numRef>
          </c:val>
          <c:smooth val="0"/>
        </c:ser>
        <c:ser>
          <c:idx val="5"/>
          <c:order val="5"/>
          <c:tx>
            <c:strRef>
              <c:f>Sheet1!$G$1</c:f>
              <c:strCache>
                <c:ptCount val="1"/>
                <c:pt idx="0">
                  <c:v>Malware and Phishing Defense</c:v>
                </c:pt>
              </c:strCache>
            </c:strRef>
          </c:tx>
          <c:spPr>
            <a:solidFill>
              <a:srgbClr val="EF4444"/>
            </a:solidFill>
            <a:ln w="25400" cap="flat">
              <a:solidFill>
                <a:srgbClr val="EF444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F4444"/>
              </a:solidFill>
              <a:ln w="9525" cap="flat">
                <a:solidFill>
                  <a:srgbClr val="EF4444"/>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c:v>
                  </c:pt>
                </c:lvl>
              </c:multiLvlStrCache>
            </c:multiLvlStrRef>
          </c:cat>
          <c:val>
            <c:numRef>
              <c:f>Sheet1!$G$2:$G$12</c:f>
              <c:numCache>
                <c:formatCode>General</c:formatCode>
                <c:ptCount val="11"/>
                <c:pt idx="0">
                  <c:v>0</c:v>
                </c:pt>
                <c:pt idx="1">
                  <c:v>0</c:v>
                </c:pt>
                <c:pt idx="2">
                  <c:v>1</c:v>
                </c:pt>
                <c:pt idx="3">
                  <c:v>2</c:v>
                </c:pt>
                <c:pt idx="4">
                  <c:v>0</c:v>
                </c:pt>
                <c:pt idx="5">
                  <c:v>1</c:v>
                </c:pt>
                <c:pt idx="6">
                  <c:v>3</c:v>
                </c:pt>
                <c:pt idx="7">
                  <c:v>11</c:v>
                </c:pt>
                <c:pt idx="8">
                  <c:v>12</c:v>
                </c:pt>
                <c:pt idx="9">
                  <c:v>2</c:v>
                </c:pt>
                <c:pt idx="10">
                  <c:v>0</c:v>
                </c:pt>
              </c:numCache>
            </c:numRef>
          </c:val>
          <c:smooth val="0"/>
        </c:ser>
        <c:ser>
          <c:idx val="6"/>
          <c:order val="6"/>
          <c:tx>
            <c:strRef>
              <c:f>Sheet1!$H$1</c:f>
              <c:strCache>
                <c:ptCount val="1"/>
                <c:pt idx="0">
                  <c:v>Data and Privacy Protection</c:v>
                </c:pt>
              </c:strCache>
            </c:strRef>
          </c:tx>
          <c:spPr>
            <a:solidFill>
              <a:srgbClr val="16A34A"/>
            </a:solidFill>
            <a:ln w="25400" cap="flat">
              <a:solidFill>
                <a:srgbClr val="16A3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6A34A"/>
              </a:solidFill>
              <a:ln w="9525" cap="flat">
                <a:solidFill>
                  <a:srgbClr val="16A34A"/>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c:v>
                  </c:pt>
                </c:lvl>
              </c:multiLvlStrCache>
            </c:multiLvlStrRef>
          </c:cat>
          <c:val>
            <c:numRef>
              <c:f>Sheet1!$H$2:$H$12</c:f>
              <c:numCache>
                <c:formatCode>General</c:formatCode>
                <c:ptCount val="11"/>
                <c:pt idx="0">
                  <c:v>0</c:v>
                </c:pt>
                <c:pt idx="1">
                  <c:v>0</c:v>
                </c:pt>
                <c:pt idx="2">
                  <c:v>0</c:v>
                </c:pt>
                <c:pt idx="3">
                  <c:v>0</c:v>
                </c:pt>
                <c:pt idx="4">
                  <c:v>1</c:v>
                </c:pt>
                <c:pt idx="5">
                  <c:v>3</c:v>
                </c:pt>
                <c:pt idx="6">
                  <c:v>6</c:v>
                </c:pt>
                <c:pt idx="7">
                  <c:v>4</c:v>
                </c:pt>
                <c:pt idx="8">
                  <c:v>9</c:v>
                </c:pt>
                <c:pt idx="9">
                  <c:v>2</c:v>
                </c:pt>
                <c:pt idx="10">
                  <c:v>0</c:v>
                </c:pt>
              </c:numCache>
            </c:numRef>
          </c:val>
          <c:smooth val="0"/>
        </c:ser>
        <c:ser>
          <c:idx val="7"/>
          <c:order val="7"/>
          <c:tx>
            <c:strRef>
              <c:f>Sheet1!$I$1</c:f>
              <c:strCache>
                <c:ptCount val="1"/>
                <c:pt idx="0">
                  <c:v>Security Automation and Testing</c:v>
                </c:pt>
              </c:strCache>
            </c:strRef>
          </c:tx>
          <c:spPr>
            <a:solidFill>
              <a:srgbClr val="6B7280"/>
            </a:solidFill>
            <a:ln w="25400" cap="flat">
              <a:solidFill>
                <a:srgbClr val="6B72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6B7280"/>
              </a:solidFill>
              <a:ln w="9525" cap="flat">
                <a:solidFill>
                  <a:srgbClr val="6B7280"/>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c:v>
                  </c:pt>
                </c:lvl>
              </c:multiLvlStrCache>
            </c:multiLvlStrRef>
          </c:cat>
          <c:val>
            <c:numRef>
              <c:f>Sheet1!$I$2:$I$12</c:f>
              <c:numCache>
                <c:formatCode>General</c:formatCode>
                <c:ptCount val="11"/>
                <c:pt idx="0">
                  <c:v>0</c:v>
                </c:pt>
                <c:pt idx="1">
                  <c:v>0</c:v>
                </c:pt>
                <c:pt idx="2">
                  <c:v>0</c:v>
                </c:pt>
                <c:pt idx="3">
                  <c:v>2</c:v>
                </c:pt>
                <c:pt idx="4">
                  <c:v>2</c:v>
                </c:pt>
                <c:pt idx="5">
                  <c:v>0</c:v>
                </c:pt>
                <c:pt idx="6">
                  <c:v>3</c:v>
                </c:pt>
                <c:pt idx="7">
                  <c:v>6</c:v>
                </c:pt>
                <c:pt idx="8">
                  <c:v>12</c:v>
                </c:pt>
                <c:pt idx="9">
                  <c:v>1</c:v>
                </c:pt>
                <c:pt idx="10">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8"/>
          <c:y val="0.04"/>
          <c:w val="0.76"/>
          <c:h val="0.86"/>
        </c:manualLayout>
      </c:layout>
      <c:barChart>
        <c:barDir val="bar"/>
        <c:grouping val="clustered"/>
        <c:varyColors val="0"/>
        <c:ser>
          <c:idx val="0"/>
          <c:order val="0"/>
          <c:tx>
            <c:strRef>
              <c:f>Sheet1!$B$1</c:f>
              <c:strCache>
                <c:ptCount val="1"/>
                <c:pt idx="0">
                  <c:v>Records</c:v>
                </c:pt>
              </c:strCache>
            </c:strRef>
          </c:tx>
          <c:spPr>
            <a:solidFill>
              <a:srgbClr val="7B61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US11647034</c:v>
                  </c:pt>
                  <c:pt idx="1">
                    <c:v>US11783062</c:v>
                  </c:pt>
                  <c:pt idx="2">
                    <c:v>US20230259632</c:v>
                  </c:pt>
                  <c:pt idx="3">
                    <c:v>US20230370452</c:v>
                  </c:pt>
                  <c:pt idx="4">
                    <c:v>US11888870</c:v>
                  </c:pt>
                  <c:pt idx="5">
                    <c:v>US11620379</c:v>
                  </c:pt>
                  <c:pt idx="6">
                    <c:v>US11907368</c:v>
                  </c:pt>
                  <c:pt idx="7">
                    <c:v>US12003541</c:v>
                  </c:pt>
                </c:lvl>
              </c:multiLvlStrCache>
            </c:multiLvlStrRef>
          </c:cat>
          <c:val>
            <c:numRef>
              <c:f>Sheet1!$B$2:$B$9</c:f>
              <c:numCache>
                <c:formatCode>0</c:formatCode>
                <c:ptCount val="8"/>
                <c:pt idx="0">
                  <c:v>109</c:v>
                </c:pt>
                <c:pt idx="1">
                  <c:v>70</c:v>
                </c:pt>
                <c:pt idx="2">
                  <c:v>38</c:v>
                </c:pt>
                <c:pt idx="3">
                  <c:v>36</c:v>
                </c:pt>
                <c:pt idx="4">
                  <c:v>31</c:v>
                </c:pt>
                <c:pt idx="5">
                  <c:v>28</c:v>
                </c:pt>
                <c:pt idx="6">
                  <c:v>21</c:v>
                </c:pt>
                <c:pt idx="7">
                  <c:v>18</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78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4"/>
          <c:y val="0.03"/>
          <c:w val="0.7"/>
          <c:h val="0.86"/>
        </c:manualLayout>
      </c:layout>
      <c:barChart>
        <c:barDir val="bar"/>
        <c:grouping val="clustered"/>
        <c:varyColors val="0"/>
        <c:ser>
          <c:idx val="0"/>
          <c:order val="0"/>
          <c:tx>
            <c:strRef>
              <c:f>Sheet1!$B$1</c:f>
              <c:strCache>
                <c:ptCount val="1"/>
                <c:pt idx="0">
                  <c:v>Records</c:v>
                </c:pt>
              </c:strCache>
            </c:strRef>
          </c:tx>
          <c:spPr>
            <a:solidFill>
              <a:srgbClr val="EF44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Sheet1!$A$2:$A$11</c:f>
              <c:multiLvlStrCache>
                <c:ptCount val="10"/>
                <c:lvl>
                  <c:pt idx="0">
                    <c:v>Network and device anomaly dete...</c:v>
                  </c:pt>
                  <c:pt idx="1">
                    <c:v>Alert overload and SOC response...</c:v>
                  </c:pt>
                  <c:pt idx="2">
                    <c:v>Identity, credential and access...</c:v>
                  </c:pt>
                  <c:pt idx="3">
                    <c:v>Cloud workload and configuratio...</c:v>
                  </c:pt>
                  <c:pt idx="4">
                    <c:v>Risk, vulnerability and exposur...</c:v>
                  </c:pt>
                  <c:pt idx="5">
                    <c:v>LLM/prompt attacks and generati...</c:v>
                  </c:pt>
                  <c:pt idx="6">
                    <c:v>Automated remediation and secur...</c:v>
                  </c:pt>
                  <c:pt idx="7">
                    <c:v>Phishing, malware and malicious...</c:v>
                  </c:pt>
                  <c:pt idx="8">
                    <c:v>Data leakage, privacy and secre...</c:v>
                  </c:pt>
                  <c:pt idx="9">
                    <c:v>Secure software, CI/CD and supp...</c:v>
                  </c:pt>
                </c:lvl>
              </c:multiLvlStrCache>
            </c:multiLvlStrRef>
          </c:cat>
          <c:val>
            <c:numRef>
              <c:f>Sheet1!$B$2:$B$11</c:f>
              <c:numCache>
                <c:formatCode>0</c:formatCode>
                <c:ptCount val="10"/>
                <c:pt idx="0">
                  <c:v>273</c:v>
                </c:pt>
                <c:pt idx="1">
                  <c:v>189</c:v>
                </c:pt>
                <c:pt idx="2">
                  <c:v>152</c:v>
                </c:pt>
                <c:pt idx="3">
                  <c:v>136</c:v>
                </c:pt>
                <c:pt idx="4">
                  <c:v>134</c:v>
                </c:pt>
                <c:pt idx="5">
                  <c:v>81</c:v>
                </c:pt>
                <c:pt idx="6">
                  <c:v>78</c:v>
                </c:pt>
                <c:pt idx="7">
                  <c:v>47</c:v>
                </c:pt>
                <c:pt idx="8">
                  <c:v>42</c:v>
                </c:pt>
                <c:pt idx="9">
                  <c:v>22</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78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image" Target="../media/image-21-1.jp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C2E"/>
        </a:solidFill>
      </p:bgPr>
    </p:bg>
    <p:spTree>
      <p:nvGrpSpPr>
        <p:cNvPr id="1" name=""/>
        <p:cNvGrpSpPr/>
        <p:nvPr/>
      </p:nvGrpSpPr>
      <p:grpSpPr>
        <a:xfrm>
          <a:off x="0" y="0"/>
          <a:ext cx="0" cy="0"/>
          <a:chOff x="0" y="0"/>
          <a:chExt cx="0" cy="0"/>
        </a:xfrm>
      </p:grpSpPr>
      <p:pic>
        <p:nvPicPr>
          <p:cNvPr id="2" name="Image 0" descr="/mnt/data/cyber_images/soc_ai.png">    </p:cNvPr>
          <p:cNvPicPr>
            <a:picLocks noChangeAspect="1"/>
          </p:cNvPicPr>
          <p:nvPr/>
        </p:nvPicPr>
        <p:blipFill>
          <a:blip r:embed="rId1"/>
          <a:srcRect l="25860" r="25860" t="0" b="0"/>
          <a:stretch/>
        </p:blipFill>
        <p:spPr>
          <a:xfrm>
            <a:off x="5897880" y="0"/>
            <a:ext cx="6291072" cy="6858000"/>
          </a:xfrm>
          <a:prstGeom prst="rect">
            <a:avLst/>
          </a:prstGeom>
        </p:spPr>
      </p:pic>
      <p:sp>
        <p:nvSpPr>
          <p:cNvPr id="3" name="Shape 0"/>
          <p:cNvSpPr/>
          <p:nvPr/>
        </p:nvSpPr>
        <p:spPr>
          <a:xfrm>
            <a:off x="0" y="0"/>
            <a:ext cx="5897880" cy="6858000"/>
          </a:xfrm>
          <a:prstGeom prst="rect">
            <a:avLst/>
          </a:prstGeom>
          <a:solidFill>
            <a:srgbClr val="071C2E"/>
          </a:solidFill>
          <a:ln w="12700">
            <a:solidFill>
              <a:srgbClr val="071C2E"/>
            </a:solidFill>
            <a:prstDash val="solid"/>
          </a:ln>
        </p:spPr>
      </p:sp>
      <p:sp>
        <p:nvSpPr>
          <p:cNvPr id="4" name="Text 1"/>
          <p:cNvSpPr/>
          <p:nvPr/>
        </p:nvSpPr>
        <p:spPr>
          <a:xfrm>
            <a:off x="621792" y="1627632"/>
            <a:ext cx="4937760" cy="100584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AI-Driven</a:t>
            </a:r>
            <a:endParaRPr lang="en-US" sz="3400" dirty="0"/>
          </a:p>
          <a:p>
            <a:pPr indent="0" marL="0">
              <a:buNone/>
            </a:pPr>
            <a:r>
              <a:rPr lang="en-US" sz="3400" b="1" dirty="0">
                <a:solidFill>
                  <a:srgbClr val="FFFFFF"/>
                </a:solidFill>
                <a:latin typeface="Aptos Display" pitchFamily="34" charset="0"/>
                <a:ea typeface="Aptos Display" pitchFamily="34" charset="-122"/>
                <a:cs typeface="Aptos Display" pitchFamily="34" charset="-120"/>
              </a:rPr>
              <a:t>Cybersecurity</a:t>
            </a:r>
            <a:endParaRPr lang="en-US" sz="3400" dirty="0"/>
          </a:p>
        </p:txBody>
      </p:sp>
      <p:sp>
        <p:nvSpPr>
          <p:cNvPr id="5" name="Text 2"/>
          <p:cNvSpPr/>
          <p:nvPr/>
        </p:nvSpPr>
        <p:spPr>
          <a:xfrm>
            <a:off x="640080" y="2907792"/>
            <a:ext cx="4754880" cy="329184"/>
          </a:xfrm>
          <a:prstGeom prst="rect">
            <a:avLst/>
          </a:prstGeom>
          <a:noFill/>
          <a:ln/>
        </p:spPr>
        <p:txBody>
          <a:bodyPr wrap="square" lIns="0" tIns="0" rIns="0" bIns="0" rtlCol="0" anchor="ctr">
            <a:normAutofit/>
          </a:bodyPr>
          <a:lstStyle/>
          <a:p>
            <a:pPr indent="0" marL="0">
              <a:buNone/>
            </a:pPr>
            <a:r>
              <a:rPr lang="en-US" sz="2100" dirty="0">
                <a:solidFill>
                  <a:srgbClr val="B8D4F0"/>
                </a:solidFill>
                <a:latin typeface="Aptos Display" pitchFamily="34" charset="0"/>
                <a:ea typeface="Aptos Display" pitchFamily="34" charset="-122"/>
                <a:cs typeface="Aptos Display" pitchFamily="34" charset="-120"/>
              </a:rPr>
              <a:t>Patent Landscape Analysis</a:t>
            </a:r>
            <a:endParaRPr lang="en-US" sz="2100" dirty="0"/>
          </a:p>
        </p:txBody>
      </p:sp>
      <p:sp>
        <p:nvSpPr>
          <p:cNvPr id="6" name="Shape 3"/>
          <p:cNvSpPr/>
          <p:nvPr/>
        </p:nvSpPr>
        <p:spPr>
          <a:xfrm>
            <a:off x="640080" y="3401568"/>
            <a:ext cx="3291840" cy="0"/>
          </a:xfrm>
          <a:prstGeom prst="line">
            <a:avLst/>
          </a:prstGeom>
          <a:noFill/>
          <a:ln w="12700">
            <a:solidFill>
              <a:srgbClr val="00A6A6"/>
            </a:solidFill>
            <a:prstDash val="solid"/>
          </a:ln>
        </p:spPr>
      </p:sp>
      <p:sp>
        <p:nvSpPr>
          <p:cNvPr id="7" name="Text 4"/>
          <p:cNvSpPr/>
          <p:nvPr/>
        </p:nvSpPr>
        <p:spPr>
          <a:xfrm>
            <a:off x="640080" y="3703320"/>
            <a:ext cx="4892040" cy="457200"/>
          </a:xfrm>
          <a:prstGeom prst="rect">
            <a:avLst/>
          </a:prstGeom>
          <a:noFill/>
          <a:ln/>
        </p:spPr>
        <p:txBody>
          <a:bodyPr wrap="square" lIns="0" tIns="0" rIns="0" bIns="0" rtlCol="0" anchor="ctr">
            <a:normAutofit/>
          </a:bodyPr>
          <a:lstStyle/>
          <a:p>
            <a:pPr indent="0" marL="0">
              <a:buNone/>
            </a:pPr>
            <a:r>
              <a:rPr lang="en-US" sz="1170" dirty="0">
                <a:solidFill>
                  <a:srgbClr val="E5EEF7"/>
                </a:solidFill>
                <a:latin typeface="Aptos" pitchFamily="34" charset="0"/>
                <a:ea typeface="Aptos" pitchFamily="34" charset="-122"/>
                <a:cs typeface="Aptos" pitchFamily="34" charset="-120"/>
              </a:rPr>
              <a:t>689 patent publication/application records | 22 assignees | 2023-01-05 to 2026-06-18</a:t>
            </a:r>
            <a:endParaRPr lang="en-US" sz="1170" dirty="0"/>
          </a:p>
        </p:txBody>
      </p:sp>
      <p:sp>
        <p:nvSpPr>
          <p:cNvPr id="8" name="Text 5"/>
          <p:cNvSpPr/>
          <p:nvPr/>
        </p:nvSpPr>
        <p:spPr>
          <a:xfrm>
            <a:off x="640080" y="6327648"/>
            <a:ext cx="4983480" cy="201168"/>
          </a:xfrm>
          <a:prstGeom prst="rect">
            <a:avLst/>
          </a:prstGeom>
          <a:noFill/>
          <a:ln/>
        </p:spPr>
        <p:txBody>
          <a:bodyPr wrap="square" lIns="0" tIns="0" rIns="0" bIns="0" rtlCol="0" anchor="ctr">
            <a:normAutofit/>
          </a:bodyPr>
          <a:lstStyle/>
          <a:p>
            <a:pPr indent="0" marL="0">
              <a:buNone/>
            </a:pPr>
            <a:r>
              <a:rPr lang="en-US" sz="850" dirty="0">
                <a:solidFill>
                  <a:srgbClr val="B8C7D9"/>
                </a:solidFill>
                <a:latin typeface="Aptos" pitchFamily="34" charset="0"/>
                <a:ea typeface="Aptos" pitchFamily="34" charset="-122"/>
                <a:cs typeface="Aptos" pitchFamily="34" charset="-120"/>
              </a:rPr>
              <a:t>Built directly from IPCyberPatents2-20260625.xlsx</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Executive snapshot</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Core dimensions verified from the raw workbook before building category and trend pivots.</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685800" y="1188720"/>
            <a:ext cx="2011680" cy="384048"/>
          </a:xfrm>
          <a:prstGeom prst="rect">
            <a:avLst/>
          </a:prstGeom>
          <a:noFill/>
          <a:ln/>
        </p:spPr>
        <p:txBody>
          <a:bodyPr wrap="square" lIns="0" tIns="0" rIns="0" bIns="0" rtlCol="0" anchor="ctr">
            <a:normAutofit/>
          </a:bodyPr>
          <a:lstStyle/>
          <a:p>
            <a:pPr indent="0" marL="0">
              <a:buNone/>
            </a:pPr>
            <a:r>
              <a:rPr lang="en-US" sz="2500" b="1" dirty="0">
                <a:solidFill>
                  <a:srgbClr val="2F5597"/>
                </a:solidFill>
                <a:latin typeface="Aptos Display" pitchFamily="34" charset="0"/>
                <a:ea typeface="Aptos Display" pitchFamily="34" charset="-122"/>
                <a:cs typeface="Aptos Display" pitchFamily="34" charset="-120"/>
              </a:rPr>
              <a:t>689</a:t>
            </a:r>
            <a:endParaRPr lang="en-US" sz="2500" dirty="0"/>
          </a:p>
        </p:txBody>
      </p:sp>
      <p:sp>
        <p:nvSpPr>
          <p:cNvPr id="7" name="Text 5"/>
          <p:cNvSpPr/>
          <p:nvPr/>
        </p:nvSpPr>
        <p:spPr>
          <a:xfrm>
            <a:off x="685800" y="1609344"/>
            <a:ext cx="2011680" cy="210312"/>
          </a:xfrm>
          <a:prstGeom prst="rect">
            <a:avLst/>
          </a:prstGeom>
          <a:noFill/>
          <a:ln/>
        </p:spPr>
        <p:txBody>
          <a:bodyPr wrap="square" lIns="0" tIns="0" rIns="0" bIns="0" rtlCol="0" anchor="ctr">
            <a:normAutofit/>
          </a:bodyPr>
          <a:lstStyle/>
          <a:p>
            <a:pPr indent="0" marL="0">
              <a:buNone/>
            </a:pPr>
            <a:r>
              <a:rPr lang="en-US" sz="1000" b="1" dirty="0">
                <a:solidFill>
                  <a:srgbClr val="1F2937"/>
                </a:solidFill>
                <a:latin typeface="Aptos" pitchFamily="34" charset="0"/>
                <a:ea typeface="Aptos" pitchFamily="34" charset="-122"/>
                <a:cs typeface="Aptos" pitchFamily="34" charset="-120"/>
              </a:rPr>
              <a:t>Total records</a:t>
            </a:r>
            <a:endParaRPr lang="en-US" sz="1000" dirty="0"/>
          </a:p>
        </p:txBody>
      </p:sp>
      <p:sp>
        <p:nvSpPr>
          <p:cNvPr id="8" name="Text 6"/>
          <p:cNvSpPr/>
          <p:nvPr/>
        </p:nvSpPr>
        <p:spPr>
          <a:xfrm>
            <a:off x="685800" y="1847088"/>
            <a:ext cx="2011680" cy="402336"/>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Unique publication numbers in the workbook.</a:t>
            </a:r>
            <a:endParaRPr lang="en-US" sz="850" dirty="0"/>
          </a:p>
        </p:txBody>
      </p:sp>
      <p:sp>
        <p:nvSpPr>
          <p:cNvPr id="9" name="Text 7"/>
          <p:cNvSpPr/>
          <p:nvPr/>
        </p:nvSpPr>
        <p:spPr>
          <a:xfrm>
            <a:off x="2880360" y="1188720"/>
            <a:ext cx="1920240" cy="384048"/>
          </a:xfrm>
          <a:prstGeom prst="rect">
            <a:avLst/>
          </a:prstGeom>
          <a:noFill/>
          <a:ln/>
        </p:spPr>
        <p:txBody>
          <a:bodyPr wrap="square" lIns="0" tIns="0" rIns="0" bIns="0" rtlCol="0" anchor="ctr">
            <a:normAutofit/>
          </a:bodyPr>
          <a:lstStyle/>
          <a:p>
            <a:pPr indent="0" marL="0">
              <a:buNone/>
            </a:pPr>
            <a:r>
              <a:rPr lang="en-US" sz="2500" b="1" dirty="0">
                <a:solidFill>
                  <a:srgbClr val="00A6A6"/>
                </a:solidFill>
                <a:latin typeface="Aptos Display" pitchFamily="34" charset="0"/>
                <a:ea typeface="Aptos Display" pitchFamily="34" charset="-122"/>
                <a:cs typeface="Aptos Display" pitchFamily="34" charset="-120"/>
              </a:rPr>
              <a:t>22</a:t>
            </a:r>
            <a:endParaRPr lang="en-US" sz="2500" dirty="0"/>
          </a:p>
        </p:txBody>
      </p:sp>
      <p:sp>
        <p:nvSpPr>
          <p:cNvPr id="10" name="Text 8"/>
          <p:cNvSpPr/>
          <p:nvPr/>
        </p:nvSpPr>
        <p:spPr>
          <a:xfrm>
            <a:off x="2880360" y="1609344"/>
            <a:ext cx="1920240" cy="210312"/>
          </a:xfrm>
          <a:prstGeom prst="rect">
            <a:avLst/>
          </a:prstGeom>
          <a:noFill/>
          <a:ln/>
        </p:spPr>
        <p:txBody>
          <a:bodyPr wrap="square" lIns="0" tIns="0" rIns="0" bIns="0" rtlCol="0" anchor="ctr">
            <a:normAutofit/>
          </a:bodyPr>
          <a:lstStyle/>
          <a:p>
            <a:pPr indent="0" marL="0">
              <a:buNone/>
            </a:pPr>
            <a:r>
              <a:rPr lang="en-US" sz="1000" b="1" dirty="0">
                <a:solidFill>
                  <a:srgbClr val="1F2937"/>
                </a:solidFill>
                <a:latin typeface="Aptos" pitchFamily="34" charset="0"/>
                <a:ea typeface="Aptos" pitchFamily="34" charset="-122"/>
                <a:cs typeface="Aptos" pitchFamily="34" charset="-120"/>
              </a:rPr>
              <a:t>Assignees</a:t>
            </a:r>
            <a:endParaRPr lang="en-US" sz="1000" dirty="0"/>
          </a:p>
        </p:txBody>
      </p:sp>
      <p:sp>
        <p:nvSpPr>
          <p:cNvPr id="11" name="Text 9"/>
          <p:cNvSpPr/>
          <p:nvPr/>
        </p:nvSpPr>
        <p:spPr>
          <a:xfrm>
            <a:off x="2880360" y="1847088"/>
            <a:ext cx="1920240" cy="402336"/>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Based on Current Assignee First.</a:t>
            </a:r>
            <a:endParaRPr lang="en-US" sz="850" dirty="0"/>
          </a:p>
        </p:txBody>
      </p:sp>
      <p:sp>
        <p:nvSpPr>
          <p:cNvPr id="12" name="Text 10"/>
          <p:cNvSpPr/>
          <p:nvPr/>
        </p:nvSpPr>
        <p:spPr>
          <a:xfrm>
            <a:off x="4983480" y="1188720"/>
            <a:ext cx="1920240" cy="384048"/>
          </a:xfrm>
          <a:prstGeom prst="rect">
            <a:avLst/>
          </a:prstGeom>
          <a:noFill/>
          <a:ln/>
        </p:spPr>
        <p:txBody>
          <a:bodyPr wrap="square" lIns="0" tIns="0" rIns="0" bIns="0" rtlCol="0" anchor="ctr">
            <a:normAutofit/>
          </a:bodyPr>
          <a:lstStyle/>
          <a:p>
            <a:pPr indent="0" marL="0">
              <a:buNone/>
            </a:pPr>
            <a:r>
              <a:rPr lang="en-US" sz="2500" b="1" dirty="0">
                <a:solidFill>
                  <a:srgbClr val="7B61FF"/>
                </a:solidFill>
                <a:latin typeface="Aptos Display" pitchFamily="34" charset="0"/>
                <a:ea typeface="Aptos Display" pitchFamily="34" charset="-122"/>
                <a:cs typeface="Aptos Display" pitchFamily="34" charset="-120"/>
              </a:rPr>
              <a:t>167</a:t>
            </a:r>
            <a:endParaRPr lang="en-US" sz="2500" dirty="0"/>
          </a:p>
        </p:txBody>
      </p:sp>
      <p:sp>
        <p:nvSpPr>
          <p:cNvPr id="13" name="Text 11"/>
          <p:cNvSpPr/>
          <p:nvPr/>
        </p:nvSpPr>
        <p:spPr>
          <a:xfrm>
            <a:off x="4983480" y="1609344"/>
            <a:ext cx="1920240" cy="210312"/>
          </a:xfrm>
          <a:prstGeom prst="rect">
            <a:avLst/>
          </a:prstGeom>
          <a:noFill/>
          <a:ln/>
        </p:spPr>
        <p:txBody>
          <a:bodyPr wrap="square" lIns="0" tIns="0" rIns="0" bIns="0" rtlCol="0" anchor="ctr">
            <a:normAutofit/>
          </a:bodyPr>
          <a:lstStyle/>
          <a:p>
            <a:pPr indent="0" marL="0">
              <a:buNone/>
            </a:pPr>
            <a:r>
              <a:rPr lang="en-US" sz="1000" b="1" dirty="0">
                <a:solidFill>
                  <a:srgbClr val="1F2937"/>
                </a:solidFill>
                <a:latin typeface="Aptos" pitchFamily="34" charset="0"/>
                <a:ea typeface="Aptos" pitchFamily="34" charset="-122"/>
                <a:cs typeface="Aptos" pitchFamily="34" charset="-120"/>
              </a:rPr>
              <a:t>Top assignee</a:t>
            </a:r>
            <a:endParaRPr lang="en-US" sz="1000" dirty="0"/>
          </a:p>
        </p:txBody>
      </p:sp>
      <p:sp>
        <p:nvSpPr>
          <p:cNvPr id="14" name="Text 12"/>
          <p:cNvSpPr/>
          <p:nvPr/>
        </p:nvSpPr>
        <p:spPr>
          <a:xfrm>
            <a:off x="4983480" y="1847088"/>
            <a:ext cx="1920240" cy="402336"/>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Microsoft</a:t>
            </a:r>
            <a:endParaRPr lang="en-US" sz="850" dirty="0"/>
          </a:p>
        </p:txBody>
      </p:sp>
      <p:sp>
        <p:nvSpPr>
          <p:cNvPr id="15" name="Text 13"/>
          <p:cNvSpPr/>
          <p:nvPr/>
        </p:nvSpPr>
        <p:spPr>
          <a:xfrm>
            <a:off x="7086600" y="1188720"/>
            <a:ext cx="1965960" cy="384048"/>
          </a:xfrm>
          <a:prstGeom prst="rect">
            <a:avLst/>
          </a:prstGeom>
          <a:noFill/>
          <a:ln/>
        </p:spPr>
        <p:txBody>
          <a:bodyPr wrap="square" lIns="0" tIns="0" rIns="0" bIns="0" rtlCol="0" anchor="ctr">
            <a:normAutofit/>
          </a:bodyPr>
          <a:lstStyle/>
          <a:p>
            <a:pPr indent="0" marL="0">
              <a:buNone/>
            </a:pPr>
            <a:r>
              <a:rPr lang="en-US" sz="2500" b="1" dirty="0">
                <a:solidFill>
                  <a:srgbClr val="F59E0B"/>
                </a:solidFill>
                <a:latin typeface="Aptos Display" pitchFamily="34" charset="0"/>
                <a:ea typeface="Aptos Display" pitchFamily="34" charset="-122"/>
                <a:cs typeface="Aptos Display" pitchFamily="34" charset="-120"/>
              </a:rPr>
              <a:t>258</a:t>
            </a:r>
            <a:endParaRPr lang="en-US" sz="2500" dirty="0"/>
          </a:p>
        </p:txBody>
      </p:sp>
      <p:sp>
        <p:nvSpPr>
          <p:cNvPr id="16" name="Text 14"/>
          <p:cNvSpPr/>
          <p:nvPr/>
        </p:nvSpPr>
        <p:spPr>
          <a:xfrm>
            <a:off x="7086600" y="1609344"/>
            <a:ext cx="1965960" cy="210312"/>
          </a:xfrm>
          <a:prstGeom prst="rect">
            <a:avLst/>
          </a:prstGeom>
          <a:noFill/>
          <a:ln/>
        </p:spPr>
        <p:txBody>
          <a:bodyPr wrap="square" lIns="0" tIns="0" rIns="0" bIns="0" rtlCol="0" anchor="ctr">
            <a:normAutofit/>
          </a:bodyPr>
          <a:lstStyle/>
          <a:p>
            <a:pPr indent="0" marL="0">
              <a:buNone/>
            </a:pPr>
            <a:r>
              <a:rPr lang="en-US" sz="1000" b="1" dirty="0">
                <a:solidFill>
                  <a:srgbClr val="1F2937"/>
                </a:solidFill>
                <a:latin typeface="Aptos" pitchFamily="34" charset="0"/>
                <a:ea typeface="Aptos" pitchFamily="34" charset="-122"/>
                <a:cs typeface="Aptos" pitchFamily="34" charset="-120"/>
              </a:rPr>
              <a:t>Top category</a:t>
            </a:r>
            <a:endParaRPr lang="en-US" sz="1000" dirty="0"/>
          </a:p>
        </p:txBody>
      </p:sp>
      <p:sp>
        <p:nvSpPr>
          <p:cNvPr id="17" name="Text 15"/>
          <p:cNvSpPr/>
          <p:nvPr/>
        </p:nvSpPr>
        <p:spPr>
          <a:xfrm>
            <a:off x="7086600" y="1847088"/>
            <a:ext cx="1965960" cy="402336"/>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Threat Detection and Response (37.4%)</a:t>
            </a:r>
            <a:endParaRPr lang="en-US" sz="850" dirty="0"/>
          </a:p>
        </p:txBody>
      </p:sp>
      <p:sp>
        <p:nvSpPr>
          <p:cNvPr id="18" name="Text 16"/>
          <p:cNvSpPr/>
          <p:nvPr/>
        </p:nvSpPr>
        <p:spPr>
          <a:xfrm>
            <a:off x="9281160" y="1188720"/>
            <a:ext cx="1828800" cy="384048"/>
          </a:xfrm>
          <a:prstGeom prst="rect">
            <a:avLst/>
          </a:prstGeom>
          <a:noFill/>
          <a:ln/>
        </p:spPr>
        <p:txBody>
          <a:bodyPr wrap="square" lIns="0" tIns="0" rIns="0" bIns="0" rtlCol="0" anchor="ctr">
            <a:normAutofit/>
          </a:bodyPr>
          <a:lstStyle/>
          <a:p>
            <a:pPr indent="0" marL="0">
              <a:buNone/>
            </a:pPr>
            <a:r>
              <a:rPr lang="en-US" sz="2500" b="1" dirty="0">
                <a:solidFill>
                  <a:srgbClr val="16A34A"/>
                </a:solidFill>
                <a:latin typeface="Aptos Display" pitchFamily="34" charset="0"/>
                <a:ea typeface="Aptos Display" pitchFamily="34" charset="-122"/>
                <a:cs typeface="Aptos Display" pitchFamily="34" charset="-120"/>
              </a:rPr>
              <a:t>10</a:t>
            </a:r>
            <a:endParaRPr lang="en-US" sz="2500" dirty="0"/>
          </a:p>
        </p:txBody>
      </p:sp>
      <p:sp>
        <p:nvSpPr>
          <p:cNvPr id="19" name="Text 17"/>
          <p:cNvSpPr/>
          <p:nvPr/>
        </p:nvSpPr>
        <p:spPr>
          <a:xfrm>
            <a:off x="9281160" y="1609344"/>
            <a:ext cx="1828800" cy="210312"/>
          </a:xfrm>
          <a:prstGeom prst="rect">
            <a:avLst/>
          </a:prstGeom>
          <a:noFill/>
          <a:ln/>
        </p:spPr>
        <p:txBody>
          <a:bodyPr wrap="square" lIns="0" tIns="0" rIns="0" bIns="0" rtlCol="0" anchor="ctr">
            <a:normAutofit/>
          </a:bodyPr>
          <a:lstStyle/>
          <a:p>
            <a:pPr indent="0" marL="0">
              <a:buNone/>
            </a:pPr>
            <a:r>
              <a:rPr lang="en-US" sz="1000" b="1" dirty="0">
                <a:solidFill>
                  <a:srgbClr val="1F2937"/>
                </a:solidFill>
                <a:latin typeface="Aptos" pitchFamily="34" charset="0"/>
                <a:ea typeface="Aptos" pitchFamily="34" charset="-122"/>
                <a:cs typeface="Aptos" pitchFamily="34" charset="-120"/>
              </a:rPr>
              <a:t>Country codes</a:t>
            </a:r>
            <a:endParaRPr lang="en-US" sz="1000" dirty="0"/>
          </a:p>
        </p:txBody>
      </p:sp>
      <p:sp>
        <p:nvSpPr>
          <p:cNvPr id="20" name="Text 18"/>
          <p:cNvSpPr/>
          <p:nvPr/>
        </p:nvSpPr>
        <p:spPr>
          <a:xfrm>
            <a:off x="9281160" y="1847088"/>
            <a:ext cx="1828800" cy="402336"/>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Publication country split.</a:t>
            </a:r>
            <a:endParaRPr lang="en-US" sz="850" dirty="0"/>
          </a:p>
        </p:txBody>
      </p:sp>
      <p:graphicFrame>
        <p:nvGraphicFramePr>
          <p:cNvPr id="21" name="Chart 0" descr=""/>
          <p:cNvGraphicFramePr/>
          <p:nvPr/>
        </p:nvGraphicFramePr>
        <p:xfrm>
          <a:off x="685800" y="2788920"/>
          <a:ext cx="4983480" cy="315468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6080760" y="2852928"/>
            <a:ext cx="4800600" cy="201168"/>
          </a:xfrm>
          <a:prstGeom prst="rect">
            <a:avLst/>
          </a:prstGeom>
          <a:noFill/>
          <a:ln/>
        </p:spPr>
        <p:txBody>
          <a:bodyPr wrap="square" lIns="0" tIns="0" rIns="0" bIns="0" rtlCol="0" anchor="ctr">
            <a:normAutofit/>
          </a:bodyPr>
          <a:lstStyle/>
          <a:p>
            <a:pPr indent="0" marL="0">
              <a:buNone/>
            </a:pPr>
            <a:r>
              <a:rPr lang="en-US" sz="1050" b="1" dirty="0">
                <a:solidFill>
                  <a:srgbClr val="17324D"/>
                </a:solidFill>
                <a:latin typeface="Aptos" pitchFamily="34" charset="0"/>
                <a:ea typeface="Aptos" pitchFamily="34" charset="-122"/>
                <a:cs typeface="Aptos" pitchFamily="34" charset="-120"/>
              </a:rPr>
              <a:t>Data correctness safeguards</a:t>
            </a:r>
            <a:endParaRPr lang="en-US" sz="1050" dirty="0"/>
          </a:p>
        </p:txBody>
      </p:sp>
      <p:sp>
        <p:nvSpPr>
          <p:cNvPr id="23" name="Shape 20"/>
          <p:cNvSpPr/>
          <p:nvPr/>
        </p:nvSpPr>
        <p:spPr>
          <a:xfrm>
            <a:off x="6080760" y="3108960"/>
            <a:ext cx="4800600" cy="0"/>
          </a:xfrm>
          <a:prstGeom prst="line">
            <a:avLst/>
          </a:prstGeom>
          <a:noFill/>
          <a:ln w="12700">
            <a:solidFill>
              <a:srgbClr val="17324D"/>
            </a:solidFill>
            <a:prstDash val="solid"/>
          </a:ln>
        </p:spPr>
      </p:sp>
      <p:sp>
        <p:nvSpPr>
          <p:cNvPr id="24" name="Text 21"/>
          <p:cNvSpPr/>
          <p:nvPr/>
        </p:nvSpPr>
        <p:spPr>
          <a:xfrm>
            <a:off x="6080760" y="3246120"/>
            <a:ext cx="5074920" cy="777240"/>
          </a:xfrm>
          <a:prstGeom prst="rect">
            <a:avLst/>
          </a:prstGeom>
          <a:solidFill>
            <a:srgbClr val="EAF3F8"/>
          </a:solidFill>
          <a:ln>
            <a:solidFill>
              <a:srgbClr val="EAF3F8"/>
            </a:solidFill>
          </a:ln>
        </p:spPr>
        <p:txBody>
          <a:bodyPr wrap="square" lIns="1397" tIns="1397" rIns="1397" bIns="1397"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The deck does not invent patent records. Every chart is generated from source columns in CyberPatents2: publication number, dates, assignee, CPC/IPC, title, abstract and first claim.</a:t>
            </a:r>
            <a:endParaRPr lang="en-US" sz="1050" dirty="0"/>
          </a:p>
        </p:txBody>
      </p:sp>
      <p:sp>
        <p:nvSpPr>
          <p:cNvPr id="25" name="Text 22"/>
          <p:cNvSpPr/>
          <p:nvPr/>
        </p:nvSpPr>
        <p:spPr>
          <a:xfrm>
            <a:off x="6080760" y="4279392"/>
            <a:ext cx="5074920" cy="731520"/>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1040" dirty="0">
                <a:solidFill>
                  <a:srgbClr val="1F2937"/>
                </a:solidFill>
                <a:latin typeface="Aptos" pitchFamily="34" charset="0"/>
                <a:ea typeface="Aptos" pitchFamily="34" charset="-122"/>
                <a:cs typeface="Aptos" pitchFamily="34" charset="-120"/>
              </a:rPr>
              <a:t>Category counts are primary-category counts; problem counts are non-exclusive theme mentions. 2026 and recent filing years are partial/lagged.</a:t>
            </a:r>
            <a:endParaRPr lang="en-US" sz="1040" dirty="0"/>
          </a:p>
        </p:txBody>
      </p:sp>
      <p:sp>
        <p:nvSpPr>
          <p:cNvPr id="26" name="Text 23"/>
          <p:cNvSpPr/>
          <p:nvPr/>
        </p:nvSpPr>
        <p:spPr>
          <a:xfrm>
            <a:off x="6080760" y="5285232"/>
            <a:ext cx="5074920" cy="502920"/>
          </a:xfrm>
          <a:prstGeom prst="rect">
            <a:avLst/>
          </a:prstGeom>
          <a:solidFill>
            <a:srgbClr val="E8F5E9"/>
          </a:solidFill>
          <a:ln>
            <a:solidFill>
              <a:srgbClr val="E8F5E9"/>
            </a:solidFill>
          </a:ln>
        </p:spPr>
        <p:txBody>
          <a:bodyPr wrap="square" lIns="1397" tIns="1397" rIns="1397" bIns="1397" rtlCol="0" anchor="ctr">
            <a:normAutofit/>
          </a:bodyPr>
          <a:lstStyle/>
          <a:p>
            <a:pPr indent="0" marL="0">
              <a:buNone/>
            </a:pPr>
            <a:r>
              <a:rPr lang="en-US" sz="1080" dirty="0">
                <a:solidFill>
                  <a:srgbClr val="1F2937"/>
                </a:solidFill>
                <a:latin typeface="Aptos" pitchFamily="34" charset="0"/>
                <a:ea typeface="Aptos" pitchFamily="34" charset="-122"/>
                <a:cs typeface="Aptos" pitchFamily="34" charset="-120"/>
              </a:rPr>
              <a:t>Top four assignees account for 75.0% of the dataset.</a:t>
            </a:r>
            <a:endParaRPr lang="en-US" sz="10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Scope and methodology</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Transparent counting and categorization rules used for this patent landscape.</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594360" y="1143000"/>
            <a:ext cx="1554480"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Step</a:t>
            </a:r>
            <a:endParaRPr lang="en-US" sz="880" dirty="0"/>
          </a:p>
        </p:txBody>
      </p:sp>
      <p:sp>
        <p:nvSpPr>
          <p:cNvPr id="7" name="Text 5"/>
          <p:cNvSpPr/>
          <p:nvPr/>
        </p:nvSpPr>
        <p:spPr>
          <a:xfrm>
            <a:off x="2148840" y="1143000"/>
            <a:ext cx="4572000"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Treatment</a:t>
            </a:r>
            <a:endParaRPr lang="en-US" sz="880" dirty="0"/>
          </a:p>
        </p:txBody>
      </p:sp>
      <p:sp>
        <p:nvSpPr>
          <p:cNvPr id="8" name="Text 6"/>
          <p:cNvSpPr/>
          <p:nvPr/>
        </p:nvSpPr>
        <p:spPr>
          <a:xfrm>
            <a:off x="6720840" y="1143000"/>
            <a:ext cx="4892040"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Why it matters</a:t>
            </a:r>
            <a:endParaRPr lang="en-US" sz="880" dirty="0"/>
          </a:p>
        </p:txBody>
      </p:sp>
      <p:sp>
        <p:nvSpPr>
          <p:cNvPr id="9" name="Text 7"/>
          <p:cNvSpPr/>
          <p:nvPr/>
        </p:nvSpPr>
        <p:spPr>
          <a:xfrm>
            <a:off x="594360" y="1527048"/>
            <a:ext cx="1554480" cy="69494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1. Read raw table</a:t>
            </a:r>
            <a:endParaRPr lang="en-US" sz="880" dirty="0"/>
          </a:p>
        </p:txBody>
      </p:sp>
      <p:sp>
        <p:nvSpPr>
          <p:cNvPr id="10" name="Text 8"/>
          <p:cNvSpPr/>
          <p:nvPr/>
        </p:nvSpPr>
        <p:spPr>
          <a:xfrm>
            <a:off x="2148840" y="1527048"/>
            <a:ext cx="4572000" cy="69494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CyberPatents2 sheet; 689 rows and 18 source fields.</a:t>
            </a:r>
            <a:endParaRPr lang="en-US" sz="880" dirty="0"/>
          </a:p>
        </p:txBody>
      </p:sp>
      <p:sp>
        <p:nvSpPr>
          <p:cNvPr id="11" name="Text 9"/>
          <p:cNvSpPr/>
          <p:nvPr/>
        </p:nvSpPr>
        <p:spPr>
          <a:xfrm>
            <a:off x="6720840" y="1527048"/>
            <a:ext cx="4892040" cy="69494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Keeps all source patent identifiers, dates, assignees, claims and classification fields traceable.</a:t>
            </a:r>
            <a:endParaRPr lang="en-US" sz="880" dirty="0"/>
          </a:p>
        </p:txBody>
      </p:sp>
      <p:sp>
        <p:nvSpPr>
          <p:cNvPr id="12" name="Text 10"/>
          <p:cNvSpPr/>
          <p:nvPr/>
        </p:nvSpPr>
        <p:spPr>
          <a:xfrm>
            <a:off x="594360" y="2221992"/>
            <a:ext cx="1554480" cy="69494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2. Count records</a:t>
            </a:r>
            <a:endParaRPr lang="en-US" sz="880" dirty="0"/>
          </a:p>
        </p:txBody>
      </p:sp>
      <p:sp>
        <p:nvSpPr>
          <p:cNvPr id="13" name="Text 11"/>
          <p:cNvSpPr/>
          <p:nvPr/>
        </p:nvSpPr>
        <p:spPr>
          <a:xfrm>
            <a:off x="2148840" y="2221992"/>
            <a:ext cx="4572000" cy="69494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One row = one patent publication/application record.</a:t>
            </a:r>
            <a:endParaRPr lang="en-US" sz="880" dirty="0"/>
          </a:p>
        </p:txBody>
      </p:sp>
      <p:sp>
        <p:nvSpPr>
          <p:cNvPr id="14" name="Text 12"/>
          <p:cNvSpPr/>
          <p:nvPr/>
        </p:nvSpPr>
        <p:spPr>
          <a:xfrm>
            <a:off x="6720840" y="2221992"/>
            <a:ext cx="4892040" cy="69494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No family deduplication was applied because no patent-family field was supplied.</a:t>
            </a:r>
            <a:endParaRPr lang="en-US" sz="880" dirty="0"/>
          </a:p>
        </p:txBody>
      </p:sp>
      <p:sp>
        <p:nvSpPr>
          <p:cNvPr id="15" name="Text 13"/>
          <p:cNvSpPr/>
          <p:nvPr/>
        </p:nvSpPr>
        <p:spPr>
          <a:xfrm>
            <a:off x="594360" y="2916936"/>
            <a:ext cx="1554480" cy="69494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3. Normalize years</a:t>
            </a:r>
            <a:endParaRPr lang="en-US" sz="880" dirty="0"/>
          </a:p>
        </p:txBody>
      </p:sp>
      <p:sp>
        <p:nvSpPr>
          <p:cNvPr id="16" name="Text 14"/>
          <p:cNvSpPr/>
          <p:nvPr/>
        </p:nvSpPr>
        <p:spPr>
          <a:xfrm>
            <a:off x="2148840" y="2916936"/>
            <a:ext cx="4572000" cy="69494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Publication year from Publication Date; filing year from Application Date.</a:t>
            </a:r>
            <a:endParaRPr lang="en-US" sz="880" dirty="0"/>
          </a:p>
        </p:txBody>
      </p:sp>
      <p:sp>
        <p:nvSpPr>
          <p:cNvPr id="17" name="Text 15"/>
          <p:cNvSpPr/>
          <p:nvPr/>
        </p:nvSpPr>
        <p:spPr>
          <a:xfrm>
            <a:off x="6720840" y="2916936"/>
            <a:ext cx="4892040" cy="69494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Avoids mixing publication timing with filing activity.</a:t>
            </a:r>
            <a:endParaRPr lang="en-US" sz="880" dirty="0"/>
          </a:p>
        </p:txBody>
      </p:sp>
      <p:sp>
        <p:nvSpPr>
          <p:cNvPr id="18" name="Text 16"/>
          <p:cNvSpPr/>
          <p:nvPr/>
        </p:nvSpPr>
        <p:spPr>
          <a:xfrm>
            <a:off x="594360" y="3611880"/>
            <a:ext cx="1554480" cy="78638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4. Assign primary category</a:t>
            </a:r>
            <a:endParaRPr lang="en-US" sz="880" dirty="0"/>
          </a:p>
        </p:txBody>
      </p:sp>
      <p:sp>
        <p:nvSpPr>
          <p:cNvPr id="19" name="Text 17"/>
          <p:cNvSpPr/>
          <p:nvPr/>
        </p:nvSpPr>
        <p:spPr>
          <a:xfrm>
            <a:off x="2148840" y="3611880"/>
            <a:ext cx="4572000" cy="78638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Keyword + CPC/IPC-assisted scoring on title, abstract and first claim.</a:t>
            </a:r>
            <a:endParaRPr lang="en-US" sz="880" dirty="0"/>
          </a:p>
        </p:txBody>
      </p:sp>
      <p:sp>
        <p:nvSpPr>
          <p:cNvPr id="20" name="Text 18"/>
          <p:cNvSpPr/>
          <p:nvPr/>
        </p:nvSpPr>
        <p:spPr>
          <a:xfrm>
            <a:off x="6720840" y="3611880"/>
            <a:ext cx="4892040" cy="78638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Each record receives one primary category; evidence/confidence is retained in the workbook.</a:t>
            </a:r>
            <a:endParaRPr lang="en-US" sz="880" dirty="0"/>
          </a:p>
        </p:txBody>
      </p:sp>
      <p:sp>
        <p:nvSpPr>
          <p:cNvPr id="21" name="Text 19"/>
          <p:cNvSpPr/>
          <p:nvPr/>
        </p:nvSpPr>
        <p:spPr>
          <a:xfrm>
            <a:off x="594360" y="4398264"/>
            <a:ext cx="1554480" cy="69494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5. Select important patents</a:t>
            </a:r>
            <a:endParaRPr lang="en-US" sz="880" dirty="0"/>
          </a:p>
        </p:txBody>
      </p:sp>
      <p:sp>
        <p:nvSpPr>
          <p:cNvPr id="22" name="Text 20"/>
          <p:cNvSpPr/>
          <p:nvPr/>
        </p:nvSpPr>
        <p:spPr>
          <a:xfrm>
            <a:off x="2148840" y="4398264"/>
            <a:ext cx="4572000" cy="69494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Top two per category by Citing Patent Count, with Cited Patent Count as secondary signal.</a:t>
            </a:r>
            <a:endParaRPr lang="en-US" sz="880" dirty="0"/>
          </a:p>
        </p:txBody>
      </p:sp>
      <p:sp>
        <p:nvSpPr>
          <p:cNvPr id="23" name="Text 21"/>
          <p:cNvSpPr/>
          <p:nvPr/>
        </p:nvSpPr>
        <p:spPr>
          <a:xfrm>
            <a:off x="6720840" y="4398264"/>
            <a:ext cx="4892040" cy="69494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Prevents arbitrary example selection while preserving an auditable basis.</a:t>
            </a:r>
            <a:endParaRPr lang="en-US" sz="880" dirty="0"/>
          </a:p>
        </p:txBody>
      </p:sp>
      <p:sp>
        <p:nvSpPr>
          <p:cNvPr id="24" name="Text 22"/>
          <p:cNvSpPr/>
          <p:nvPr/>
        </p:nvSpPr>
        <p:spPr>
          <a:xfrm>
            <a:off x="868680" y="5715000"/>
            <a:ext cx="10515600" cy="475488"/>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1020" dirty="0">
                <a:solidFill>
                  <a:srgbClr val="1F2937"/>
                </a:solidFill>
                <a:latin typeface="Aptos" pitchFamily="34" charset="0"/>
                <a:ea typeface="Aptos" pitchFamily="34" charset="-122"/>
                <a:cs typeface="Aptos" pitchFamily="34" charset="-120"/>
              </a:rPr>
              <a:t>Date coverage: publication dates 2023-01-05 to 2026-06-18; application dates 2016-05-04 to 2026-01-26.</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Introduce AI-driven cybersecurity</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AI-driven cybersecurity uses models to convert security telemetry into prioritized actions, not merely static rules.</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pic>
        <p:nvPicPr>
          <p:cNvPr id="6" name="Image 0" descr="/mnt/data/cyber_images/ai_shield.jpg">    </p:cNvPr>
          <p:cNvPicPr>
            <a:picLocks noChangeAspect="1"/>
          </p:cNvPicPr>
          <p:nvPr/>
        </p:nvPicPr>
        <p:blipFill>
          <a:blip r:embed="rId1"/>
          <a:srcRect l="0" r="0" t="0" b="0"/>
          <a:stretch/>
        </p:blipFill>
        <p:spPr>
          <a:xfrm>
            <a:off x="8732520" y="1234440"/>
            <a:ext cx="2651760" cy="2651760"/>
          </a:xfrm>
          <a:prstGeom prst="rect">
            <a:avLst/>
          </a:prstGeom>
        </p:spPr>
      </p:pic>
      <p:sp>
        <p:nvSpPr>
          <p:cNvPr id="7" name="Text 4"/>
          <p:cNvSpPr/>
          <p:nvPr/>
        </p:nvSpPr>
        <p:spPr>
          <a:xfrm>
            <a:off x="685800" y="1234440"/>
            <a:ext cx="6217920" cy="201168"/>
          </a:xfrm>
          <a:prstGeom prst="rect">
            <a:avLst/>
          </a:prstGeom>
          <a:noFill/>
          <a:ln/>
        </p:spPr>
        <p:txBody>
          <a:bodyPr wrap="square" lIns="0" tIns="0" rIns="0" bIns="0" rtlCol="0" anchor="ctr">
            <a:normAutofit/>
          </a:bodyPr>
          <a:lstStyle/>
          <a:p>
            <a:pPr indent="0" marL="0">
              <a:buNone/>
            </a:pPr>
            <a:r>
              <a:rPr lang="en-US" sz="1050" b="1" dirty="0">
                <a:solidFill>
                  <a:srgbClr val="17324D"/>
                </a:solidFill>
                <a:latin typeface="Aptos" pitchFamily="34" charset="0"/>
                <a:ea typeface="Aptos" pitchFamily="34" charset="-122"/>
                <a:cs typeface="Aptos" pitchFamily="34" charset="-120"/>
              </a:rPr>
              <a:t>Operational pattern</a:t>
            </a:r>
            <a:endParaRPr lang="en-US" sz="1050" dirty="0"/>
          </a:p>
        </p:txBody>
      </p:sp>
      <p:sp>
        <p:nvSpPr>
          <p:cNvPr id="8" name="Shape 5"/>
          <p:cNvSpPr/>
          <p:nvPr/>
        </p:nvSpPr>
        <p:spPr>
          <a:xfrm>
            <a:off x="685800" y="1490472"/>
            <a:ext cx="6217920" cy="0"/>
          </a:xfrm>
          <a:prstGeom prst="line">
            <a:avLst/>
          </a:prstGeom>
          <a:noFill/>
          <a:ln w="12700">
            <a:solidFill>
              <a:srgbClr val="17324D"/>
            </a:solidFill>
            <a:prstDash val="solid"/>
          </a:ln>
        </p:spPr>
      </p:sp>
      <p:sp>
        <p:nvSpPr>
          <p:cNvPr id="9" name="Shape 6"/>
          <p:cNvSpPr/>
          <p:nvPr/>
        </p:nvSpPr>
        <p:spPr>
          <a:xfrm>
            <a:off x="2103120" y="2468880"/>
            <a:ext cx="685800" cy="0"/>
          </a:xfrm>
          <a:prstGeom prst="line">
            <a:avLst/>
          </a:prstGeom>
          <a:noFill/>
          <a:ln w="12700">
            <a:solidFill>
              <a:srgbClr val="64748B"/>
            </a:solidFill>
            <a:prstDash val="solid"/>
            <a:tailEnd type="triangle"/>
          </a:ln>
        </p:spPr>
      </p:sp>
      <p:sp>
        <p:nvSpPr>
          <p:cNvPr id="10" name="Shape 7"/>
          <p:cNvSpPr/>
          <p:nvPr/>
        </p:nvSpPr>
        <p:spPr>
          <a:xfrm>
            <a:off x="3886200" y="2468880"/>
            <a:ext cx="685800" cy="0"/>
          </a:xfrm>
          <a:prstGeom prst="line">
            <a:avLst/>
          </a:prstGeom>
          <a:noFill/>
          <a:ln w="12700">
            <a:solidFill>
              <a:srgbClr val="64748B"/>
            </a:solidFill>
            <a:prstDash val="solid"/>
            <a:tailEnd type="triangle"/>
          </a:ln>
        </p:spPr>
      </p:sp>
      <p:sp>
        <p:nvSpPr>
          <p:cNvPr id="11" name="Shape 8"/>
          <p:cNvSpPr/>
          <p:nvPr/>
        </p:nvSpPr>
        <p:spPr>
          <a:xfrm>
            <a:off x="5669280" y="2468880"/>
            <a:ext cx="685800" cy="0"/>
          </a:xfrm>
          <a:prstGeom prst="line">
            <a:avLst/>
          </a:prstGeom>
          <a:noFill/>
          <a:ln w="12700">
            <a:solidFill>
              <a:srgbClr val="64748B"/>
            </a:solidFill>
            <a:prstDash val="solid"/>
            <a:tailEnd type="triangle"/>
          </a:ln>
        </p:spPr>
      </p:sp>
      <p:sp>
        <p:nvSpPr>
          <p:cNvPr id="12" name="Shape 9"/>
          <p:cNvSpPr/>
          <p:nvPr/>
        </p:nvSpPr>
        <p:spPr>
          <a:xfrm>
            <a:off x="685800" y="2057400"/>
            <a:ext cx="1508760" cy="960120"/>
          </a:xfrm>
          <a:prstGeom prst="roundRect">
            <a:avLst>
              <a:gd name="adj" fmla="val 8571"/>
            </a:avLst>
          </a:prstGeom>
          <a:solidFill>
            <a:srgbClr val="FFFFFF"/>
          </a:solidFill>
          <a:ln w="12700">
            <a:solidFill>
              <a:srgbClr val="2F5597"/>
            </a:solidFill>
            <a:prstDash val="solid"/>
          </a:ln>
        </p:spPr>
      </p:sp>
      <p:sp>
        <p:nvSpPr>
          <p:cNvPr id="13" name="Text 10"/>
          <p:cNvSpPr/>
          <p:nvPr/>
        </p:nvSpPr>
        <p:spPr>
          <a:xfrm>
            <a:off x="795528" y="2167128"/>
            <a:ext cx="1280160" cy="219456"/>
          </a:xfrm>
          <a:prstGeom prst="rect">
            <a:avLst/>
          </a:prstGeom>
          <a:noFill/>
          <a:ln/>
        </p:spPr>
        <p:txBody>
          <a:bodyPr wrap="square" lIns="0" tIns="0" rIns="0" bIns="0" rtlCol="0" anchor="ctr">
            <a:normAutofit/>
          </a:bodyPr>
          <a:lstStyle/>
          <a:p>
            <a:pPr indent="0" marL="0">
              <a:buNone/>
            </a:pPr>
            <a:r>
              <a:rPr lang="en-US" sz="1150" b="1" dirty="0">
                <a:solidFill>
                  <a:srgbClr val="2F5597"/>
                </a:solidFill>
                <a:latin typeface="Aptos" pitchFamily="34" charset="0"/>
                <a:ea typeface="Aptos" pitchFamily="34" charset="-122"/>
                <a:cs typeface="Aptos" pitchFamily="34" charset="-120"/>
              </a:rPr>
              <a:t>Telemetry</a:t>
            </a:r>
            <a:endParaRPr lang="en-US" sz="1150" dirty="0"/>
          </a:p>
        </p:txBody>
      </p:sp>
      <p:sp>
        <p:nvSpPr>
          <p:cNvPr id="14" name="Text 11"/>
          <p:cNvSpPr/>
          <p:nvPr/>
        </p:nvSpPr>
        <p:spPr>
          <a:xfrm>
            <a:off x="795528" y="2441448"/>
            <a:ext cx="1298448" cy="438912"/>
          </a:xfrm>
          <a:prstGeom prst="rect">
            <a:avLst/>
          </a:prstGeom>
          <a:noFill/>
          <a:ln/>
        </p:spPr>
        <p:txBody>
          <a:bodyPr wrap="square" lIns="0" tIns="0" rIns="0" bIns="0" rtlCol="0" anchor="ctr">
            <a:normAutofit/>
          </a:bodyPr>
          <a:lstStyle/>
          <a:p>
            <a:pPr indent="0" marL="0">
              <a:buNone/>
            </a:pPr>
            <a:r>
              <a:rPr lang="en-US" sz="770" dirty="0">
                <a:solidFill>
                  <a:srgbClr val="1F2937"/>
                </a:solidFill>
                <a:latin typeface="Aptos" pitchFamily="34" charset="0"/>
                <a:ea typeface="Aptos" pitchFamily="34" charset="-122"/>
                <a:cs typeface="Aptos" pitchFamily="34" charset="-120"/>
              </a:rPr>
              <a:t>alerts, logs, traffic, identity, code, posture</a:t>
            </a:r>
            <a:endParaRPr lang="en-US" sz="770" dirty="0"/>
          </a:p>
        </p:txBody>
      </p:sp>
      <p:sp>
        <p:nvSpPr>
          <p:cNvPr id="15" name="Shape 12"/>
          <p:cNvSpPr/>
          <p:nvPr/>
        </p:nvSpPr>
        <p:spPr>
          <a:xfrm>
            <a:off x="2697480" y="2057400"/>
            <a:ext cx="1508760" cy="960120"/>
          </a:xfrm>
          <a:prstGeom prst="roundRect">
            <a:avLst>
              <a:gd name="adj" fmla="val 8571"/>
            </a:avLst>
          </a:prstGeom>
          <a:solidFill>
            <a:srgbClr val="FFFFFF"/>
          </a:solidFill>
          <a:ln w="12700">
            <a:solidFill>
              <a:srgbClr val="7B61FF"/>
            </a:solidFill>
            <a:prstDash val="solid"/>
          </a:ln>
        </p:spPr>
      </p:sp>
      <p:sp>
        <p:nvSpPr>
          <p:cNvPr id="16" name="Text 13"/>
          <p:cNvSpPr/>
          <p:nvPr/>
        </p:nvSpPr>
        <p:spPr>
          <a:xfrm>
            <a:off x="2807208" y="2167128"/>
            <a:ext cx="1280160" cy="219456"/>
          </a:xfrm>
          <a:prstGeom prst="rect">
            <a:avLst/>
          </a:prstGeom>
          <a:noFill/>
          <a:ln/>
        </p:spPr>
        <p:txBody>
          <a:bodyPr wrap="square" lIns="0" tIns="0" rIns="0" bIns="0" rtlCol="0" anchor="ctr">
            <a:normAutofit/>
          </a:bodyPr>
          <a:lstStyle/>
          <a:p>
            <a:pPr indent="0" marL="0">
              <a:buNone/>
            </a:pPr>
            <a:r>
              <a:rPr lang="en-US" sz="1150" b="1" dirty="0">
                <a:solidFill>
                  <a:srgbClr val="7B61FF"/>
                </a:solidFill>
                <a:latin typeface="Aptos" pitchFamily="34" charset="0"/>
                <a:ea typeface="Aptos" pitchFamily="34" charset="-122"/>
                <a:cs typeface="Aptos" pitchFamily="34" charset="-120"/>
              </a:rPr>
              <a:t>Model</a:t>
            </a:r>
            <a:endParaRPr lang="en-US" sz="1150" dirty="0"/>
          </a:p>
        </p:txBody>
      </p:sp>
      <p:sp>
        <p:nvSpPr>
          <p:cNvPr id="17" name="Text 14"/>
          <p:cNvSpPr/>
          <p:nvPr/>
        </p:nvSpPr>
        <p:spPr>
          <a:xfrm>
            <a:off x="2807208" y="2441448"/>
            <a:ext cx="1298448" cy="438912"/>
          </a:xfrm>
          <a:prstGeom prst="rect">
            <a:avLst/>
          </a:prstGeom>
          <a:noFill/>
          <a:ln/>
        </p:spPr>
        <p:txBody>
          <a:bodyPr wrap="square" lIns="0" tIns="0" rIns="0" bIns="0" rtlCol="0" anchor="ctr">
            <a:normAutofit/>
          </a:bodyPr>
          <a:lstStyle/>
          <a:p>
            <a:pPr indent="0" marL="0">
              <a:buNone/>
            </a:pPr>
            <a:r>
              <a:rPr lang="en-US" sz="770" dirty="0">
                <a:solidFill>
                  <a:srgbClr val="1F2937"/>
                </a:solidFill>
                <a:latin typeface="Aptos" pitchFamily="34" charset="0"/>
                <a:ea typeface="Aptos" pitchFamily="34" charset="-122"/>
                <a:cs typeface="Aptos" pitchFamily="34" charset="-120"/>
              </a:rPr>
              <a:t>ML, anomaly detection, embeddings, graphs, LLMs</a:t>
            </a:r>
            <a:endParaRPr lang="en-US" sz="770" dirty="0"/>
          </a:p>
        </p:txBody>
      </p:sp>
      <p:sp>
        <p:nvSpPr>
          <p:cNvPr id="18" name="Shape 15"/>
          <p:cNvSpPr/>
          <p:nvPr/>
        </p:nvSpPr>
        <p:spPr>
          <a:xfrm>
            <a:off x="4709160" y="2057400"/>
            <a:ext cx="1508760" cy="960120"/>
          </a:xfrm>
          <a:prstGeom prst="roundRect">
            <a:avLst>
              <a:gd name="adj" fmla="val 8571"/>
            </a:avLst>
          </a:prstGeom>
          <a:solidFill>
            <a:srgbClr val="FFFFFF"/>
          </a:solidFill>
          <a:ln w="12700">
            <a:solidFill>
              <a:srgbClr val="00A6A6"/>
            </a:solidFill>
            <a:prstDash val="solid"/>
          </a:ln>
        </p:spPr>
      </p:sp>
      <p:sp>
        <p:nvSpPr>
          <p:cNvPr id="19" name="Text 16"/>
          <p:cNvSpPr/>
          <p:nvPr/>
        </p:nvSpPr>
        <p:spPr>
          <a:xfrm>
            <a:off x="4818888" y="2167128"/>
            <a:ext cx="1280160" cy="219456"/>
          </a:xfrm>
          <a:prstGeom prst="rect">
            <a:avLst/>
          </a:prstGeom>
          <a:noFill/>
          <a:ln/>
        </p:spPr>
        <p:txBody>
          <a:bodyPr wrap="square" lIns="0" tIns="0" rIns="0" bIns="0" rtlCol="0" anchor="ctr">
            <a:normAutofit/>
          </a:bodyPr>
          <a:lstStyle/>
          <a:p>
            <a:pPr indent="0" marL="0">
              <a:buNone/>
            </a:pPr>
            <a:r>
              <a:rPr lang="en-US" sz="1150" b="1" dirty="0">
                <a:solidFill>
                  <a:srgbClr val="00A6A6"/>
                </a:solidFill>
                <a:latin typeface="Aptos" pitchFamily="34" charset="0"/>
                <a:ea typeface="Aptos" pitchFamily="34" charset="-122"/>
                <a:cs typeface="Aptos" pitchFamily="34" charset="-120"/>
              </a:rPr>
              <a:t>Decision</a:t>
            </a:r>
            <a:endParaRPr lang="en-US" sz="1150" dirty="0"/>
          </a:p>
        </p:txBody>
      </p:sp>
      <p:sp>
        <p:nvSpPr>
          <p:cNvPr id="20" name="Text 17"/>
          <p:cNvSpPr/>
          <p:nvPr/>
        </p:nvSpPr>
        <p:spPr>
          <a:xfrm>
            <a:off x="4818888" y="2441448"/>
            <a:ext cx="1298448" cy="438912"/>
          </a:xfrm>
          <a:prstGeom prst="rect">
            <a:avLst/>
          </a:prstGeom>
          <a:noFill/>
          <a:ln/>
        </p:spPr>
        <p:txBody>
          <a:bodyPr wrap="square" lIns="0" tIns="0" rIns="0" bIns="0" rtlCol="0" anchor="ctr">
            <a:normAutofit/>
          </a:bodyPr>
          <a:lstStyle/>
          <a:p>
            <a:pPr indent="0" marL="0">
              <a:buNone/>
            </a:pPr>
            <a:r>
              <a:rPr lang="en-US" sz="770" dirty="0">
                <a:solidFill>
                  <a:srgbClr val="1F2937"/>
                </a:solidFill>
                <a:latin typeface="Aptos" pitchFamily="34" charset="0"/>
                <a:ea typeface="Aptos" pitchFamily="34" charset="-122"/>
                <a:cs typeface="Aptos" pitchFamily="34" charset="-120"/>
              </a:rPr>
              <a:t>risk score, detection, response, access control</a:t>
            </a:r>
            <a:endParaRPr lang="en-US" sz="770" dirty="0"/>
          </a:p>
        </p:txBody>
      </p:sp>
      <p:sp>
        <p:nvSpPr>
          <p:cNvPr id="21" name="Shape 18"/>
          <p:cNvSpPr/>
          <p:nvPr/>
        </p:nvSpPr>
        <p:spPr>
          <a:xfrm>
            <a:off x="6720840" y="2057400"/>
            <a:ext cx="1508760" cy="960120"/>
          </a:xfrm>
          <a:prstGeom prst="roundRect">
            <a:avLst>
              <a:gd name="adj" fmla="val 8571"/>
            </a:avLst>
          </a:prstGeom>
          <a:solidFill>
            <a:srgbClr val="FFFFFF"/>
          </a:solidFill>
          <a:ln w="12700">
            <a:solidFill>
              <a:srgbClr val="F59E0B"/>
            </a:solidFill>
            <a:prstDash val="solid"/>
          </a:ln>
        </p:spPr>
      </p:sp>
      <p:sp>
        <p:nvSpPr>
          <p:cNvPr id="22" name="Text 19"/>
          <p:cNvSpPr/>
          <p:nvPr/>
        </p:nvSpPr>
        <p:spPr>
          <a:xfrm>
            <a:off x="6830568" y="2167128"/>
            <a:ext cx="1280160" cy="219456"/>
          </a:xfrm>
          <a:prstGeom prst="rect">
            <a:avLst/>
          </a:prstGeom>
          <a:noFill/>
          <a:ln/>
        </p:spPr>
        <p:txBody>
          <a:bodyPr wrap="square" lIns="0" tIns="0" rIns="0" bIns="0" rtlCol="0" anchor="ctr">
            <a:normAutofit/>
          </a:bodyPr>
          <a:lstStyle/>
          <a:p>
            <a:pPr indent="0" marL="0">
              <a:buNone/>
            </a:pPr>
            <a:r>
              <a:rPr lang="en-US" sz="1150" b="1" dirty="0">
                <a:solidFill>
                  <a:srgbClr val="F59E0B"/>
                </a:solidFill>
                <a:latin typeface="Aptos" pitchFamily="34" charset="0"/>
                <a:ea typeface="Aptos" pitchFamily="34" charset="-122"/>
                <a:cs typeface="Aptos" pitchFamily="34" charset="-120"/>
              </a:rPr>
              <a:t>Feedback</a:t>
            </a:r>
            <a:endParaRPr lang="en-US" sz="1150" dirty="0"/>
          </a:p>
        </p:txBody>
      </p:sp>
      <p:sp>
        <p:nvSpPr>
          <p:cNvPr id="23" name="Text 20"/>
          <p:cNvSpPr/>
          <p:nvPr/>
        </p:nvSpPr>
        <p:spPr>
          <a:xfrm>
            <a:off x="6830568" y="2441448"/>
            <a:ext cx="1298448" cy="438912"/>
          </a:xfrm>
          <a:prstGeom prst="rect">
            <a:avLst/>
          </a:prstGeom>
          <a:noFill/>
          <a:ln/>
        </p:spPr>
        <p:txBody>
          <a:bodyPr wrap="square" lIns="0" tIns="0" rIns="0" bIns="0" rtlCol="0" anchor="ctr">
            <a:normAutofit/>
          </a:bodyPr>
          <a:lstStyle/>
          <a:p>
            <a:pPr indent="0" marL="0">
              <a:buNone/>
            </a:pPr>
            <a:r>
              <a:rPr lang="en-US" sz="770" dirty="0">
                <a:solidFill>
                  <a:srgbClr val="1F2937"/>
                </a:solidFill>
                <a:latin typeface="Aptos" pitchFamily="34" charset="0"/>
                <a:ea typeface="Aptos" pitchFamily="34" charset="-122"/>
                <a:cs typeface="Aptos" pitchFamily="34" charset="-120"/>
              </a:rPr>
              <a:t>analyst input, remediation outcome, policy updates</a:t>
            </a:r>
            <a:endParaRPr lang="en-US" sz="770" dirty="0"/>
          </a:p>
        </p:txBody>
      </p:sp>
      <p:sp>
        <p:nvSpPr>
          <p:cNvPr id="24" name="Text 21"/>
          <p:cNvSpPr/>
          <p:nvPr/>
        </p:nvSpPr>
        <p:spPr>
          <a:xfrm>
            <a:off x="685800" y="3703320"/>
            <a:ext cx="6217920" cy="201168"/>
          </a:xfrm>
          <a:prstGeom prst="rect">
            <a:avLst/>
          </a:prstGeom>
          <a:noFill/>
          <a:ln/>
        </p:spPr>
        <p:txBody>
          <a:bodyPr wrap="square" lIns="0" tIns="0" rIns="0" bIns="0" rtlCol="0" anchor="ctr">
            <a:normAutofit/>
          </a:bodyPr>
          <a:lstStyle/>
          <a:p>
            <a:pPr indent="0" marL="0">
              <a:buNone/>
            </a:pPr>
            <a:r>
              <a:rPr lang="en-US" sz="1050" b="1" dirty="0">
                <a:solidFill>
                  <a:srgbClr val="17324D"/>
                </a:solidFill>
                <a:latin typeface="Aptos" pitchFamily="34" charset="0"/>
                <a:ea typeface="Aptos" pitchFamily="34" charset="-122"/>
                <a:cs typeface="Aptos" pitchFamily="34" charset="-120"/>
              </a:rPr>
              <a:t>Patent landscape implication</a:t>
            </a:r>
            <a:endParaRPr lang="en-US" sz="1050" dirty="0"/>
          </a:p>
        </p:txBody>
      </p:sp>
      <p:sp>
        <p:nvSpPr>
          <p:cNvPr id="25" name="Shape 22"/>
          <p:cNvSpPr/>
          <p:nvPr/>
        </p:nvSpPr>
        <p:spPr>
          <a:xfrm>
            <a:off x="685800" y="3959352"/>
            <a:ext cx="6217920" cy="0"/>
          </a:xfrm>
          <a:prstGeom prst="line">
            <a:avLst/>
          </a:prstGeom>
          <a:noFill/>
          <a:ln w="12700">
            <a:solidFill>
              <a:srgbClr val="17324D"/>
            </a:solidFill>
            <a:prstDash val="solid"/>
          </a:ln>
        </p:spPr>
      </p:sp>
      <p:sp>
        <p:nvSpPr>
          <p:cNvPr id="26" name="Text 23"/>
          <p:cNvSpPr/>
          <p:nvPr/>
        </p:nvSpPr>
        <p:spPr>
          <a:xfrm>
            <a:off x="685800" y="4096512"/>
            <a:ext cx="6400800" cy="1170432"/>
          </a:xfrm>
          <a:prstGeom prst="rect">
            <a:avLst/>
          </a:prstGeom>
          <a:solidFill>
            <a:srgbClr val="EAF3F8"/>
          </a:solidFill>
          <a:ln>
            <a:solidFill>
              <a:srgbClr val="EAF3F8"/>
            </a:solidFill>
          </a:ln>
        </p:spPr>
        <p:txBody>
          <a:bodyPr wrap="square" lIns="1397" tIns="1397" rIns="1397" bIns="1397" rtlCol="0" anchor="ctr">
            <a:normAutofit/>
          </a:bodyPr>
          <a:lstStyle/>
          <a:p>
            <a:pPr indent="0" marL="0">
              <a:buNone/>
            </a:pPr>
            <a:r>
              <a:rPr lang="en-US" sz="1050" dirty="0">
                <a:solidFill>
                  <a:srgbClr val="1F2937"/>
                </a:solidFill>
                <a:latin typeface="Aptos" pitchFamily="34" charset="0"/>
                <a:ea typeface="Aptos" pitchFamily="34" charset="-122"/>
                <a:cs typeface="Aptos" pitchFamily="34" charset="-120"/>
              </a:rPr>
              <a:t>The record set repeatedly claims data collection, feature generation, model-based classification/ranking, automated recommendations and feedback-driven correction. That is why the taxonomy consistently uses eight standard labels: Threat Detection and Response, Network and Cloud Security, Identity and Access Management, Vulnerability and Risk Management, AI Model Security, Malware and Phishing Defense, Data and Privacy Protection, and Security Automation and Testing.</a:t>
            </a:r>
            <a:endParaRPr lang="en-US" sz="1050" dirty="0"/>
          </a:p>
        </p:txBody>
      </p:sp>
      <p:sp>
        <p:nvSpPr>
          <p:cNvPr id="27" name="Text 24"/>
          <p:cNvSpPr/>
          <p:nvPr/>
        </p:nvSpPr>
        <p:spPr>
          <a:xfrm>
            <a:off x="8092440" y="5349240"/>
            <a:ext cx="3429000" cy="438912"/>
          </a:xfrm>
          <a:prstGeom prst="rect">
            <a:avLst/>
          </a:prstGeom>
          <a:solidFill>
            <a:srgbClr val="F3F6F8"/>
          </a:solidFill>
          <a:ln>
            <a:solidFill>
              <a:srgbClr val="F3F6F8"/>
            </a:solidFill>
          </a:ln>
        </p:spPr>
        <p:txBody>
          <a:bodyPr wrap="square" lIns="1397" tIns="1397" rIns="1397" bIns="1397" rtlCol="0" anchor="ctr">
            <a:normAutofit/>
          </a:bodyPr>
          <a:lstStyle/>
          <a:p>
            <a:pPr indent="0" marL="0">
              <a:buNone/>
            </a:pPr>
            <a:r>
              <a:rPr lang="en-US" sz="820" dirty="0">
                <a:solidFill>
                  <a:srgbClr val="1F2937"/>
                </a:solidFill>
                <a:latin typeface="Aptos" pitchFamily="34" charset="0"/>
                <a:ea typeface="Aptos" pitchFamily="34" charset="-122"/>
                <a:cs typeface="Aptos" pitchFamily="34" charset="-120"/>
              </a:rPr>
              <a:t>Cybersecurity image added for context; numeric claims in the deck come from the uploaded Excel only.</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Eight standard patent categories</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Exactly 8 standard categories; each label has 3 or 4 words and every record is counted once.</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530352" y="1097280"/>
            <a:ext cx="187452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Category</a:t>
            </a:r>
            <a:endParaRPr lang="en-US" sz="880" dirty="0"/>
          </a:p>
        </p:txBody>
      </p:sp>
      <p:sp>
        <p:nvSpPr>
          <p:cNvPr id="7" name="Text 5"/>
          <p:cNvSpPr/>
          <p:nvPr/>
        </p:nvSpPr>
        <p:spPr>
          <a:xfrm>
            <a:off x="2404872" y="1097280"/>
            <a:ext cx="749808"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Records</a:t>
            </a:r>
            <a:endParaRPr lang="en-US" sz="880" dirty="0"/>
          </a:p>
        </p:txBody>
      </p:sp>
      <p:sp>
        <p:nvSpPr>
          <p:cNvPr id="8" name="Text 6"/>
          <p:cNvSpPr/>
          <p:nvPr/>
        </p:nvSpPr>
        <p:spPr>
          <a:xfrm>
            <a:off x="3154680" y="1097280"/>
            <a:ext cx="749808"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Share</a:t>
            </a:r>
            <a:endParaRPr lang="en-US" sz="880" dirty="0"/>
          </a:p>
        </p:txBody>
      </p:sp>
      <p:sp>
        <p:nvSpPr>
          <p:cNvPr id="9" name="Text 7"/>
          <p:cNvSpPr/>
          <p:nvPr/>
        </p:nvSpPr>
        <p:spPr>
          <a:xfrm>
            <a:off x="3904488" y="1097280"/>
            <a:ext cx="7781544"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Definition</a:t>
            </a:r>
            <a:endParaRPr lang="en-US" sz="880" dirty="0"/>
          </a:p>
        </p:txBody>
      </p:sp>
      <p:sp>
        <p:nvSpPr>
          <p:cNvPr id="10" name="Text 8"/>
          <p:cNvSpPr/>
          <p:nvPr/>
        </p:nvSpPr>
        <p:spPr>
          <a:xfrm>
            <a:off x="530352" y="1444752"/>
            <a:ext cx="1874520"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2F5597"/>
                </a:solidFill>
                <a:latin typeface="Aptos" pitchFamily="34" charset="0"/>
                <a:ea typeface="Aptos" pitchFamily="34" charset="-122"/>
                <a:cs typeface="Aptos" pitchFamily="34" charset="-120"/>
              </a:rPr>
              <a:t>Threat Detection and Response</a:t>
            </a:r>
            <a:endParaRPr lang="en-US" sz="880" dirty="0"/>
          </a:p>
        </p:txBody>
      </p:sp>
      <p:sp>
        <p:nvSpPr>
          <p:cNvPr id="11" name="Text 9"/>
          <p:cNvSpPr/>
          <p:nvPr/>
        </p:nvSpPr>
        <p:spPr>
          <a:xfrm>
            <a:off x="2404872" y="1444752"/>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258</a:t>
            </a:r>
            <a:endParaRPr lang="en-US" sz="880" dirty="0"/>
          </a:p>
        </p:txBody>
      </p:sp>
      <p:sp>
        <p:nvSpPr>
          <p:cNvPr id="12" name="Text 10"/>
          <p:cNvSpPr/>
          <p:nvPr/>
        </p:nvSpPr>
        <p:spPr>
          <a:xfrm>
            <a:off x="3154680" y="1444752"/>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37.4%</a:t>
            </a:r>
            <a:endParaRPr lang="en-US" sz="880" dirty="0"/>
          </a:p>
        </p:txBody>
      </p:sp>
      <p:sp>
        <p:nvSpPr>
          <p:cNvPr id="13" name="Text 11"/>
          <p:cNvSpPr/>
          <p:nvPr/>
        </p:nvSpPr>
        <p:spPr>
          <a:xfrm>
            <a:off x="3904488" y="1444752"/>
            <a:ext cx="7781544"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30" dirty="0">
                <a:solidFill>
                  <a:srgbClr val="1F2937"/>
                </a:solidFill>
                <a:latin typeface="Aptos" pitchFamily="34" charset="0"/>
                <a:ea typeface="Aptos" pitchFamily="34" charset="-122"/>
                <a:cs typeface="Aptos" pitchFamily="34" charset="-120"/>
              </a:rPr>
              <a:t>Model-based detection, alert scoring, incident triage, threat hunting and response decision support.</a:t>
            </a:r>
            <a:endParaRPr lang="en-US" sz="830" dirty="0"/>
          </a:p>
        </p:txBody>
      </p:sp>
      <p:sp>
        <p:nvSpPr>
          <p:cNvPr id="14" name="Text 12"/>
          <p:cNvSpPr/>
          <p:nvPr/>
        </p:nvSpPr>
        <p:spPr>
          <a:xfrm>
            <a:off x="530352" y="2048256"/>
            <a:ext cx="1874520"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00A6A6"/>
                </a:solidFill>
                <a:latin typeface="Aptos" pitchFamily="34" charset="0"/>
                <a:ea typeface="Aptos" pitchFamily="34" charset="-122"/>
                <a:cs typeface="Aptos" pitchFamily="34" charset="-120"/>
              </a:rPr>
              <a:t>Network and Cloud Security</a:t>
            </a:r>
            <a:endParaRPr lang="en-US" sz="880" dirty="0"/>
          </a:p>
        </p:txBody>
      </p:sp>
      <p:sp>
        <p:nvSpPr>
          <p:cNvPr id="15" name="Text 13"/>
          <p:cNvSpPr/>
          <p:nvPr/>
        </p:nvSpPr>
        <p:spPr>
          <a:xfrm>
            <a:off x="2404872" y="2048256"/>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146</a:t>
            </a:r>
            <a:endParaRPr lang="en-US" sz="880" dirty="0"/>
          </a:p>
        </p:txBody>
      </p:sp>
      <p:sp>
        <p:nvSpPr>
          <p:cNvPr id="16" name="Text 14"/>
          <p:cNvSpPr/>
          <p:nvPr/>
        </p:nvSpPr>
        <p:spPr>
          <a:xfrm>
            <a:off x="3154680" y="2048256"/>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21.2%</a:t>
            </a:r>
            <a:endParaRPr lang="en-US" sz="880" dirty="0"/>
          </a:p>
        </p:txBody>
      </p:sp>
      <p:sp>
        <p:nvSpPr>
          <p:cNvPr id="17" name="Text 15"/>
          <p:cNvSpPr/>
          <p:nvPr/>
        </p:nvSpPr>
        <p:spPr>
          <a:xfrm>
            <a:off x="3904488" y="2048256"/>
            <a:ext cx="7781544"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30" dirty="0">
                <a:solidFill>
                  <a:srgbClr val="1F2937"/>
                </a:solidFill>
                <a:latin typeface="Aptos" pitchFamily="34" charset="0"/>
                <a:ea typeface="Aptos" pitchFamily="34" charset="-122"/>
                <a:cs typeface="Aptos" pitchFamily="34" charset="-120"/>
              </a:rPr>
              <a:t>Protection of network traffic, cloud workloads, endpoints, IoT/edge devices, segmentation and infrastructure telemetry.</a:t>
            </a:r>
            <a:endParaRPr lang="en-US" sz="830" dirty="0"/>
          </a:p>
        </p:txBody>
      </p:sp>
      <p:sp>
        <p:nvSpPr>
          <p:cNvPr id="18" name="Text 16"/>
          <p:cNvSpPr/>
          <p:nvPr/>
        </p:nvSpPr>
        <p:spPr>
          <a:xfrm>
            <a:off x="530352" y="2651760"/>
            <a:ext cx="1874520"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F59E0B"/>
                </a:solidFill>
                <a:latin typeface="Aptos" pitchFamily="34" charset="0"/>
                <a:ea typeface="Aptos" pitchFamily="34" charset="-122"/>
                <a:cs typeface="Aptos" pitchFamily="34" charset="-120"/>
              </a:rPr>
              <a:t>Vulnerability and Risk Management</a:t>
            </a:r>
            <a:endParaRPr lang="en-US" sz="880" dirty="0"/>
          </a:p>
        </p:txBody>
      </p:sp>
      <p:sp>
        <p:nvSpPr>
          <p:cNvPr id="19" name="Text 17"/>
          <p:cNvSpPr/>
          <p:nvPr/>
        </p:nvSpPr>
        <p:spPr>
          <a:xfrm>
            <a:off x="2404872" y="2651760"/>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75</a:t>
            </a:r>
            <a:endParaRPr lang="en-US" sz="880" dirty="0"/>
          </a:p>
        </p:txBody>
      </p:sp>
      <p:sp>
        <p:nvSpPr>
          <p:cNvPr id="20" name="Text 18"/>
          <p:cNvSpPr/>
          <p:nvPr/>
        </p:nvSpPr>
        <p:spPr>
          <a:xfrm>
            <a:off x="3154680" y="2651760"/>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10.9%</a:t>
            </a:r>
            <a:endParaRPr lang="en-US" sz="880" dirty="0"/>
          </a:p>
        </p:txBody>
      </p:sp>
      <p:sp>
        <p:nvSpPr>
          <p:cNvPr id="21" name="Text 19"/>
          <p:cNvSpPr/>
          <p:nvPr/>
        </p:nvSpPr>
        <p:spPr>
          <a:xfrm>
            <a:off x="3904488" y="2651760"/>
            <a:ext cx="7781544"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30" dirty="0">
                <a:solidFill>
                  <a:srgbClr val="1F2937"/>
                </a:solidFill>
                <a:latin typeface="Aptos" pitchFamily="34" charset="0"/>
                <a:ea typeface="Aptos" pitchFamily="34" charset="-122"/>
                <a:cs typeface="Aptos" pitchFamily="34" charset="-120"/>
              </a:rPr>
              <a:t>Vulnerability assessment, exploitability, exposure, attack surface, cyber-risk scoring and remediation prioritization.</a:t>
            </a:r>
            <a:endParaRPr lang="en-US" sz="830" dirty="0"/>
          </a:p>
        </p:txBody>
      </p:sp>
      <p:sp>
        <p:nvSpPr>
          <p:cNvPr id="22" name="Text 20"/>
          <p:cNvSpPr/>
          <p:nvPr/>
        </p:nvSpPr>
        <p:spPr>
          <a:xfrm>
            <a:off x="530352" y="3255264"/>
            <a:ext cx="1874520"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7B61FF"/>
                </a:solidFill>
                <a:latin typeface="Aptos" pitchFamily="34" charset="0"/>
                <a:ea typeface="Aptos" pitchFamily="34" charset="-122"/>
                <a:cs typeface="Aptos" pitchFamily="34" charset="-120"/>
              </a:rPr>
              <a:t>Identity and Access Management</a:t>
            </a:r>
            <a:endParaRPr lang="en-US" sz="880" dirty="0"/>
          </a:p>
        </p:txBody>
      </p:sp>
      <p:sp>
        <p:nvSpPr>
          <p:cNvPr id="23" name="Text 21"/>
          <p:cNvSpPr/>
          <p:nvPr/>
        </p:nvSpPr>
        <p:spPr>
          <a:xfrm>
            <a:off x="2404872" y="3255264"/>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67</a:t>
            </a:r>
            <a:endParaRPr lang="en-US" sz="880" dirty="0"/>
          </a:p>
        </p:txBody>
      </p:sp>
      <p:sp>
        <p:nvSpPr>
          <p:cNvPr id="24" name="Text 22"/>
          <p:cNvSpPr/>
          <p:nvPr/>
        </p:nvSpPr>
        <p:spPr>
          <a:xfrm>
            <a:off x="3154680" y="3255264"/>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9.7%</a:t>
            </a:r>
            <a:endParaRPr lang="en-US" sz="880" dirty="0"/>
          </a:p>
        </p:txBody>
      </p:sp>
      <p:sp>
        <p:nvSpPr>
          <p:cNvPr id="25" name="Text 23"/>
          <p:cNvSpPr/>
          <p:nvPr/>
        </p:nvSpPr>
        <p:spPr>
          <a:xfrm>
            <a:off x="3904488" y="3255264"/>
            <a:ext cx="7781544"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30" dirty="0">
                <a:solidFill>
                  <a:srgbClr val="1F2937"/>
                </a:solidFill>
                <a:latin typeface="Aptos" pitchFamily="34" charset="0"/>
                <a:ea typeface="Aptos" pitchFamily="34" charset="-122"/>
                <a:cs typeface="Aptos" pitchFamily="34" charset="-120"/>
              </a:rPr>
              <a:t>Authentication, credentials, privileges, authorization, permissions, entitlement review and continuous access-risk controls.</a:t>
            </a:r>
            <a:endParaRPr lang="en-US" sz="830" dirty="0"/>
          </a:p>
        </p:txBody>
      </p:sp>
      <p:sp>
        <p:nvSpPr>
          <p:cNvPr id="26" name="Text 24"/>
          <p:cNvSpPr/>
          <p:nvPr/>
        </p:nvSpPr>
        <p:spPr>
          <a:xfrm>
            <a:off x="530352" y="3858768"/>
            <a:ext cx="1874520"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C026D3"/>
                </a:solidFill>
                <a:latin typeface="Aptos" pitchFamily="34" charset="0"/>
                <a:ea typeface="Aptos" pitchFamily="34" charset="-122"/>
                <a:cs typeface="Aptos" pitchFamily="34" charset="-120"/>
              </a:rPr>
              <a:t>AI Model Security</a:t>
            </a:r>
            <a:endParaRPr lang="en-US" sz="880" dirty="0"/>
          </a:p>
        </p:txBody>
      </p:sp>
      <p:sp>
        <p:nvSpPr>
          <p:cNvPr id="27" name="Text 25"/>
          <p:cNvSpPr/>
          <p:nvPr/>
        </p:nvSpPr>
        <p:spPr>
          <a:xfrm>
            <a:off x="2404872" y="3858768"/>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60</a:t>
            </a:r>
            <a:endParaRPr lang="en-US" sz="880" dirty="0"/>
          </a:p>
        </p:txBody>
      </p:sp>
      <p:sp>
        <p:nvSpPr>
          <p:cNvPr id="28" name="Text 26"/>
          <p:cNvSpPr/>
          <p:nvPr/>
        </p:nvSpPr>
        <p:spPr>
          <a:xfrm>
            <a:off x="3154680" y="3858768"/>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8.7%</a:t>
            </a:r>
            <a:endParaRPr lang="en-US" sz="880" dirty="0"/>
          </a:p>
        </p:txBody>
      </p:sp>
      <p:sp>
        <p:nvSpPr>
          <p:cNvPr id="29" name="Text 27"/>
          <p:cNvSpPr/>
          <p:nvPr/>
        </p:nvSpPr>
        <p:spPr>
          <a:xfrm>
            <a:off x="3904488" y="3858768"/>
            <a:ext cx="7781544"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30" dirty="0">
                <a:solidFill>
                  <a:srgbClr val="1F2937"/>
                </a:solidFill>
                <a:latin typeface="Aptos" pitchFamily="34" charset="0"/>
                <a:ea typeface="Aptos" pitchFamily="34" charset="-122"/>
                <a:cs typeface="Aptos" pitchFamily="34" charset="-120"/>
              </a:rPr>
              <a:t>Security of LLMs, generative AI systems and ML models, including prompt attacks, adversarial inputs and model-risk controls.</a:t>
            </a:r>
            <a:endParaRPr lang="en-US" sz="830" dirty="0"/>
          </a:p>
        </p:txBody>
      </p:sp>
      <p:sp>
        <p:nvSpPr>
          <p:cNvPr id="30" name="Text 28"/>
          <p:cNvSpPr/>
          <p:nvPr/>
        </p:nvSpPr>
        <p:spPr>
          <a:xfrm>
            <a:off x="530352" y="4462272"/>
            <a:ext cx="1874520"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EF4444"/>
                </a:solidFill>
                <a:latin typeface="Aptos" pitchFamily="34" charset="0"/>
                <a:ea typeface="Aptos" pitchFamily="34" charset="-122"/>
                <a:cs typeface="Aptos" pitchFamily="34" charset="-120"/>
              </a:rPr>
              <a:t>Malware and Phishing Defense</a:t>
            </a:r>
            <a:endParaRPr lang="en-US" sz="880" dirty="0"/>
          </a:p>
        </p:txBody>
      </p:sp>
      <p:sp>
        <p:nvSpPr>
          <p:cNvPr id="31" name="Text 29"/>
          <p:cNvSpPr/>
          <p:nvPr/>
        </p:nvSpPr>
        <p:spPr>
          <a:xfrm>
            <a:off x="2404872" y="4462272"/>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32</a:t>
            </a:r>
            <a:endParaRPr lang="en-US" sz="880" dirty="0"/>
          </a:p>
        </p:txBody>
      </p:sp>
      <p:sp>
        <p:nvSpPr>
          <p:cNvPr id="32" name="Text 30"/>
          <p:cNvSpPr/>
          <p:nvPr/>
        </p:nvSpPr>
        <p:spPr>
          <a:xfrm>
            <a:off x="3154680" y="4462272"/>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4.6%</a:t>
            </a:r>
            <a:endParaRPr lang="en-US" sz="880" dirty="0"/>
          </a:p>
        </p:txBody>
      </p:sp>
      <p:sp>
        <p:nvSpPr>
          <p:cNvPr id="33" name="Text 31"/>
          <p:cNvSpPr/>
          <p:nvPr/>
        </p:nvSpPr>
        <p:spPr>
          <a:xfrm>
            <a:off x="3904488" y="4462272"/>
            <a:ext cx="7781544"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30" dirty="0">
                <a:solidFill>
                  <a:srgbClr val="1F2937"/>
                </a:solidFill>
                <a:latin typeface="Aptos" pitchFamily="34" charset="0"/>
                <a:ea typeface="Aptos" pitchFamily="34" charset="-122"/>
                <a:cs typeface="Aptos" pitchFamily="34" charset="-120"/>
              </a:rPr>
              <a:t>Detection and defense for malware, ransomware, phishing, malicious URLs/files/emails, bot activity, scams and deepfakes.</a:t>
            </a:r>
            <a:endParaRPr lang="en-US" sz="830" dirty="0"/>
          </a:p>
        </p:txBody>
      </p:sp>
      <p:sp>
        <p:nvSpPr>
          <p:cNvPr id="34" name="Text 32"/>
          <p:cNvSpPr/>
          <p:nvPr/>
        </p:nvSpPr>
        <p:spPr>
          <a:xfrm>
            <a:off x="530352" y="5065776"/>
            <a:ext cx="1874520"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6B7280"/>
                </a:solidFill>
                <a:latin typeface="Aptos" pitchFamily="34" charset="0"/>
                <a:ea typeface="Aptos" pitchFamily="34" charset="-122"/>
                <a:cs typeface="Aptos" pitchFamily="34" charset="-120"/>
              </a:rPr>
              <a:t>Security Automation and Testing</a:t>
            </a:r>
            <a:endParaRPr lang="en-US" sz="880" dirty="0"/>
          </a:p>
        </p:txBody>
      </p:sp>
      <p:sp>
        <p:nvSpPr>
          <p:cNvPr id="35" name="Text 33"/>
          <p:cNvSpPr/>
          <p:nvPr/>
        </p:nvSpPr>
        <p:spPr>
          <a:xfrm>
            <a:off x="2404872" y="5065776"/>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26</a:t>
            </a:r>
            <a:endParaRPr lang="en-US" sz="880" dirty="0"/>
          </a:p>
        </p:txBody>
      </p:sp>
      <p:sp>
        <p:nvSpPr>
          <p:cNvPr id="36" name="Text 34"/>
          <p:cNvSpPr/>
          <p:nvPr/>
        </p:nvSpPr>
        <p:spPr>
          <a:xfrm>
            <a:off x="3154680" y="5065776"/>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3.8%</a:t>
            </a:r>
            <a:endParaRPr lang="en-US" sz="880" dirty="0"/>
          </a:p>
        </p:txBody>
      </p:sp>
      <p:sp>
        <p:nvSpPr>
          <p:cNvPr id="37" name="Text 35"/>
          <p:cNvSpPr/>
          <p:nvPr/>
        </p:nvSpPr>
        <p:spPr>
          <a:xfrm>
            <a:off x="3904488" y="5065776"/>
            <a:ext cx="7781544"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30" dirty="0">
                <a:solidFill>
                  <a:srgbClr val="1F2937"/>
                </a:solidFill>
                <a:latin typeface="Aptos" pitchFamily="34" charset="0"/>
                <a:ea typeface="Aptos" pitchFamily="34" charset="-122"/>
                <a:cs typeface="Aptos" pitchFamily="34" charset="-120"/>
              </a:rPr>
              <a:t>Security testing, CI/CD protection, static analysis, policy correction, automated remediation and workflow orchestration.</a:t>
            </a:r>
            <a:endParaRPr lang="en-US" sz="830" dirty="0"/>
          </a:p>
        </p:txBody>
      </p:sp>
      <p:sp>
        <p:nvSpPr>
          <p:cNvPr id="38" name="Text 36"/>
          <p:cNvSpPr/>
          <p:nvPr/>
        </p:nvSpPr>
        <p:spPr>
          <a:xfrm>
            <a:off x="530352" y="5669280"/>
            <a:ext cx="1874520"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6A34A"/>
                </a:solidFill>
                <a:latin typeface="Aptos" pitchFamily="34" charset="0"/>
                <a:ea typeface="Aptos" pitchFamily="34" charset="-122"/>
                <a:cs typeface="Aptos" pitchFamily="34" charset="-120"/>
              </a:rPr>
              <a:t>Data and Privacy Protection</a:t>
            </a:r>
            <a:endParaRPr lang="en-US" sz="880" dirty="0"/>
          </a:p>
        </p:txBody>
      </p:sp>
      <p:sp>
        <p:nvSpPr>
          <p:cNvPr id="39" name="Text 37"/>
          <p:cNvSpPr/>
          <p:nvPr/>
        </p:nvSpPr>
        <p:spPr>
          <a:xfrm>
            <a:off x="2404872" y="5669280"/>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25</a:t>
            </a:r>
            <a:endParaRPr lang="en-US" sz="880" dirty="0"/>
          </a:p>
        </p:txBody>
      </p:sp>
      <p:sp>
        <p:nvSpPr>
          <p:cNvPr id="40" name="Text 38"/>
          <p:cNvSpPr/>
          <p:nvPr/>
        </p:nvSpPr>
        <p:spPr>
          <a:xfrm>
            <a:off x="3154680" y="5669280"/>
            <a:ext cx="749808" cy="6035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3.6%</a:t>
            </a:r>
            <a:endParaRPr lang="en-US" sz="880" dirty="0"/>
          </a:p>
        </p:txBody>
      </p:sp>
      <p:sp>
        <p:nvSpPr>
          <p:cNvPr id="41" name="Text 39"/>
          <p:cNvSpPr/>
          <p:nvPr/>
        </p:nvSpPr>
        <p:spPr>
          <a:xfrm>
            <a:off x="3904488" y="5669280"/>
            <a:ext cx="7781544" cy="6035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30" dirty="0">
                <a:solidFill>
                  <a:srgbClr val="1F2937"/>
                </a:solidFill>
                <a:latin typeface="Aptos" pitchFamily="34" charset="0"/>
                <a:ea typeface="Aptos" pitchFamily="34" charset="-122"/>
                <a:cs typeface="Aptos" pitchFamily="34" charset="-120"/>
              </a:rPr>
              <a:t>Data leakage, exfiltration, sensitive data, privacy, encryption, cryptography, certificates and secrets protection.</a:t>
            </a:r>
            <a:endParaRPr lang="en-US" sz="8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Category count graph</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Primary category distribution based on the category assignment rules.</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graphicFrame>
        <p:nvGraphicFramePr>
          <p:cNvPr id="6" name="Chart 0" descr=""/>
          <p:cNvGraphicFramePr/>
          <p:nvPr/>
        </p:nvGraphicFramePr>
        <p:xfrm>
          <a:off x="621792" y="1097280"/>
          <a:ext cx="6812280" cy="52120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818120" y="1234440"/>
            <a:ext cx="502920" cy="32004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Rank</a:t>
            </a:r>
            <a:endParaRPr lang="en-US" sz="880" dirty="0"/>
          </a:p>
        </p:txBody>
      </p:sp>
      <p:sp>
        <p:nvSpPr>
          <p:cNvPr id="8" name="Text 5"/>
          <p:cNvSpPr/>
          <p:nvPr/>
        </p:nvSpPr>
        <p:spPr>
          <a:xfrm>
            <a:off x="8321040" y="1234440"/>
            <a:ext cx="1828800" cy="32004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Category</a:t>
            </a:r>
            <a:endParaRPr lang="en-US" sz="880" dirty="0"/>
          </a:p>
        </p:txBody>
      </p:sp>
      <p:sp>
        <p:nvSpPr>
          <p:cNvPr id="9" name="Text 6"/>
          <p:cNvSpPr/>
          <p:nvPr/>
        </p:nvSpPr>
        <p:spPr>
          <a:xfrm>
            <a:off x="10149840" y="1234440"/>
            <a:ext cx="777240" cy="32004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Patents</a:t>
            </a:r>
            <a:endParaRPr lang="en-US" sz="880" dirty="0"/>
          </a:p>
        </p:txBody>
      </p:sp>
      <p:sp>
        <p:nvSpPr>
          <p:cNvPr id="10" name="Text 7"/>
          <p:cNvSpPr/>
          <p:nvPr/>
        </p:nvSpPr>
        <p:spPr>
          <a:xfrm>
            <a:off x="7818120" y="1554480"/>
            <a:ext cx="50292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1</a:t>
            </a:r>
            <a:endParaRPr lang="en-US" sz="880" dirty="0"/>
          </a:p>
        </p:txBody>
      </p:sp>
      <p:sp>
        <p:nvSpPr>
          <p:cNvPr id="11" name="Text 8"/>
          <p:cNvSpPr/>
          <p:nvPr/>
        </p:nvSpPr>
        <p:spPr>
          <a:xfrm>
            <a:off x="8321040" y="1554480"/>
            <a:ext cx="1828800" cy="393192"/>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2F5597"/>
                </a:solidFill>
                <a:latin typeface="Aptos" pitchFamily="34" charset="0"/>
                <a:ea typeface="Aptos" pitchFamily="34" charset="-122"/>
                <a:cs typeface="Aptos" pitchFamily="34" charset="-120"/>
              </a:rPr>
              <a:t>Threat Detection and Response</a:t>
            </a:r>
            <a:endParaRPr lang="en-US" sz="880" dirty="0"/>
          </a:p>
        </p:txBody>
      </p:sp>
      <p:sp>
        <p:nvSpPr>
          <p:cNvPr id="12" name="Text 9"/>
          <p:cNvSpPr/>
          <p:nvPr/>
        </p:nvSpPr>
        <p:spPr>
          <a:xfrm>
            <a:off x="10149840" y="1554480"/>
            <a:ext cx="77724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258</a:t>
            </a:r>
            <a:endParaRPr lang="en-US" sz="880" dirty="0"/>
          </a:p>
        </p:txBody>
      </p:sp>
      <p:sp>
        <p:nvSpPr>
          <p:cNvPr id="13" name="Text 10"/>
          <p:cNvSpPr/>
          <p:nvPr/>
        </p:nvSpPr>
        <p:spPr>
          <a:xfrm>
            <a:off x="7818120" y="1947672"/>
            <a:ext cx="50292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2</a:t>
            </a:r>
            <a:endParaRPr lang="en-US" sz="880" dirty="0"/>
          </a:p>
        </p:txBody>
      </p:sp>
      <p:sp>
        <p:nvSpPr>
          <p:cNvPr id="14" name="Text 11"/>
          <p:cNvSpPr/>
          <p:nvPr/>
        </p:nvSpPr>
        <p:spPr>
          <a:xfrm>
            <a:off x="8321040" y="1947672"/>
            <a:ext cx="1828800" cy="393192"/>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00A6A6"/>
                </a:solidFill>
                <a:latin typeface="Aptos" pitchFamily="34" charset="0"/>
                <a:ea typeface="Aptos" pitchFamily="34" charset="-122"/>
                <a:cs typeface="Aptos" pitchFamily="34" charset="-120"/>
              </a:rPr>
              <a:t>Network and Cloud Security</a:t>
            </a:r>
            <a:endParaRPr lang="en-US" sz="880" dirty="0"/>
          </a:p>
        </p:txBody>
      </p:sp>
      <p:sp>
        <p:nvSpPr>
          <p:cNvPr id="15" name="Text 12"/>
          <p:cNvSpPr/>
          <p:nvPr/>
        </p:nvSpPr>
        <p:spPr>
          <a:xfrm>
            <a:off x="10149840" y="1947672"/>
            <a:ext cx="77724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146</a:t>
            </a:r>
            <a:endParaRPr lang="en-US" sz="880" dirty="0"/>
          </a:p>
        </p:txBody>
      </p:sp>
      <p:sp>
        <p:nvSpPr>
          <p:cNvPr id="16" name="Text 13"/>
          <p:cNvSpPr/>
          <p:nvPr/>
        </p:nvSpPr>
        <p:spPr>
          <a:xfrm>
            <a:off x="7818120" y="2340864"/>
            <a:ext cx="50292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3</a:t>
            </a:r>
            <a:endParaRPr lang="en-US" sz="880" dirty="0"/>
          </a:p>
        </p:txBody>
      </p:sp>
      <p:sp>
        <p:nvSpPr>
          <p:cNvPr id="17" name="Text 14"/>
          <p:cNvSpPr/>
          <p:nvPr/>
        </p:nvSpPr>
        <p:spPr>
          <a:xfrm>
            <a:off x="8321040" y="2340864"/>
            <a:ext cx="1828800" cy="393192"/>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F59E0B"/>
                </a:solidFill>
                <a:latin typeface="Aptos" pitchFamily="34" charset="0"/>
                <a:ea typeface="Aptos" pitchFamily="34" charset="-122"/>
                <a:cs typeface="Aptos" pitchFamily="34" charset="-120"/>
              </a:rPr>
              <a:t>Vulnerability and Risk Management</a:t>
            </a:r>
            <a:endParaRPr lang="en-US" sz="880" dirty="0"/>
          </a:p>
        </p:txBody>
      </p:sp>
      <p:sp>
        <p:nvSpPr>
          <p:cNvPr id="18" name="Text 15"/>
          <p:cNvSpPr/>
          <p:nvPr/>
        </p:nvSpPr>
        <p:spPr>
          <a:xfrm>
            <a:off x="10149840" y="2340864"/>
            <a:ext cx="77724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75</a:t>
            </a:r>
            <a:endParaRPr lang="en-US" sz="880" dirty="0"/>
          </a:p>
        </p:txBody>
      </p:sp>
      <p:sp>
        <p:nvSpPr>
          <p:cNvPr id="19" name="Text 16"/>
          <p:cNvSpPr/>
          <p:nvPr/>
        </p:nvSpPr>
        <p:spPr>
          <a:xfrm>
            <a:off x="7818120" y="2734056"/>
            <a:ext cx="50292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4</a:t>
            </a:r>
            <a:endParaRPr lang="en-US" sz="880" dirty="0"/>
          </a:p>
        </p:txBody>
      </p:sp>
      <p:sp>
        <p:nvSpPr>
          <p:cNvPr id="20" name="Text 17"/>
          <p:cNvSpPr/>
          <p:nvPr/>
        </p:nvSpPr>
        <p:spPr>
          <a:xfrm>
            <a:off x="8321040" y="2734056"/>
            <a:ext cx="1828800" cy="393192"/>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7B61FF"/>
                </a:solidFill>
                <a:latin typeface="Aptos" pitchFamily="34" charset="0"/>
                <a:ea typeface="Aptos" pitchFamily="34" charset="-122"/>
                <a:cs typeface="Aptos" pitchFamily="34" charset="-120"/>
              </a:rPr>
              <a:t>Identity and Access Management</a:t>
            </a:r>
            <a:endParaRPr lang="en-US" sz="880" dirty="0"/>
          </a:p>
        </p:txBody>
      </p:sp>
      <p:sp>
        <p:nvSpPr>
          <p:cNvPr id="21" name="Text 18"/>
          <p:cNvSpPr/>
          <p:nvPr/>
        </p:nvSpPr>
        <p:spPr>
          <a:xfrm>
            <a:off x="10149840" y="2734056"/>
            <a:ext cx="77724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67</a:t>
            </a:r>
            <a:endParaRPr lang="en-US" sz="880" dirty="0"/>
          </a:p>
        </p:txBody>
      </p:sp>
      <p:sp>
        <p:nvSpPr>
          <p:cNvPr id="22" name="Text 19"/>
          <p:cNvSpPr/>
          <p:nvPr/>
        </p:nvSpPr>
        <p:spPr>
          <a:xfrm>
            <a:off x="7818120" y="3127248"/>
            <a:ext cx="50292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5</a:t>
            </a:r>
            <a:endParaRPr lang="en-US" sz="880" dirty="0"/>
          </a:p>
        </p:txBody>
      </p:sp>
      <p:sp>
        <p:nvSpPr>
          <p:cNvPr id="23" name="Text 20"/>
          <p:cNvSpPr/>
          <p:nvPr/>
        </p:nvSpPr>
        <p:spPr>
          <a:xfrm>
            <a:off x="8321040" y="3127248"/>
            <a:ext cx="1828800" cy="393192"/>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C026D3"/>
                </a:solidFill>
                <a:latin typeface="Aptos" pitchFamily="34" charset="0"/>
                <a:ea typeface="Aptos" pitchFamily="34" charset="-122"/>
                <a:cs typeface="Aptos" pitchFamily="34" charset="-120"/>
              </a:rPr>
              <a:t>AI Model Security</a:t>
            </a:r>
            <a:endParaRPr lang="en-US" sz="880" dirty="0"/>
          </a:p>
        </p:txBody>
      </p:sp>
      <p:sp>
        <p:nvSpPr>
          <p:cNvPr id="24" name="Text 21"/>
          <p:cNvSpPr/>
          <p:nvPr/>
        </p:nvSpPr>
        <p:spPr>
          <a:xfrm>
            <a:off x="10149840" y="3127248"/>
            <a:ext cx="77724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60</a:t>
            </a:r>
            <a:endParaRPr lang="en-US" sz="880" dirty="0"/>
          </a:p>
        </p:txBody>
      </p:sp>
      <p:sp>
        <p:nvSpPr>
          <p:cNvPr id="25" name="Text 22"/>
          <p:cNvSpPr/>
          <p:nvPr/>
        </p:nvSpPr>
        <p:spPr>
          <a:xfrm>
            <a:off x="7818120" y="3520440"/>
            <a:ext cx="50292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6</a:t>
            </a:r>
            <a:endParaRPr lang="en-US" sz="880" dirty="0"/>
          </a:p>
        </p:txBody>
      </p:sp>
      <p:sp>
        <p:nvSpPr>
          <p:cNvPr id="26" name="Text 23"/>
          <p:cNvSpPr/>
          <p:nvPr/>
        </p:nvSpPr>
        <p:spPr>
          <a:xfrm>
            <a:off x="8321040" y="3520440"/>
            <a:ext cx="1828800" cy="393192"/>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EF4444"/>
                </a:solidFill>
                <a:latin typeface="Aptos" pitchFamily="34" charset="0"/>
                <a:ea typeface="Aptos" pitchFamily="34" charset="-122"/>
                <a:cs typeface="Aptos" pitchFamily="34" charset="-120"/>
              </a:rPr>
              <a:t>Malware and Phishing Defense</a:t>
            </a:r>
            <a:endParaRPr lang="en-US" sz="880" dirty="0"/>
          </a:p>
        </p:txBody>
      </p:sp>
      <p:sp>
        <p:nvSpPr>
          <p:cNvPr id="27" name="Text 24"/>
          <p:cNvSpPr/>
          <p:nvPr/>
        </p:nvSpPr>
        <p:spPr>
          <a:xfrm>
            <a:off x="10149840" y="3520440"/>
            <a:ext cx="77724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32</a:t>
            </a:r>
            <a:endParaRPr lang="en-US" sz="880" dirty="0"/>
          </a:p>
        </p:txBody>
      </p:sp>
      <p:sp>
        <p:nvSpPr>
          <p:cNvPr id="28" name="Text 25"/>
          <p:cNvSpPr/>
          <p:nvPr/>
        </p:nvSpPr>
        <p:spPr>
          <a:xfrm>
            <a:off x="7818120" y="3913632"/>
            <a:ext cx="50292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7</a:t>
            </a:r>
            <a:endParaRPr lang="en-US" sz="880" dirty="0"/>
          </a:p>
        </p:txBody>
      </p:sp>
      <p:sp>
        <p:nvSpPr>
          <p:cNvPr id="29" name="Text 26"/>
          <p:cNvSpPr/>
          <p:nvPr/>
        </p:nvSpPr>
        <p:spPr>
          <a:xfrm>
            <a:off x="8321040" y="3913632"/>
            <a:ext cx="1828800" cy="393192"/>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6B7280"/>
                </a:solidFill>
                <a:latin typeface="Aptos" pitchFamily="34" charset="0"/>
                <a:ea typeface="Aptos" pitchFamily="34" charset="-122"/>
                <a:cs typeface="Aptos" pitchFamily="34" charset="-120"/>
              </a:rPr>
              <a:t>Security Automation and Testing</a:t>
            </a:r>
            <a:endParaRPr lang="en-US" sz="880" dirty="0"/>
          </a:p>
        </p:txBody>
      </p:sp>
      <p:sp>
        <p:nvSpPr>
          <p:cNvPr id="30" name="Text 27"/>
          <p:cNvSpPr/>
          <p:nvPr/>
        </p:nvSpPr>
        <p:spPr>
          <a:xfrm>
            <a:off x="10149840" y="3913632"/>
            <a:ext cx="77724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26</a:t>
            </a:r>
            <a:endParaRPr lang="en-US" sz="880" dirty="0"/>
          </a:p>
        </p:txBody>
      </p:sp>
      <p:sp>
        <p:nvSpPr>
          <p:cNvPr id="31" name="Text 28"/>
          <p:cNvSpPr/>
          <p:nvPr/>
        </p:nvSpPr>
        <p:spPr>
          <a:xfrm>
            <a:off x="7818120" y="4306824"/>
            <a:ext cx="50292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8</a:t>
            </a:r>
            <a:endParaRPr lang="en-US" sz="880" dirty="0"/>
          </a:p>
        </p:txBody>
      </p:sp>
      <p:sp>
        <p:nvSpPr>
          <p:cNvPr id="32" name="Text 29"/>
          <p:cNvSpPr/>
          <p:nvPr/>
        </p:nvSpPr>
        <p:spPr>
          <a:xfrm>
            <a:off x="8321040" y="4306824"/>
            <a:ext cx="1828800" cy="393192"/>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6A34A"/>
                </a:solidFill>
                <a:latin typeface="Aptos" pitchFamily="34" charset="0"/>
                <a:ea typeface="Aptos" pitchFamily="34" charset="-122"/>
                <a:cs typeface="Aptos" pitchFamily="34" charset="-120"/>
              </a:rPr>
              <a:t>Data and Privacy Protection</a:t>
            </a:r>
            <a:endParaRPr lang="en-US" sz="880" dirty="0"/>
          </a:p>
        </p:txBody>
      </p:sp>
      <p:sp>
        <p:nvSpPr>
          <p:cNvPr id="33" name="Text 30"/>
          <p:cNvSpPr/>
          <p:nvPr/>
        </p:nvSpPr>
        <p:spPr>
          <a:xfrm>
            <a:off x="10149840" y="4306824"/>
            <a:ext cx="777240" cy="393192"/>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25</a:t>
            </a:r>
            <a:endParaRPr lang="en-US" sz="880" dirty="0"/>
          </a:p>
        </p:txBody>
      </p:sp>
      <p:sp>
        <p:nvSpPr>
          <p:cNvPr id="34" name="Text 31"/>
          <p:cNvSpPr/>
          <p:nvPr/>
        </p:nvSpPr>
        <p:spPr>
          <a:xfrm>
            <a:off x="7818120" y="5166360"/>
            <a:ext cx="3383280" cy="502920"/>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1000" dirty="0">
                <a:solidFill>
                  <a:srgbClr val="1F2937"/>
                </a:solidFill>
                <a:latin typeface="Aptos" pitchFamily="34" charset="0"/>
                <a:ea typeface="Aptos" pitchFamily="34" charset="-122"/>
                <a:cs typeface="Aptos" pitchFamily="34" charset="-120"/>
              </a:rPr>
              <a:t>Largest bucket: Threat Detection and Response at 258 records (37.4%).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Category explanations (1 of 2)</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What each high-volume bucket captures in the landscape.</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685800" y="1234440"/>
            <a:ext cx="4892040" cy="201168"/>
          </a:xfrm>
          <a:prstGeom prst="rect">
            <a:avLst/>
          </a:prstGeom>
          <a:noFill/>
          <a:ln/>
        </p:spPr>
        <p:txBody>
          <a:bodyPr wrap="square" lIns="0" tIns="0" rIns="0" bIns="0" rtlCol="0" anchor="ctr">
            <a:normAutofit/>
          </a:bodyPr>
          <a:lstStyle/>
          <a:p>
            <a:pPr indent="0" marL="0">
              <a:buNone/>
            </a:pPr>
            <a:r>
              <a:rPr lang="en-US" sz="1050" b="1" dirty="0">
                <a:solidFill>
                  <a:srgbClr val="2F5597"/>
                </a:solidFill>
                <a:latin typeface="Aptos" pitchFamily="34" charset="0"/>
                <a:ea typeface="Aptos" pitchFamily="34" charset="-122"/>
                <a:cs typeface="Aptos" pitchFamily="34" charset="-120"/>
              </a:rPr>
              <a:t>Threat Detection and Response: 258 records</a:t>
            </a:r>
            <a:endParaRPr lang="en-US" sz="1050" dirty="0"/>
          </a:p>
        </p:txBody>
      </p:sp>
      <p:sp>
        <p:nvSpPr>
          <p:cNvPr id="7" name="Shape 5"/>
          <p:cNvSpPr/>
          <p:nvPr/>
        </p:nvSpPr>
        <p:spPr>
          <a:xfrm>
            <a:off x="685800" y="1490472"/>
            <a:ext cx="4892040" cy="0"/>
          </a:xfrm>
          <a:prstGeom prst="line">
            <a:avLst/>
          </a:prstGeom>
          <a:noFill/>
          <a:ln w="12700">
            <a:solidFill>
              <a:srgbClr val="2F5597"/>
            </a:solidFill>
            <a:prstDash val="solid"/>
          </a:ln>
        </p:spPr>
      </p:sp>
      <p:sp>
        <p:nvSpPr>
          <p:cNvPr id="8" name="Text 6"/>
          <p:cNvSpPr/>
          <p:nvPr/>
        </p:nvSpPr>
        <p:spPr>
          <a:xfrm>
            <a:off x="685800" y="1618488"/>
            <a:ext cx="4983480" cy="713232"/>
          </a:xfrm>
          <a:prstGeom prst="rect">
            <a:avLst/>
          </a:prstGeom>
          <a:noFill/>
          <a:ln/>
        </p:spPr>
        <p:txBody>
          <a:bodyPr wrap="square" lIns="0" tIns="0" rIns="0" bIns="0" rtlCol="0" anchor="ctr">
            <a:normAutofit/>
          </a:bodyPr>
          <a:lstStyle/>
          <a:p>
            <a:pPr indent="0" marL="0">
              <a:buNone/>
            </a:pPr>
            <a:r>
              <a:rPr lang="en-US" sz="1020" dirty="0">
                <a:solidFill>
                  <a:srgbClr val="1F2937"/>
                </a:solidFill>
                <a:latin typeface="Aptos" pitchFamily="34" charset="0"/>
                <a:ea typeface="Aptos" pitchFamily="34" charset="-122"/>
                <a:cs typeface="Aptos" pitchFamily="34" charset="-120"/>
              </a:rPr>
              <a:t>Model-based detection, alert scoring, incident triage, threat hunting and response decision support.</a:t>
            </a:r>
            <a:endParaRPr lang="en-US" sz="1020" dirty="0"/>
          </a:p>
        </p:txBody>
      </p:sp>
      <p:sp>
        <p:nvSpPr>
          <p:cNvPr id="9" name="Text 7"/>
          <p:cNvSpPr/>
          <p:nvPr/>
        </p:nvSpPr>
        <p:spPr>
          <a:xfrm>
            <a:off x="685800" y="2514600"/>
            <a:ext cx="4983480" cy="411480"/>
          </a:xfrm>
          <a:prstGeom prst="rect">
            <a:avLst/>
          </a:prstGeom>
          <a:solidFill>
            <a:srgbClr val="F3F6F8"/>
          </a:solidFill>
          <a:ln>
            <a:solidFill>
              <a:srgbClr val="F3F6F8"/>
            </a:solidFill>
          </a:ln>
        </p:spPr>
        <p:txBody>
          <a:bodyPr wrap="square" lIns="1397" tIns="1397" rIns="1397" bIns="1397" rtlCol="0" anchor="ctr">
            <a:normAutofit/>
          </a:bodyPr>
          <a:lstStyle/>
          <a:p>
            <a:pPr indent="0" marL="0">
              <a:buNone/>
            </a:pPr>
            <a:r>
              <a:rPr lang="en-US" sz="920" dirty="0">
                <a:solidFill>
                  <a:srgbClr val="1F2937"/>
                </a:solidFill>
                <a:latin typeface="Aptos" pitchFamily="34" charset="0"/>
                <a:ea typeface="Aptos" pitchFamily="34" charset="-122"/>
                <a:cs typeface="Aptos" pitchFamily="34" charset="-120"/>
              </a:rPr>
              <a:t>Leading assignee in this bucket: Microsoft (87 records).</a:t>
            </a:r>
            <a:endParaRPr lang="en-US" sz="920" dirty="0"/>
          </a:p>
        </p:txBody>
      </p:sp>
      <p:sp>
        <p:nvSpPr>
          <p:cNvPr id="10" name="Text 8"/>
          <p:cNvSpPr/>
          <p:nvPr/>
        </p:nvSpPr>
        <p:spPr>
          <a:xfrm>
            <a:off x="685800" y="3794760"/>
            <a:ext cx="4892040" cy="201168"/>
          </a:xfrm>
          <a:prstGeom prst="rect">
            <a:avLst/>
          </a:prstGeom>
          <a:noFill/>
          <a:ln/>
        </p:spPr>
        <p:txBody>
          <a:bodyPr wrap="square" lIns="0" tIns="0" rIns="0" bIns="0" rtlCol="0" anchor="ctr">
            <a:normAutofit/>
          </a:bodyPr>
          <a:lstStyle/>
          <a:p>
            <a:pPr indent="0" marL="0">
              <a:buNone/>
            </a:pPr>
            <a:r>
              <a:rPr lang="en-US" sz="1050" b="1" dirty="0">
                <a:solidFill>
                  <a:srgbClr val="00A6A6"/>
                </a:solidFill>
                <a:latin typeface="Aptos" pitchFamily="34" charset="0"/>
                <a:ea typeface="Aptos" pitchFamily="34" charset="-122"/>
                <a:cs typeface="Aptos" pitchFamily="34" charset="-120"/>
              </a:rPr>
              <a:t>Network and Cloud Security: 146 records</a:t>
            </a:r>
            <a:endParaRPr lang="en-US" sz="1050" dirty="0"/>
          </a:p>
        </p:txBody>
      </p:sp>
      <p:sp>
        <p:nvSpPr>
          <p:cNvPr id="11" name="Shape 9"/>
          <p:cNvSpPr/>
          <p:nvPr/>
        </p:nvSpPr>
        <p:spPr>
          <a:xfrm>
            <a:off x="685800" y="4050792"/>
            <a:ext cx="4892040" cy="0"/>
          </a:xfrm>
          <a:prstGeom prst="line">
            <a:avLst/>
          </a:prstGeom>
          <a:noFill/>
          <a:ln w="12700">
            <a:solidFill>
              <a:srgbClr val="00A6A6"/>
            </a:solidFill>
            <a:prstDash val="solid"/>
          </a:ln>
        </p:spPr>
      </p:sp>
      <p:sp>
        <p:nvSpPr>
          <p:cNvPr id="12" name="Text 10"/>
          <p:cNvSpPr/>
          <p:nvPr/>
        </p:nvSpPr>
        <p:spPr>
          <a:xfrm>
            <a:off x="685800" y="4178808"/>
            <a:ext cx="4983480" cy="713232"/>
          </a:xfrm>
          <a:prstGeom prst="rect">
            <a:avLst/>
          </a:prstGeom>
          <a:noFill/>
          <a:ln/>
        </p:spPr>
        <p:txBody>
          <a:bodyPr wrap="square" lIns="0" tIns="0" rIns="0" bIns="0" rtlCol="0" anchor="ctr">
            <a:normAutofit/>
          </a:bodyPr>
          <a:lstStyle/>
          <a:p>
            <a:pPr indent="0" marL="0">
              <a:buNone/>
            </a:pPr>
            <a:r>
              <a:rPr lang="en-US" sz="1020" dirty="0">
                <a:solidFill>
                  <a:srgbClr val="1F2937"/>
                </a:solidFill>
                <a:latin typeface="Aptos" pitchFamily="34" charset="0"/>
                <a:ea typeface="Aptos" pitchFamily="34" charset="-122"/>
                <a:cs typeface="Aptos" pitchFamily="34" charset="-120"/>
              </a:rPr>
              <a:t>Protection of network traffic, cloud workloads, endpoints, IoT/edge devices, segmentation and infrastructure telemetry.</a:t>
            </a:r>
            <a:endParaRPr lang="en-US" sz="1020" dirty="0"/>
          </a:p>
        </p:txBody>
      </p:sp>
      <p:sp>
        <p:nvSpPr>
          <p:cNvPr id="13" name="Text 11"/>
          <p:cNvSpPr/>
          <p:nvPr/>
        </p:nvSpPr>
        <p:spPr>
          <a:xfrm>
            <a:off x="685800" y="5074920"/>
            <a:ext cx="4983480" cy="411480"/>
          </a:xfrm>
          <a:prstGeom prst="rect">
            <a:avLst/>
          </a:prstGeom>
          <a:solidFill>
            <a:srgbClr val="F3F6F8"/>
          </a:solidFill>
          <a:ln>
            <a:solidFill>
              <a:srgbClr val="F3F6F8"/>
            </a:solidFill>
          </a:ln>
        </p:spPr>
        <p:txBody>
          <a:bodyPr wrap="square" lIns="1397" tIns="1397" rIns="1397" bIns="1397" rtlCol="0" anchor="ctr">
            <a:normAutofit/>
          </a:bodyPr>
          <a:lstStyle/>
          <a:p>
            <a:pPr indent="0" marL="0">
              <a:buNone/>
            </a:pPr>
            <a:r>
              <a:rPr lang="en-US" sz="920" dirty="0">
                <a:solidFill>
                  <a:srgbClr val="1F2937"/>
                </a:solidFill>
                <a:latin typeface="Aptos" pitchFamily="34" charset="0"/>
                <a:ea typeface="Aptos" pitchFamily="34" charset="-122"/>
                <a:cs typeface="Aptos" pitchFamily="34" charset="-120"/>
              </a:rPr>
              <a:t>Leading assignee in this bucket: Cisco (41 records).</a:t>
            </a:r>
            <a:endParaRPr lang="en-US" sz="920" dirty="0"/>
          </a:p>
        </p:txBody>
      </p:sp>
      <p:sp>
        <p:nvSpPr>
          <p:cNvPr id="14" name="Text 12"/>
          <p:cNvSpPr/>
          <p:nvPr/>
        </p:nvSpPr>
        <p:spPr>
          <a:xfrm>
            <a:off x="6172200" y="1234440"/>
            <a:ext cx="4892040" cy="201168"/>
          </a:xfrm>
          <a:prstGeom prst="rect">
            <a:avLst/>
          </a:prstGeom>
          <a:noFill/>
          <a:ln/>
        </p:spPr>
        <p:txBody>
          <a:bodyPr wrap="square" lIns="0" tIns="0" rIns="0" bIns="0" rtlCol="0" anchor="ctr">
            <a:normAutofit/>
          </a:bodyPr>
          <a:lstStyle/>
          <a:p>
            <a:pPr indent="0" marL="0">
              <a:buNone/>
            </a:pPr>
            <a:r>
              <a:rPr lang="en-US" sz="1050" b="1" dirty="0">
                <a:solidFill>
                  <a:srgbClr val="7B61FF"/>
                </a:solidFill>
                <a:latin typeface="Aptos" pitchFamily="34" charset="0"/>
                <a:ea typeface="Aptos" pitchFamily="34" charset="-122"/>
                <a:cs typeface="Aptos" pitchFamily="34" charset="-120"/>
              </a:rPr>
              <a:t>Identity and Access Management: 67 records</a:t>
            </a:r>
            <a:endParaRPr lang="en-US" sz="1050" dirty="0"/>
          </a:p>
        </p:txBody>
      </p:sp>
      <p:sp>
        <p:nvSpPr>
          <p:cNvPr id="15" name="Shape 13"/>
          <p:cNvSpPr/>
          <p:nvPr/>
        </p:nvSpPr>
        <p:spPr>
          <a:xfrm>
            <a:off x="6172200" y="1490472"/>
            <a:ext cx="4892040" cy="0"/>
          </a:xfrm>
          <a:prstGeom prst="line">
            <a:avLst/>
          </a:prstGeom>
          <a:noFill/>
          <a:ln w="12700">
            <a:solidFill>
              <a:srgbClr val="7B61FF"/>
            </a:solidFill>
            <a:prstDash val="solid"/>
          </a:ln>
        </p:spPr>
      </p:sp>
      <p:sp>
        <p:nvSpPr>
          <p:cNvPr id="16" name="Text 14"/>
          <p:cNvSpPr/>
          <p:nvPr/>
        </p:nvSpPr>
        <p:spPr>
          <a:xfrm>
            <a:off x="6172200" y="1618488"/>
            <a:ext cx="4983480" cy="713232"/>
          </a:xfrm>
          <a:prstGeom prst="rect">
            <a:avLst/>
          </a:prstGeom>
          <a:noFill/>
          <a:ln/>
        </p:spPr>
        <p:txBody>
          <a:bodyPr wrap="square" lIns="0" tIns="0" rIns="0" bIns="0" rtlCol="0" anchor="ctr">
            <a:normAutofit/>
          </a:bodyPr>
          <a:lstStyle/>
          <a:p>
            <a:pPr indent="0" marL="0">
              <a:buNone/>
            </a:pPr>
            <a:r>
              <a:rPr lang="en-US" sz="1020" dirty="0">
                <a:solidFill>
                  <a:srgbClr val="1F2937"/>
                </a:solidFill>
                <a:latin typeface="Aptos" pitchFamily="34" charset="0"/>
                <a:ea typeface="Aptos" pitchFamily="34" charset="-122"/>
                <a:cs typeface="Aptos" pitchFamily="34" charset="-120"/>
              </a:rPr>
              <a:t>Authentication, credentials, privileges, authorization, permissions, entitlement review and continuous access-risk controls.</a:t>
            </a:r>
            <a:endParaRPr lang="en-US" sz="1020" dirty="0"/>
          </a:p>
        </p:txBody>
      </p:sp>
      <p:sp>
        <p:nvSpPr>
          <p:cNvPr id="17" name="Text 15"/>
          <p:cNvSpPr/>
          <p:nvPr/>
        </p:nvSpPr>
        <p:spPr>
          <a:xfrm>
            <a:off x="6172200" y="2514600"/>
            <a:ext cx="4983480" cy="411480"/>
          </a:xfrm>
          <a:prstGeom prst="rect">
            <a:avLst/>
          </a:prstGeom>
          <a:solidFill>
            <a:srgbClr val="F3F6F8"/>
          </a:solidFill>
          <a:ln>
            <a:solidFill>
              <a:srgbClr val="F3F6F8"/>
            </a:solidFill>
          </a:ln>
        </p:spPr>
        <p:txBody>
          <a:bodyPr wrap="square" lIns="1397" tIns="1397" rIns="1397" bIns="1397" rtlCol="0" anchor="ctr">
            <a:normAutofit/>
          </a:bodyPr>
          <a:lstStyle/>
          <a:p>
            <a:pPr indent="0" marL="0">
              <a:buNone/>
            </a:pPr>
            <a:r>
              <a:rPr lang="en-US" sz="920" dirty="0">
                <a:solidFill>
                  <a:srgbClr val="1F2937"/>
                </a:solidFill>
                <a:latin typeface="Aptos" pitchFamily="34" charset="0"/>
                <a:ea typeface="Aptos" pitchFamily="34" charset="-122"/>
                <a:cs typeface="Aptos" pitchFamily="34" charset="-120"/>
              </a:rPr>
              <a:t>Leading assignee in this bucket: Cisco (21 records).</a:t>
            </a:r>
            <a:endParaRPr lang="en-US" sz="920" dirty="0"/>
          </a:p>
        </p:txBody>
      </p:sp>
      <p:sp>
        <p:nvSpPr>
          <p:cNvPr id="18" name="Text 16"/>
          <p:cNvSpPr/>
          <p:nvPr/>
        </p:nvSpPr>
        <p:spPr>
          <a:xfrm>
            <a:off x="6172200" y="3794760"/>
            <a:ext cx="4892040" cy="201168"/>
          </a:xfrm>
          <a:prstGeom prst="rect">
            <a:avLst/>
          </a:prstGeom>
          <a:noFill/>
          <a:ln/>
        </p:spPr>
        <p:txBody>
          <a:bodyPr wrap="square" lIns="0" tIns="0" rIns="0" bIns="0" rtlCol="0" anchor="ctr">
            <a:normAutofit/>
          </a:bodyPr>
          <a:lstStyle/>
          <a:p>
            <a:pPr indent="0" marL="0">
              <a:buNone/>
            </a:pPr>
            <a:r>
              <a:rPr lang="en-US" sz="1050" b="1" dirty="0">
                <a:solidFill>
                  <a:srgbClr val="F59E0B"/>
                </a:solidFill>
                <a:latin typeface="Aptos" pitchFamily="34" charset="0"/>
                <a:ea typeface="Aptos" pitchFamily="34" charset="-122"/>
                <a:cs typeface="Aptos" pitchFamily="34" charset="-120"/>
              </a:rPr>
              <a:t>Vulnerability and Risk Management: 75 records</a:t>
            </a:r>
            <a:endParaRPr lang="en-US" sz="1050" dirty="0"/>
          </a:p>
        </p:txBody>
      </p:sp>
      <p:sp>
        <p:nvSpPr>
          <p:cNvPr id="19" name="Shape 17"/>
          <p:cNvSpPr/>
          <p:nvPr/>
        </p:nvSpPr>
        <p:spPr>
          <a:xfrm>
            <a:off x="6172200" y="4050792"/>
            <a:ext cx="4892040" cy="0"/>
          </a:xfrm>
          <a:prstGeom prst="line">
            <a:avLst/>
          </a:prstGeom>
          <a:noFill/>
          <a:ln w="12700">
            <a:solidFill>
              <a:srgbClr val="F59E0B"/>
            </a:solidFill>
            <a:prstDash val="solid"/>
          </a:ln>
        </p:spPr>
      </p:sp>
      <p:sp>
        <p:nvSpPr>
          <p:cNvPr id="20" name="Text 18"/>
          <p:cNvSpPr/>
          <p:nvPr/>
        </p:nvSpPr>
        <p:spPr>
          <a:xfrm>
            <a:off x="6172200" y="4178808"/>
            <a:ext cx="4983480" cy="713232"/>
          </a:xfrm>
          <a:prstGeom prst="rect">
            <a:avLst/>
          </a:prstGeom>
          <a:noFill/>
          <a:ln/>
        </p:spPr>
        <p:txBody>
          <a:bodyPr wrap="square" lIns="0" tIns="0" rIns="0" bIns="0" rtlCol="0" anchor="ctr">
            <a:normAutofit/>
          </a:bodyPr>
          <a:lstStyle/>
          <a:p>
            <a:pPr indent="0" marL="0">
              <a:buNone/>
            </a:pPr>
            <a:r>
              <a:rPr lang="en-US" sz="1020" dirty="0">
                <a:solidFill>
                  <a:srgbClr val="1F2937"/>
                </a:solidFill>
                <a:latin typeface="Aptos" pitchFamily="34" charset="0"/>
                <a:ea typeface="Aptos" pitchFamily="34" charset="-122"/>
                <a:cs typeface="Aptos" pitchFamily="34" charset="-120"/>
              </a:rPr>
              <a:t>Vulnerability assessment, exploitability, exposure, attack surface, cyber-risk scoring and remediation prioritization.</a:t>
            </a:r>
            <a:endParaRPr lang="en-US" sz="1020" dirty="0"/>
          </a:p>
        </p:txBody>
      </p:sp>
      <p:sp>
        <p:nvSpPr>
          <p:cNvPr id="21" name="Text 19"/>
          <p:cNvSpPr/>
          <p:nvPr/>
        </p:nvSpPr>
        <p:spPr>
          <a:xfrm>
            <a:off x="6172200" y="5074920"/>
            <a:ext cx="4983480" cy="411480"/>
          </a:xfrm>
          <a:prstGeom prst="rect">
            <a:avLst/>
          </a:prstGeom>
          <a:solidFill>
            <a:srgbClr val="F3F6F8"/>
          </a:solidFill>
          <a:ln>
            <a:solidFill>
              <a:srgbClr val="F3F6F8"/>
            </a:solidFill>
          </a:ln>
        </p:spPr>
        <p:txBody>
          <a:bodyPr wrap="square" lIns="1397" tIns="1397" rIns="1397" bIns="1397" rtlCol="0" anchor="ctr">
            <a:normAutofit/>
          </a:bodyPr>
          <a:lstStyle/>
          <a:p>
            <a:pPr indent="0" marL="0">
              <a:buNone/>
            </a:pPr>
            <a:r>
              <a:rPr lang="en-US" sz="920" dirty="0">
                <a:solidFill>
                  <a:srgbClr val="1F2937"/>
                </a:solidFill>
                <a:latin typeface="Aptos" pitchFamily="34" charset="0"/>
                <a:ea typeface="Aptos" pitchFamily="34" charset="-122"/>
                <a:cs typeface="Aptos" pitchFamily="34" charset="-120"/>
              </a:rPr>
              <a:t>Leading assignee in this bucket: Cisco (22 records).</a:t>
            </a:r>
            <a:endParaRPr lang="en-US" sz="9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Category explanations (2 of 2)</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Lower-count buckets can still be strong invention areas when combined with cloud, identity and AI model contexts.</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685800" y="1234440"/>
            <a:ext cx="4892040" cy="201168"/>
          </a:xfrm>
          <a:prstGeom prst="rect">
            <a:avLst/>
          </a:prstGeom>
          <a:noFill/>
          <a:ln/>
        </p:spPr>
        <p:txBody>
          <a:bodyPr wrap="square" lIns="0" tIns="0" rIns="0" bIns="0" rtlCol="0" anchor="ctr">
            <a:normAutofit/>
          </a:bodyPr>
          <a:lstStyle/>
          <a:p>
            <a:pPr indent="0" marL="0">
              <a:buNone/>
            </a:pPr>
            <a:r>
              <a:rPr lang="en-US" sz="1050" b="1" dirty="0">
                <a:solidFill>
                  <a:srgbClr val="C026D3"/>
                </a:solidFill>
                <a:latin typeface="Aptos" pitchFamily="34" charset="0"/>
                <a:ea typeface="Aptos" pitchFamily="34" charset="-122"/>
                <a:cs typeface="Aptos" pitchFamily="34" charset="-120"/>
              </a:rPr>
              <a:t>AI Model Security: 60 records</a:t>
            </a:r>
            <a:endParaRPr lang="en-US" sz="1050" dirty="0"/>
          </a:p>
        </p:txBody>
      </p:sp>
      <p:sp>
        <p:nvSpPr>
          <p:cNvPr id="7" name="Shape 5"/>
          <p:cNvSpPr/>
          <p:nvPr/>
        </p:nvSpPr>
        <p:spPr>
          <a:xfrm>
            <a:off x="685800" y="1490472"/>
            <a:ext cx="4892040" cy="0"/>
          </a:xfrm>
          <a:prstGeom prst="line">
            <a:avLst/>
          </a:prstGeom>
          <a:noFill/>
          <a:ln w="12700">
            <a:solidFill>
              <a:srgbClr val="C026D3"/>
            </a:solidFill>
            <a:prstDash val="solid"/>
          </a:ln>
        </p:spPr>
      </p:sp>
      <p:sp>
        <p:nvSpPr>
          <p:cNvPr id="8" name="Text 6"/>
          <p:cNvSpPr/>
          <p:nvPr/>
        </p:nvSpPr>
        <p:spPr>
          <a:xfrm>
            <a:off x="685800" y="1618488"/>
            <a:ext cx="4983480" cy="713232"/>
          </a:xfrm>
          <a:prstGeom prst="rect">
            <a:avLst/>
          </a:prstGeom>
          <a:noFill/>
          <a:ln/>
        </p:spPr>
        <p:txBody>
          <a:bodyPr wrap="square" lIns="0" tIns="0" rIns="0" bIns="0" rtlCol="0" anchor="ctr">
            <a:normAutofit/>
          </a:bodyPr>
          <a:lstStyle/>
          <a:p>
            <a:pPr indent="0" marL="0">
              <a:buNone/>
            </a:pPr>
            <a:r>
              <a:rPr lang="en-US" sz="1020" dirty="0">
                <a:solidFill>
                  <a:srgbClr val="1F2937"/>
                </a:solidFill>
                <a:latin typeface="Aptos" pitchFamily="34" charset="0"/>
                <a:ea typeface="Aptos" pitchFamily="34" charset="-122"/>
                <a:cs typeface="Aptos" pitchFamily="34" charset="-120"/>
              </a:rPr>
              <a:t>Security of LLMs, generative AI systems and ML models, including prompt attacks, adversarial inputs and model-risk controls.</a:t>
            </a:r>
            <a:endParaRPr lang="en-US" sz="1020" dirty="0"/>
          </a:p>
        </p:txBody>
      </p:sp>
      <p:sp>
        <p:nvSpPr>
          <p:cNvPr id="9" name="Text 7"/>
          <p:cNvSpPr/>
          <p:nvPr/>
        </p:nvSpPr>
        <p:spPr>
          <a:xfrm>
            <a:off x="685800" y="2514600"/>
            <a:ext cx="4983480" cy="411480"/>
          </a:xfrm>
          <a:prstGeom prst="rect">
            <a:avLst/>
          </a:prstGeom>
          <a:solidFill>
            <a:srgbClr val="F3F6F8"/>
          </a:solidFill>
          <a:ln>
            <a:solidFill>
              <a:srgbClr val="F3F6F8"/>
            </a:solidFill>
          </a:ln>
        </p:spPr>
        <p:txBody>
          <a:bodyPr wrap="square" lIns="1397" tIns="1397" rIns="1397" bIns="1397" rtlCol="0" anchor="ctr">
            <a:normAutofit/>
          </a:bodyPr>
          <a:lstStyle/>
          <a:p>
            <a:pPr indent="0" marL="0">
              <a:buNone/>
            </a:pPr>
            <a:r>
              <a:rPr lang="en-US" sz="920" dirty="0">
                <a:solidFill>
                  <a:srgbClr val="1F2937"/>
                </a:solidFill>
                <a:latin typeface="Aptos" pitchFamily="34" charset="0"/>
                <a:ea typeface="Aptos" pitchFamily="34" charset="-122"/>
                <a:cs typeface="Aptos" pitchFamily="34" charset="-120"/>
              </a:rPr>
              <a:t>Leading assignee in this bucket: Palo Alto Networks (20 records).</a:t>
            </a:r>
            <a:endParaRPr lang="en-US" sz="920" dirty="0"/>
          </a:p>
        </p:txBody>
      </p:sp>
      <p:sp>
        <p:nvSpPr>
          <p:cNvPr id="10" name="Text 8"/>
          <p:cNvSpPr/>
          <p:nvPr/>
        </p:nvSpPr>
        <p:spPr>
          <a:xfrm>
            <a:off x="685800" y="3794760"/>
            <a:ext cx="4892040" cy="201168"/>
          </a:xfrm>
          <a:prstGeom prst="rect">
            <a:avLst/>
          </a:prstGeom>
          <a:noFill/>
          <a:ln/>
        </p:spPr>
        <p:txBody>
          <a:bodyPr wrap="square" lIns="0" tIns="0" rIns="0" bIns="0" rtlCol="0" anchor="ctr">
            <a:normAutofit/>
          </a:bodyPr>
          <a:lstStyle/>
          <a:p>
            <a:pPr indent="0" marL="0">
              <a:buNone/>
            </a:pPr>
            <a:r>
              <a:rPr lang="en-US" sz="1050" b="1" dirty="0">
                <a:solidFill>
                  <a:srgbClr val="EF4444"/>
                </a:solidFill>
                <a:latin typeface="Aptos" pitchFamily="34" charset="0"/>
                <a:ea typeface="Aptos" pitchFamily="34" charset="-122"/>
                <a:cs typeface="Aptos" pitchFamily="34" charset="-120"/>
              </a:rPr>
              <a:t>Malware and Phishing Defense: 32 records</a:t>
            </a:r>
            <a:endParaRPr lang="en-US" sz="1050" dirty="0"/>
          </a:p>
        </p:txBody>
      </p:sp>
      <p:sp>
        <p:nvSpPr>
          <p:cNvPr id="11" name="Shape 9"/>
          <p:cNvSpPr/>
          <p:nvPr/>
        </p:nvSpPr>
        <p:spPr>
          <a:xfrm>
            <a:off x="685800" y="4050792"/>
            <a:ext cx="4892040" cy="0"/>
          </a:xfrm>
          <a:prstGeom prst="line">
            <a:avLst/>
          </a:prstGeom>
          <a:noFill/>
          <a:ln w="12700">
            <a:solidFill>
              <a:srgbClr val="EF4444"/>
            </a:solidFill>
            <a:prstDash val="solid"/>
          </a:ln>
        </p:spPr>
      </p:sp>
      <p:sp>
        <p:nvSpPr>
          <p:cNvPr id="12" name="Text 10"/>
          <p:cNvSpPr/>
          <p:nvPr/>
        </p:nvSpPr>
        <p:spPr>
          <a:xfrm>
            <a:off x="685800" y="4178808"/>
            <a:ext cx="4983480" cy="713232"/>
          </a:xfrm>
          <a:prstGeom prst="rect">
            <a:avLst/>
          </a:prstGeom>
          <a:noFill/>
          <a:ln/>
        </p:spPr>
        <p:txBody>
          <a:bodyPr wrap="square" lIns="0" tIns="0" rIns="0" bIns="0" rtlCol="0" anchor="ctr">
            <a:normAutofit/>
          </a:bodyPr>
          <a:lstStyle/>
          <a:p>
            <a:pPr indent="0" marL="0">
              <a:buNone/>
            </a:pPr>
            <a:r>
              <a:rPr lang="en-US" sz="1020" dirty="0">
                <a:solidFill>
                  <a:srgbClr val="1F2937"/>
                </a:solidFill>
                <a:latin typeface="Aptos" pitchFamily="34" charset="0"/>
                <a:ea typeface="Aptos" pitchFamily="34" charset="-122"/>
                <a:cs typeface="Aptos" pitchFamily="34" charset="-120"/>
              </a:rPr>
              <a:t>Detection and defense for malware, ransomware, phishing, malicious URLs/files/emails, bot activity, scams and deepfakes.</a:t>
            </a:r>
            <a:endParaRPr lang="en-US" sz="1020" dirty="0"/>
          </a:p>
        </p:txBody>
      </p:sp>
      <p:sp>
        <p:nvSpPr>
          <p:cNvPr id="13" name="Text 11"/>
          <p:cNvSpPr/>
          <p:nvPr/>
        </p:nvSpPr>
        <p:spPr>
          <a:xfrm>
            <a:off x="685800" y="5074920"/>
            <a:ext cx="4983480" cy="411480"/>
          </a:xfrm>
          <a:prstGeom prst="rect">
            <a:avLst/>
          </a:prstGeom>
          <a:solidFill>
            <a:srgbClr val="F3F6F8"/>
          </a:solidFill>
          <a:ln>
            <a:solidFill>
              <a:srgbClr val="F3F6F8"/>
            </a:solidFill>
          </a:ln>
        </p:spPr>
        <p:txBody>
          <a:bodyPr wrap="square" lIns="1397" tIns="1397" rIns="1397" bIns="1397" rtlCol="0" anchor="ctr">
            <a:normAutofit/>
          </a:bodyPr>
          <a:lstStyle/>
          <a:p>
            <a:pPr indent="0" marL="0">
              <a:buNone/>
            </a:pPr>
            <a:r>
              <a:rPr lang="en-US" sz="920" dirty="0">
                <a:solidFill>
                  <a:srgbClr val="1F2937"/>
                </a:solidFill>
                <a:latin typeface="Aptos" pitchFamily="34" charset="0"/>
                <a:ea typeface="Aptos" pitchFamily="34" charset="-122"/>
                <a:cs typeface="Aptos" pitchFamily="34" charset="-120"/>
              </a:rPr>
              <a:t>Leading assignee in this bucket: Palo Alto Networks (10 records).</a:t>
            </a:r>
            <a:endParaRPr lang="en-US" sz="920" dirty="0"/>
          </a:p>
        </p:txBody>
      </p:sp>
      <p:sp>
        <p:nvSpPr>
          <p:cNvPr id="14" name="Text 12"/>
          <p:cNvSpPr/>
          <p:nvPr/>
        </p:nvSpPr>
        <p:spPr>
          <a:xfrm>
            <a:off x="6172200" y="1234440"/>
            <a:ext cx="4892040" cy="201168"/>
          </a:xfrm>
          <a:prstGeom prst="rect">
            <a:avLst/>
          </a:prstGeom>
          <a:noFill/>
          <a:ln/>
        </p:spPr>
        <p:txBody>
          <a:bodyPr wrap="square" lIns="0" tIns="0" rIns="0" bIns="0" rtlCol="0" anchor="ctr">
            <a:normAutofit/>
          </a:bodyPr>
          <a:lstStyle/>
          <a:p>
            <a:pPr indent="0" marL="0">
              <a:buNone/>
            </a:pPr>
            <a:r>
              <a:rPr lang="en-US" sz="1050" b="1" dirty="0">
                <a:solidFill>
                  <a:srgbClr val="16A34A"/>
                </a:solidFill>
                <a:latin typeface="Aptos" pitchFamily="34" charset="0"/>
                <a:ea typeface="Aptos" pitchFamily="34" charset="-122"/>
                <a:cs typeface="Aptos" pitchFamily="34" charset="-120"/>
              </a:rPr>
              <a:t>Data and Privacy Protection: 25 records</a:t>
            </a:r>
            <a:endParaRPr lang="en-US" sz="1050" dirty="0"/>
          </a:p>
        </p:txBody>
      </p:sp>
      <p:sp>
        <p:nvSpPr>
          <p:cNvPr id="15" name="Shape 13"/>
          <p:cNvSpPr/>
          <p:nvPr/>
        </p:nvSpPr>
        <p:spPr>
          <a:xfrm>
            <a:off x="6172200" y="1490472"/>
            <a:ext cx="4892040" cy="0"/>
          </a:xfrm>
          <a:prstGeom prst="line">
            <a:avLst/>
          </a:prstGeom>
          <a:noFill/>
          <a:ln w="12700">
            <a:solidFill>
              <a:srgbClr val="16A34A"/>
            </a:solidFill>
            <a:prstDash val="solid"/>
          </a:ln>
        </p:spPr>
      </p:sp>
      <p:sp>
        <p:nvSpPr>
          <p:cNvPr id="16" name="Text 14"/>
          <p:cNvSpPr/>
          <p:nvPr/>
        </p:nvSpPr>
        <p:spPr>
          <a:xfrm>
            <a:off x="6172200" y="1618488"/>
            <a:ext cx="4983480" cy="713232"/>
          </a:xfrm>
          <a:prstGeom prst="rect">
            <a:avLst/>
          </a:prstGeom>
          <a:noFill/>
          <a:ln/>
        </p:spPr>
        <p:txBody>
          <a:bodyPr wrap="square" lIns="0" tIns="0" rIns="0" bIns="0" rtlCol="0" anchor="ctr">
            <a:normAutofit/>
          </a:bodyPr>
          <a:lstStyle/>
          <a:p>
            <a:pPr indent="0" marL="0">
              <a:buNone/>
            </a:pPr>
            <a:r>
              <a:rPr lang="en-US" sz="1020" dirty="0">
                <a:solidFill>
                  <a:srgbClr val="1F2937"/>
                </a:solidFill>
                <a:latin typeface="Aptos" pitchFamily="34" charset="0"/>
                <a:ea typeface="Aptos" pitchFamily="34" charset="-122"/>
                <a:cs typeface="Aptos" pitchFamily="34" charset="-120"/>
              </a:rPr>
              <a:t>Data leakage, exfiltration, sensitive data, privacy, encryption, cryptography, certificates and secrets protection.</a:t>
            </a:r>
            <a:endParaRPr lang="en-US" sz="1020" dirty="0"/>
          </a:p>
        </p:txBody>
      </p:sp>
      <p:sp>
        <p:nvSpPr>
          <p:cNvPr id="17" name="Text 15"/>
          <p:cNvSpPr/>
          <p:nvPr/>
        </p:nvSpPr>
        <p:spPr>
          <a:xfrm>
            <a:off x="6172200" y="2514600"/>
            <a:ext cx="4983480" cy="411480"/>
          </a:xfrm>
          <a:prstGeom prst="rect">
            <a:avLst/>
          </a:prstGeom>
          <a:solidFill>
            <a:srgbClr val="F3F6F8"/>
          </a:solidFill>
          <a:ln>
            <a:solidFill>
              <a:srgbClr val="F3F6F8"/>
            </a:solidFill>
          </a:ln>
        </p:spPr>
        <p:txBody>
          <a:bodyPr wrap="square" lIns="1397" tIns="1397" rIns="1397" bIns="1397" rtlCol="0" anchor="ctr">
            <a:normAutofit/>
          </a:bodyPr>
          <a:lstStyle/>
          <a:p>
            <a:pPr indent="0" marL="0">
              <a:buNone/>
            </a:pPr>
            <a:r>
              <a:rPr lang="en-US" sz="920" dirty="0">
                <a:solidFill>
                  <a:srgbClr val="1F2937"/>
                </a:solidFill>
                <a:latin typeface="Aptos" pitchFamily="34" charset="0"/>
                <a:ea typeface="Aptos" pitchFamily="34" charset="-122"/>
                <a:cs typeface="Aptos" pitchFamily="34" charset="-120"/>
              </a:rPr>
              <a:t>Leading assignee in this bucket: Cisco (7 records).</a:t>
            </a:r>
            <a:endParaRPr lang="en-US" sz="920" dirty="0"/>
          </a:p>
        </p:txBody>
      </p:sp>
      <p:sp>
        <p:nvSpPr>
          <p:cNvPr id="18" name="Text 16"/>
          <p:cNvSpPr/>
          <p:nvPr/>
        </p:nvSpPr>
        <p:spPr>
          <a:xfrm>
            <a:off x="6172200" y="3794760"/>
            <a:ext cx="4892040" cy="201168"/>
          </a:xfrm>
          <a:prstGeom prst="rect">
            <a:avLst/>
          </a:prstGeom>
          <a:noFill/>
          <a:ln/>
        </p:spPr>
        <p:txBody>
          <a:bodyPr wrap="square" lIns="0" tIns="0" rIns="0" bIns="0" rtlCol="0" anchor="ctr">
            <a:normAutofit/>
          </a:bodyPr>
          <a:lstStyle/>
          <a:p>
            <a:pPr indent="0" marL="0">
              <a:buNone/>
            </a:pPr>
            <a:r>
              <a:rPr lang="en-US" sz="1050" b="1" dirty="0">
                <a:solidFill>
                  <a:srgbClr val="6B7280"/>
                </a:solidFill>
                <a:latin typeface="Aptos" pitchFamily="34" charset="0"/>
                <a:ea typeface="Aptos" pitchFamily="34" charset="-122"/>
                <a:cs typeface="Aptos" pitchFamily="34" charset="-120"/>
              </a:rPr>
              <a:t>Security Automation and Testing: 26 records</a:t>
            </a:r>
            <a:endParaRPr lang="en-US" sz="1050" dirty="0"/>
          </a:p>
        </p:txBody>
      </p:sp>
      <p:sp>
        <p:nvSpPr>
          <p:cNvPr id="19" name="Shape 17"/>
          <p:cNvSpPr/>
          <p:nvPr/>
        </p:nvSpPr>
        <p:spPr>
          <a:xfrm>
            <a:off x="6172200" y="4050792"/>
            <a:ext cx="4892040" cy="0"/>
          </a:xfrm>
          <a:prstGeom prst="line">
            <a:avLst/>
          </a:prstGeom>
          <a:noFill/>
          <a:ln w="12700">
            <a:solidFill>
              <a:srgbClr val="6B7280"/>
            </a:solidFill>
            <a:prstDash val="solid"/>
          </a:ln>
        </p:spPr>
      </p:sp>
      <p:sp>
        <p:nvSpPr>
          <p:cNvPr id="20" name="Text 18"/>
          <p:cNvSpPr/>
          <p:nvPr/>
        </p:nvSpPr>
        <p:spPr>
          <a:xfrm>
            <a:off x="6172200" y="4178808"/>
            <a:ext cx="4983480" cy="713232"/>
          </a:xfrm>
          <a:prstGeom prst="rect">
            <a:avLst/>
          </a:prstGeom>
          <a:noFill/>
          <a:ln/>
        </p:spPr>
        <p:txBody>
          <a:bodyPr wrap="square" lIns="0" tIns="0" rIns="0" bIns="0" rtlCol="0" anchor="ctr">
            <a:normAutofit/>
          </a:bodyPr>
          <a:lstStyle/>
          <a:p>
            <a:pPr indent="0" marL="0">
              <a:buNone/>
            </a:pPr>
            <a:r>
              <a:rPr lang="en-US" sz="1020" dirty="0">
                <a:solidFill>
                  <a:srgbClr val="1F2937"/>
                </a:solidFill>
                <a:latin typeface="Aptos" pitchFamily="34" charset="0"/>
                <a:ea typeface="Aptos" pitchFamily="34" charset="-122"/>
                <a:cs typeface="Aptos" pitchFamily="34" charset="-120"/>
              </a:rPr>
              <a:t>Security testing, CI/CD protection, static analysis, policy correction, automated remediation and workflow orchestration.</a:t>
            </a:r>
            <a:endParaRPr lang="en-US" sz="1020" dirty="0"/>
          </a:p>
        </p:txBody>
      </p:sp>
      <p:sp>
        <p:nvSpPr>
          <p:cNvPr id="21" name="Text 19"/>
          <p:cNvSpPr/>
          <p:nvPr/>
        </p:nvSpPr>
        <p:spPr>
          <a:xfrm>
            <a:off x="6172200" y="5074920"/>
            <a:ext cx="4983480" cy="411480"/>
          </a:xfrm>
          <a:prstGeom prst="rect">
            <a:avLst/>
          </a:prstGeom>
          <a:solidFill>
            <a:srgbClr val="F3F6F8"/>
          </a:solidFill>
          <a:ln>
            <a:solidFill>
              <a:srgbClr val="F3F6F8"/>
            </a:solidFill>
          </a:ln>
        </p:spPr>
        <p:txBody>
          <a:bodyPr wrap="square" lIns="1397" tIns="1397" rIns="1397" bIns="1397" rtlCol="0" anchor="ctr">
            <a:normAutofit/>
          </a:bodyPr>
          <a:lstStyle/>
          <a:p>
            <a:pPr indent="0" marL="0">
              <a:buNone/>
            </a:pPr>
            <a:r>
              <a:rPr lang="en-US" sz="920" dirty="0">
                <a:solidFill>
                  <a:srgbClr val="1F2937"/>
                </a:solidFill>
                <a:latin typeface="Aptos" pitchFamily="34" charset="0"/>
                <a:ea typeface="Aptos" pitchFamily="34" charset="-122"/>
                <a:cs typeface="Aptos" pitchFamily="34" charset="-120"/>
              </a:rPr>
              <a:t>Leading assignee in this bucket: Palo Alto Networks (6 records).</a:t>
            </a:r>
            <a:endParaRPr lang="en-US" sz="9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Top patent filing companies</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Companies are ranked by patent publication/application record count.</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graphicFrame>
        <p:nvGraphicFramePr>
          <p:cNvPr id="6" name="Chart 0" descr=""/>
          <p:cNvGraphicFramePr/>
          <p:nvPr/>
        </p:nvGraphicFramePr>
        <p:xfrm>
          <a:off x="685800" y="1097280"/>
          <a:ext cx="7406640" cy="53492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458200" y="1417320"/>
            <a:ext cx="2606040" cy="384048"/>
          </a:xfrm>
          <a:prstGeom prst="rect">
            <a:avLst/>
          </a:prstGeom>
          <a:noFill/>
          <a:ln/>
        </p:spPr>
        <p:txBody>
          <a:bodyPr wrap="square" lIns="0" tIns="0" rIns="0" bIns="0" rtlCol="0" anchor="ctr">
            <a:normAutofit/>
          </a:bodyPr>
          <a:lstStyle/>
          <a:p>
            <a:pPr indent="0" marL="0">
              <a:buNone/>
            </a:pPr>
            <a:r>
              <a:rPr lang="en-US" sz="2500" b="1" dirty="0">
                <a:solidFill>
                  <a:srgbClr val="2F5597"/>
                </a:solidFill>
                <a:latin typeface="Aptos Display" pitchFamily="34" charset="0"/>
                <a:ea typeface="Aptos Display" pitchFamily="34" charset="-122"/>
                <a:cs typeface="Aptos Display" pitchFamily="34" charset="-120"/>
              </a:rPr>
              <a:t>167</a:t>
            </a:r>
            <a:endParaRPr lang="en-US" sz="2500" dirty="0"/>
          </a:p>
        </p:txBody>
      </p:sp>
      <p:sp>
        <p:nvSpPr>
          <p:cNvPr id="8" name="Text 5"/>
          <p:cNvSpPr/>
          <p:nvPr/>
        </p:nvSpPr>
        <p:spPr>
          <a:xfrm>
            <a:off x="8458200" y="1837944"/>
            <a:ext cx="2606040" cy="210312"/>
          </a:xfrm>
          <a:prstGeom prst="rect">
            <a:avLst/>
          </a:prstGeom>
          <a:noFill/>
          <a:ln/>
        </p:spPr>
        <p:txBody>
          <a:bodyPr wrap="square" lIns="0" tIns="0" rIns="0" bIns="0" rtlCol="0" anchor="ctr">
            <a:normAutofit/>
          </a:bodyPr>
          <a:lstStyle/>
          <a:p>
            <a:pPr indent="0" marL="0">
              <a:buNone/>
            </a:pPr>
            <a:r>
              <a:rPr lang="en-US" sz="1000" b="1" dirty="0">
                <a:solidFill>
                  <a:srgbClr val="1F2937"/>
                </a:solidFill>
                <a:latin typeface="Aptos" pitchFamily="34" charset="0"/>
                <a:ea typeface="Aptos" pitchFamily="34" charset="-122"/>
                <a:cs typeface="Aptos" pitchFamily="34" charset="-120"/>
              </a:rPr>
              <a:t>Top company</a:t>
            </a:r>
            <a:endParaRPr lang="en-US" sz="1000" dirty="0"/>
          </a:p>
        </p:txBody>
      </p:sp>
      <p:sp>
        <p:nvSpPr>
          <p:cNvPr id="9" name="Text 6"/>
          <p:cNvSpPr/>
          <p:nvPr/>
        </p:nvSpPr>
        <p:spPr>
          <a:xfrm>
            <a:off x="8458200" y="2075688"/>
            <a:ext cx="2606040" cy="402336"/>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Microsoft</a:t>
            </a:r>
            <a:endParaRPr lang="en-US" sz="850" dirty="0"/>
          </a:p>
        </p:txBody>
      </p:sp>
      <p:sp>
        <p:nvSpPr>
          <p:cNvPr id="10" name="Text 7"/>
          <p:cNvSpPr/>
          <p:nvPr/>
        </p:nvSpPr>
        <p:spPr>
          <a:xfrm>
            <a:off x="8458200" y="2743200"/>
            <a:ext cx="2606040" cy="384048"/>
          </a:xfrm>
          <a:prstGeom prst="rect">
            <a:avLst/>
          </a:prstGeom>
          <a:noFill/>
          <a:ln/>
        </p:spPr>
        <p:txBody>
          <a:bodyPr wrap="square" lIns="0" tIns="0" rIns="0" bIns="0" rtlCol="0" anchor="ctr">
            <a:normAutofit/>
          </a:bodyPr>
          <a:lstStyle/>
          <a:p>
            <a:pPr indent="0" marL="0">
              <a:buNone/>
            </a:pPr>
            <a:r>
              <a:rPr lang="en-US" sz="2500" b="1" dirty="0">
                <a:solidFill>
                  <a:srgbClr val="00A6A6"/>
                </a:solidFill>
                <a:latin typeface="Aptos Display" pitchFamily="34" charset="0"/>
                <a:ea typeface="Aptos Display" pitchFamily="34" charset="-122"/>
                <a:cs typeface="Aptos Display" pitchFamily="34" charset="-120"/>
              </a:rPr>
              <a:t>61.1%</a:t>
            </a:r>
            <a:endParaRPr lang="en-US" sz="2500" dirty="0"/>
          </a:p>
        </p:txBody>
      </p:sp>
      <p:sp>
        <p:nvSpPr>
          <p:cNvPr id="11" name="Text 8"/>
          <p:cNvSpPr/>
          <p:nvPr/>
        </p:nvSpPr>
        <p:spPr>
          <a:xfrm>
            <a:off x="8458200" y="3163824"/>
            <a:ext cx="2606040" cy="210312"/>
          </a:xfrm>
          <a:prstGeom prst="rect">
            <a:avLst/>
          </a:prstGeom>
          <a:noFill/>
          <a:ln/>
        </p:spPr>
        <p:txBody>
          <a:bodyPr wrap="square" lIns="0" tIns="0" rIns="0" bIns="0" rtlCol="0" anchor="ctr">
            <a:normAutofit/>
          </a:bodyPr>
          <a:lstStyle/>
          <a:p>
            <a:pPr indent="0" marL="0">
              <a:buNone/>
            </a:pPr>
            <a:r>
              <a:rPr lang="en-US" sz="1000" b="1" dirty="0">
                <a:solidFill>
                  <a:srgbClr val="1F2937"/>
                </a:solidFill>
                <a:latin typeface="Aptos" pitchFamily="34" charset="0"/>
                <a:ea typeface="Aptos" pitchFamily="34" charset="-122"/>
                <a:cs typeface="Aptos" pitchFamily="34" charset="-120"/>
              </a:rPr>
              <a:t>Top 3 share</a:t>
            </a:r>
            <a:endParaRPr lang="en-US" sz="1000" dirty="0"/>
          </a:p>
        </p:txBody>
      </p:sp>
      <p:sp>
        <p:nvSpPr>
          <p:cNvPr id="12" name="Text 9"/>
          <p:cNvSpPr/>
          <p:nvPr/>
        </p:nvSpPr>
        <p:spPr>
          <a:xfrm>
            <a:off x="8458200" y="3401568"/>
            <a:ext cx="2606040" cy="402336"/>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Microsoft, Cisco and Fortinet.</a:t>
            </a:r>
            <a:endParaRPr lang="en-US" sz="850" dirty="0"/>
          </a:p>
        </p:txBody>
      </p:sp>
      <p:sp>
        <p:nvSpPr>
          <p:cNvPr id="13" name="Text 10"/>
          <p:cNvSpPr/>
          <p:nvPr/>
        </p:nvSpPr>
        <p:spPr>
          <a:xfrm>
            <a:off x="8458200" y="4069080"/>
            <a:ext cx="2606040" cy="384048"/>
          </a:xfrm>
          <a:prstGeom prst="rect">
            <a:avLst/>
          </a:prstGeom>
          <a:noFill/>
          <a:ln/>
        </p:spPr>
        <p:txBody>
          <a:bodyPr wrap="square" lIns="0" tIns="0" rIns="0" bIns="0" rtlCol="0" anchor="ctr">
            <a:normAutofit/>
          </a:bodyPr>
          <a:lstStyle/>
          <a:p>
            <a:pPr indent="0" marL="0">
              <a:buNone/>
            </a:pPr>
            <a:r>
              <a:rPr lang="en-US" sz="2500" b="1" dirty="0">
                <a:solidFill>
                  <a:srgbClr val="F59E0B"/>
                </a:solidFill>
                <a:latin typeface="Aptos Display" pitchFamily="34" charset="0"/>
                <a:ea typeface="Aptos Display" pitchFamily="34" charset="-122"/>
                <a:cs typeface="Aptos Display" pitchFamily="34" charset="-120"/>
              </a:rPr>
              <a:t>96.8%</a:t>
            </a:r>
            <a:endParaRPr lang="en-US" sz="2500" dirty="0"/>
          </a:p>
        </p:txBody>
      </p:sp>
      <p:sp>
        <p:nvSpPr>
          <p:cNvPr id="14" name="Text 11"/>
          <p:cNvSpPr/>
          <p:nvPr/>
        </p:nvSpPr>
        <p:spPr>
          <a:xfrm>
            <a:off x="8458200" y="4489704"/>
            <a:ext cx="2606040" cy="210312"/>
          </a:xfrm>
          <a:prstGeom prst="rect">
            <a:avLst/>
          </a:prstGeom>
          <a:noFill/>
          <a:ln/>
        </p:spPr>
        <p:txBody>
          <a:bodyPr wrap="square" lIns="0" tIns="0" rIns="0" bIns="0" rtlCol="0" anchor="ctr">
            <a:normAutofit/>
          </a:bodyPr>
          <a:lstStyle/>
          <a:p>
            <a:pPr indent="0" marL="0">
              <a:buNone/>
            </a:pPr>
            <a:r>
              <a:rPr lang="en-US" sz="1000" b="1" dirty="0">
                <a:solidFill>
                  <a:srgbClr val="1F2937"/>
                </a:solidFill>
                <a:latin typeface="Aptos" pitchFamily="34" charset="0"/>
                <a:ea typeface="Aptos" pitchFamily="34" charset="-122"/>
                <a:cs typeface="Aptos" pitchFamily="34" charset="-120"/>
              </a:rPr>
              <a:t>Top 10 share</a:t>
            </a:r>
            <a:endParaRPr lang="en-US" sz="1000" dirty="0"/>
          </a:p>
        </p:txBody>
      </p:sp>
      <p:sp>
        <p:nvSpPr>
          <p:cNvPr id="15" name="Text 12"/>
          <p:cNvSpPr/>
          <p:nvPr/>
        </p:nvSpPr>
        <p:spPr>
          <a:xfrm>
            <a:off x="8458200" y="4727448"/>
            <a:ext cx="2606040" cy="402336"/>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Top 10 assignees by records.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Company patent-count table</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All assignees in the workbook, sorted by patent record count.</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594360" y="1133856"/>
            <a:ext cx="3429000" cy="329184"/>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Assignee</a:t>
            </a:r>
            <a:endParaRPr lang="en-US" sz="880" dirty="0"/>
          </a:p>
        </p:txBody>
      </p:sp>
      <p:sp>
        <p:nvSpPr>
          <p:cNvPr id="7" name="Text 5"/>
          <p:cNvSpPr/>
          <p:nvPr/>
        </p:nvSpPr>
        <p:spPr>
          <a:xfrm>
            <a:off x="4023360" y="1133856"/>
            <a:ext cx="777240" cy="329184"/>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Records</a:t>
            </a:r>
            <a:endParaRPr lang="en-US" sz="880" dirty="0"/>
          </a:p>
        </p:txBody>
      </p:sp>
      <p:sp>
        <p:nvSpPr>
          <p:cNvPr id="8" name="Text 6"/>
          <p:cNvSpPr/>
          <p:nvPr/>
        </p:nvSpPr>
        <p:spPr>
          <a:xfrm>
            <a:off x="4800600" y="1133856"/>
            <a:ext cx="914400" cy="329184"/>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Share</a:t>
            </a:r>
            <a:endParaRPr lang="en-US" sz="880" dirty="0"/>
          </a:p>
        </p:txBody>
      </p:sp>
      <p:sp>
        <p:nvSpPr>
          <p:cNvPr id="9" name="Text 7"/>
          <p:cNvSpPr/>
          <p:nvPr/>
        </p:nvSpPr>
        <p:spPr>
          <a:xfrm>
            <a:off x="594360" y="1463040"/>
            <a:ext cx="342900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Microsoft</a:t>
            </a:r>
            <a:endParaRPr lang="en-US" sz="880" dirty="0"/>
          </a:p>
        </p:txBody>
      </p:sp>
      <p:sp>
        <p:nvSpPr>
          <p:cNvPr id="10" name="Text 8"/>
          <p:cNvSpPr/>
          <p:nvPr/>
        </p:nvSpPr>
        <p:spPr>
          <a:xfrm>
            <a:off x="4023360" y="1463040"/>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167</a:t>
            </a:r>
            <a:endParaRPr lang="en-US" sz="880" dirty="0"/>
          </a:p>
        </p:txBody>
      </p:sp>
      <p:sp>
        <p:nvSpPr>
          <p:cNvPr id="11" name="Text 9"/>
          <p:cNvSpPr/>
          <p:nvPr/>
        </p:nvSpPr>
        <p:spPr>
          <a:xfrm>
            <a:off x="4800600" y="1463040"/>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24.2%</a:t>
            </a:r>
            <a:endParaRPr lang="en-US" sz="880" dirty="0"/>
          </a:p>
        </p:txBody>
      </p:sp>
      <p:sp>
        <p:nvSpPr>
          <p:cNvPr id="12" name="Text 10"/>
          <p:cNvSpPr/>
          <p:nvPr/>
        </p:nvSpPr>
        <p:spPr>
          <a:xfrm>
            <a:off x="594360" y="1837944"/>
            <a:ext cx="342900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Cisco</a:t>
            </a:r>
            <a:endParaRPr lang="en-US" sz="880" dirty="0"/>
          </a:p>
        </p:txBody>
      </p:sp>
      <p:sp>
        <p:nvSpPr>
          <p:cNvPr id="13" name="Text 11"/>
          <p:cNvSpPr/>
          <p:nvPr/>
        </p:nvSpPr>
        <p:spPr>
          <a:xfrm>
            <a:off x="4023360" y="1837944"/>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158</a:t>
            </a:r>
            <a:endParaRPr lang="en-US" sz="880" dirty="0"/>
          </a:p>
        </p:txBody>
      </p:sp>
      <p:sp>
        <p:nvSpPr>
          <p:cNvPr id="14" name="Text 12"/>
          <p:cNvSpPr/>
          <p:nvPr/>
        </p:nvSpPr>
        <p:spPr>
          <a:xfrm>
            <a:off x="4800600" y="1837944"/>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22.9%</a:t>
            </a:r>
            <a:endParaRPr lang="en-US" sz="880" dirty="0"/>
          </a:p>
        </p:txBody>
      </p:sp>
      <p:sp>
        <p:nvSpPr>
          <p:cNvPr id="15" name="Text 13"/>
          <p:cNvSpPr/>
          <p:nvPr/>
        </p:nvSpPr>
        <p:spPr>
          <a:xfrm>
            <a:off x="594360" y="2212848"/>
            <a:ext cx="342900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Fortinet</a:t>
            </a:r>
            <a:endParaRPr lang="en-US" sz="880" dirty="0"/>
          </a:p>
        </p:txBody>
      </p:sp>
      <p:sp>
        <p:nvSpPr>
          <p:cNvPr id="16" name="Text 14"/>
          <p:cNvSpPr/>
          <p:nvPr/>
        </p:nvSpPr>
        <p:spPr>
          <a:xfrm>
            <a:off x="4023360" y="2212848"/>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96</a:t>
            </a:r>
            <a:endParaRPr lang="en-US" sz="880" dirty="0"/>
          </a:p>
        </p:txBody>
      </p:sp>
      <p:sp>
        <p:nvSpPr>
          <p:cNvPr id="17" name="Text 15"/>
          <p:cNvSpPr/>
          <p:nvPr/>
        </p:nvSpPr>
        <p:spPr>
          <a:xfrm>
            <a:off x="4800600" y="2212848"/>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13.9%</a:t>
            </a:r>
            <a:endParaRPr lang="en-US" sz="880" dirty="0"/>
          </a:p>
        </p:txBody>
      </p:sp>
      <p:sp>
        <p:nvSpPr>
          <p:cNvPr id="18" name="Text 16"/>
          <p:cNvSpPr/>
          <p:nvPr/>
        </p:nvSpPr>
        <p:spPr>
          <a:xfrm>
            <a:off x="594360" y="2587752"/>
            <a:ext cx="342900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Palo Alto Networks</a:t>
            </a:r>
            <a:endParaRPr lang="en-US" sz="880" dirty="0"/>
          </a:p>
        </p:txBody>
      </p:sp>
      <p:sp>
        <p:nvSpPr>
          <p:cNvPr id="19" name="Text 17"/>
          <p:cNvSpPr/>
          <p:nvPr/>
        </p:nvSpPr>
        <p:spPr>
          <a:xfrm>
            <a:off x="4023360" y="2587752"/>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96</a:t>
            </a:r>
            <a:endParaRPr lang="en-US" sz="880" dirty="0"/>
          </a:p>
        </p:txBody>
      </p:sp>
      <p:sp>
        <p:nvSpPr>
          <p:cNvPr id="20" name="Text 18"/>
          <p:cNvSpPr/>
          <p:nvPr/>
        </p:nvSpPr>
        <p:spPr>
          <a:xfrm>
            <a:off x="4800600" y="2587752"/>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13.9%</a:t>
            </a:r>
            <a:endParaRPr lang="en-US" sz="880" dirty="0"/>
          </a:p>
        </p:txBody>
      </p:sp>
      <p:sp>
        <p:nvSpPr>
          <p:cNvPr id="21" name="Text 19"/>
          <p:cNvSpPr/>
          <p:nvPr/>
        </p:nvSpPr>
        <p:spPr>
          <a:xfrm>
            <a:off x="594360" y="2962656"/>
            <a:ext cx="342900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Google</a:t>
            </a:r>
            <a:endParaRPr lang="en-US" sz="880" dirty="0"/>
          </a:p>
        </p:txBody>
      </p:sp>
      <p:sp>
        <p:nvSpPr>
          <p:cNvPr id="22" name="Text 20"/>
          <p:cNvSpPr/>
          <p:nvPr/>
        </p:nvSpPr>
        <p:spPr>
          <a:xfrm>
            <a:off x="4023360" y="2962656"/>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46</a:t>
            </a:r>
            <a:endParaRPr lang="en-US" sz="880" dirty="0"/>
          </a:p>
        </p:txBody>
      </p:sp>
      <p:sp>
        <p:nvSpPr>
          <p:cNvPr id="23" name="Text 21"/>
          <p:cNvSpPr/>
          <p:nvPr/>
        </p:nvSpPr>
        <p:spPr>
          <a:xfrm>
            <a:off x="4800600" y="2962656"/>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6.7%</a:t>
            </a:r>
            <a:endParaRPr lang="en-US" sz="880" dirty="0"/>
          </a:p>
        </p:txBody>
      </p:sp>
      <p:sp>
        <p:nvSpPr>
          <p:cNvPr id="24" name="Text 22"/>
          <p:cNvSpPr/>
          <p:nvPr/>
        </p:nvSpPr>
        <p:spPr>
          <a:xfrm>
            <a:off x="594360" y="3337560"/>
            <a:ext cx="342900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Rapid7</a:t>
            </a:r>
            <a:endParaRPr lang="en-US" sz="880" dirty="0"/>
          </a:p>
        </p:txBody>
      </p:sp>
      <p:sp>
        <p:nvSpPr>
          <p:cNvPr id="25" name="Text 23"/>
          <p:cNvSpPr/>
          <p:nvPr/>
        </p:nvSpPr>
        <p:spPr>
          <a:xfrm>
            <a:off x="4023360" y="3337560"/>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42</a:t>
            </a:r>
            <a:endParaRPr lang="en-US" sz="880" dirty="0"/>
          </a:p>
        </p:txBody>
      </p:sp>
      <p:sp>
        <p:nvSpPr>
          <p:cNvPr id="26" name="Text 24"/>
          <p:cNvSpPr/>
          <p:nvPr/>
        </p:nvSpPr>
        <p:spPr>
          <a:xfrm>
            <a:off x="4800600" y="3337560"/>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6.1%</a:t>
            </a:r>
            <a:endParaRPr lang="en-US" sz="880" dirty="0"/>
          </a:p>
        </p:txBody>
      </p:sp>
      <p:sp>
        <p:nvSpPr>
          <p:cNvPr id="27" name="Text 25"/>
          <p:cNvSpPr/>
          <p:nvPr/>
        </p:nvSpPr>
        <p:spPr>
          <a:xfrm>
            <a:off x="594360" y="3712464"/>
            <a:ext cx="342900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Trend Micro</a:t>
            </a:r>
            <a:endParaRPr lang="en-US" sz="880" dirty="0"/>
          </a:p>
        </p:txBody>
      </p:sp>
      <p:sp>
        <p:nvSpPr>
          <p:cNvPr id="28" name="Text 26"/>
          <p:cNvSpPr/>
          <p:nvPr/>
        </p:nvSpPr>
        <p:spPr>
          <a:xfrm>
            <a:off x="4023360" y="3712464"/>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27</a:t>
            </a:r>
            <a:endParaRPr lang="en-US" sz="880" dirty="0"/>
          </a:p>
        </p:txBody>
      </p:sp>
      <p:sp>
        <p:nvSpPr>
          <p:cNvPr id="29" name="Text 27"/>
          <p:cNvSpPr/>
          <p:nvPr/>
        </p:nvSpPr>
        <p:spPr>
          <a:xfrm>
            <a:off x="4800600" y="3712464"/>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3.9%</a:t>
            </a:r>
            <a:endParaRPr lang="en-US" sz="880" dirty="0"/>
          </a:p>
        </p:txBody>
      </p:sp>
      <p:sp>
        <p:nvSpPr>
          <p:cNvPr id="30" name="Text 28"/>
          <p:cNvSpPr/>
          <p:nvPr/>
        </p:nvSpPr>
        <p:spPr>
          <a:xfrm>
            <a:off x="594360" y="4087368"/>
            <a:ext cx="342900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CyberArk</a:t>
            </a:r>
            <a:endParaRPr lang="en-US" sz="880" dirty="0"/>
          </a:p>
        </p:txBody>
      </p:sp>
      <p:sp>
        <p:nvSpPr>
          <p:cNvPr id="31" name="Text 29"/>
          <p:cNvSpPr/>
          <p:nvPr/>
        </p:nvSpPr>
        <p:spPr>
          <a:xfrm>
            <a:off x="4023360" y="4087368"/>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13</a:t>
            </a:r>
            <a:endParaRPr lang="en-US" sz="880" dirty="0"/>
          </a:p>
        </p:txBody>
      </p:sp>
      <p:sp>
        <p:nvSpPr>
          <p:cNvPr id="32" name="Text 30"/>
          <p:cNvSpPr/>
          <p:nvPr/>
        </p:nvSpPr>
        <p:spPr>
          <a:xfrm>
            <a:off x="4800600" y="4087368"/>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1.9%</a:t>
            </a:r>
            <a:endParaRPr lang="en-US" sz="880" dirty="0"/>
          </a:p>
        </p:txBody>
      </p:sp>
      <p:sp>
        <p:nvSpPr>
          <p:cNvPr id="33" name="Text 31"/>
          <p:cNvSpPr/>
          <p:nvPr/>
        </p:nvSpPr>
        <p:spPr>
          <a:xfrm>
            <a:off x="594360" y="4462272"/>
            <a:ext cx="342900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McAfee</a:t>
            </a:r>
            <a:endParaRPr lang="en-US" sz="880" dirty="0"/>
          </a:p>
        </p:txBody>
      </p:sp>
      <p:sp>
        <p:nvSpPr>
          <p:cNvPr id="34" name="Text 32"/>
          <p:cNvSpPr/>
          <p:nvPr/>
        </p:nvSpPr>
        <p:spPr>
          <a:xfrm>
            <a:off x="4023360" y="4462272"/>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12</a:t>
            </a:r>
            <a:endParaRPr lang="en-US" sz="880" dirty="0"/>
          </a:p>
        </p:txBody>
      </p:sp>
      <p:sp>
        <p:nvSpPr>
          <p:cNvPr id="35" name="Text 33"/>
          <p:cNvSpPr/>
          <p:nvPr/>
        </p:nvSpPr>
        <p:spPr>
          <a:xfrm>
            <a:off x="4800600" y="4462272"/>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1.7%</a:t>
            </a:r>
            <a:endParaRPr lang="en-US" sz="880" dirty="0"/>
          </a:p>
        </p:txBody>
      </p:sp>
      <p:sp>
        <p:nvSpPr>
          <p:cNvPr id="36" name="Text 34"/>
          <p:cNvSpPr/>
          <p:nvPr/>
        </p:nvSpPr>
        <p:spPr>
          <a:xfrm>
            <a:off x="594360" y="4837176"/>
            <a:ext cx="342900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Salesforce</a:t>
            </a:r>
            <a:endParaRPr lang="en-US" sz="880" dirty="0"/>
          </a:p>
        </p:txBody>
      </p:sp>
      <p:sp>
        <p:nvSpPr>
          <p:cNvPr id="37" name="Text 35"/>
          <p:cNvSpPr/>
          <p:nvPr/>
        </p:nvSpPr>
        <p:spPr>
          <a:xfrm>
            <a:off x="4023360" y="4837176"/>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10</a:t>
            </a:r>
            <a:endParaRPr lang="en-US" sz="880" dirty="0"/>
          </a:p>
        </p:txBody>
      </p:sp>
      <p:sp>
        <p:nvSpPr>
          <p:cNvPr id="38" name="Text 36"/>
          <p:cNvSpPr/>
          <p:nvPr/>
        </p:nvSpPr>
        <p:spPr>
          <a:xfrm>
            <a:off x="4800600" y="4837176"/>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1.5%</a:t>
            </a:r>
            <a:endParaRPr lang="en-US" sz="880" dirty="0"/>
          </a:p>
        </p:txBody>
      </p:sp>
      <p:sp>
        <p:nvSpPr>
          <p:cNvPr id="39" name="Text 37"/>
          <p:cNvSpPr/>
          <p:nvPr/>
        </p:nvSpPr>
        <p:spPr>
          <a:xfrm>
            <a:off x="594360" y="5212080"/>
            <a:ext cx="342900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CITRIX SYS</a:t>
            </a:r>
            <a:endParaRPr lang="en-US" sz="880" dirty="0"/>
          </a:p>
        </p:txBody>
      </p:sp>
      <p:sp>
        <p:nvSpPr>
          <p:cNvPr id="40" name="Text 38"/>
          <p:cNvSpPr/>
          <p:nvPr/>
        </p:nvSpPr>
        <p:spPr>
          <a:xfrm>
            <a:off x="4023360" y="5212080"/>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5</a:t>
            </a:r>
            <a:endParaRPr lang="en-US" sz="880" dirty="0"/>
          </a:p>
        </p:txBody>
      </p:sp>
      <p:sp>
        <p:nvSpPr>
          <p:cNvPr id="41" name="Text 39"/>
          <p:cNvSpPr/>
          <p:nvPr/>
        </p:nvSpPr>
        <p:spPr>
          <a:xfrm>
            <a:off x="4800600" y="5212080"/>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0.7%</a:t>
            </a:r>
            <a:endParaRPr lang="en-US" sz="880" dirty="0"/>
          </a:p>
        </p:txBody>
      </p:sp>
      <p:sp>
        <p:nvSpPr>
          <p:cNvPr id="42" name="Text 40"/>
          <p:cNvSpPr/>
          <p:nvPr/>
        </p:nvSpPr>
        <p:spPr>
          <a:xfrm>
            <a:off x="6236208" y="1133856"/>
            <a:ext cx="3337560" cy="329184"/>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Assignee</a:t>
            </a:r>
            <a:endParaRPr lang="en-US" sz="880" dirty="0"/>
          </a:p>
        </p:txBody>
      </p:sp>
      <p:sp>
        <p:nvSpPr>
          <p:cNvPr id="43" name="Text 41"/>
          <p:cNvSpPr/>
          <p:nvPr/>
        </p:nvSpPr>
        <p:spPr>
          <a:xfrm>
            <a:off x="9573768" y="1133856"/>
            <a:ext cx="777240" cy="329184"/>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Records</a:t>
            </a:r>
            <a:endParaRPr lang="en-US" sz="880" dirty="0"/>
          </a:p>
        </p:txBody>
      </p:sp>
      <p:sp>
        <p:nvSpPr>
          <p:cNvPr id="44" name="Text 42"/>
          <p:cNvSpPr/>
          <p:nvPr/>
        </p:nvSpPr>
        <p:spPr>
          <a:xfrm>
            <a:off x="10351008" y="1133856"/>
            <a:ext cx="914400" cy="329184"/>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Share</a:t>
            </a:r>
            <a:endParaRPr lang="en-US" sz="880" dirty="0"/>
          </a:p>
        </p:txBody>
      </p:sp>
      <p:sp>
        <p:nvSpPr>
          <p:cNvPr id="45" name="Text 43"/>
          <p:cNvSpPr/>
          <p:nvPr/>
        </p:nvSpPr>
        <p:spPr>
          <a:xfrm>
            <a:off x="6236208" y="1463040"/>
            <a:ext cx="333756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Palo Alto Israel</a:t>
            </a:r>
            <a:endParaRPr lang="en-US" sz="880" dirty="0"/>
          </a:p>
        </p:txBody>
      </p:sp>
      <p:sp>
        <p:nvSpPr>
          <p:cNvPr id="46" name="Text 44"/>
          <p:cNvSpPr/>
          <p:nvPr/>
        </p:nvSpPr>
        <p:spPr>
          <a:xfrm>
            <a:off x="9573768" y="1463040"/>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3</a:t>
            </a:r>
            <a:endParaRPr lang="en-US" sz="880" dirty="0"/>
          </a:p>
        </p:txBody>
      </p:sp>
      <p:sp>
        <p:nvSpPr>
          <p:cNvPr id="47" name="Text 45"/>
          <p:cNvSpPr/>
          <p:nvPr/>
        </p:nvSpPr>
        <p:spPr>
          <a:xfrm>
            <a:off x="10351008" y="1463040"/>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0.4%</a:t>
            </a:r>
            <a:endParaRPr lang="en-US" sz="880" dirty="0"/>
          </a:p>
        </p:txBody>
      </p:sp>
      <p:sp>
        <p:nvSpPr>
          <p:cNvPr id="48" name="Text 46"/>
          <p:cNvSpPr/>
          <p:nvPr/>
        </p:nvSpPr>
        <p:spPr>
          <a:xfrm>
            <a:off x="6236208" y="1837944"/>
            <a:ext cx="333756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OKTA</a:t>
            </a:r>
            <a:endParaRPr lang="en-US" sz="880" dirty="0"/>
          </a:p>
        </p:txBody>
      </p:sp>
      <p:sp>
        <p:nvSpPr>
          <p:cNvPr id="49" name="Text 47"/>
          <p:cNvSpPr/>
          <p:nvPr/>
        </p:nvSpPr>
        <p:spPr>
          <a:xfrm>
            <a:off x="9573768" y="1837944"/>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3</a:t>
            </a:r>
            <a:endParaRPr lang="en-US" sz="880" dirty="0"/>
          </a:p>
        </p:txBody>
      </p:sp>
      <p:sp>
        <p:nvSpPr>
          <p:cNvPr id="50" name="Text 48"/>
          <p:cNvSpPr/>
          <p:nvPr/>
        </p:nvSpPr>
        <p:spPr>
          <a:xfrm>
            <a:off x="10351008" y="1837944"/>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0.4%</a:t>
            </a:r>
            <a:endParaRPr lang="en-US" sz="880" dirty="0"/>
          </a:p>
        </p:txBody>
      </p:sp>
      <p:sp>
        <p:nvSpPr>
          <p:cNvPr id="51" name="Text 49"/>
          <p:cNvSpPr/>
          <p:nvPr/>
        </p:nvSpPr>
        <p:spPr>
          <a:xfrm>
            <a:off x="6236208" y="2212848"/>
            <a:ext cx="333756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CERTIS CISCO SECURITY PTE</a:t>
            </a:r>
            <a:endParaRPr lang="en-US" sz="880" dirty="0"/>
          </a:p>
        </p:txBody>
      </p:sp>
      <p:sp>
        <p:nvSpPr>
          <p:cNvPr id="52" name="Text 50"/>
          <p:cNvSpPr/>
          <p:nvPr/>
        </p:nvSpPr>
        <p:spPr>
          <a:xfrm>
            <a:off x="9573768" y="2212848"/>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a:t>
            </a:r>
            <a:endParaRPr lang="en-US" sz="880" dirty="0"/>
          </a:p>
        </p:txBody>
      </p:sp>
      <p:sp>
        <p:nvSpPr>
          <p:cNvPr id="53" name="Text 51"/>
          <p:cNvSpPr/>
          <p:nvPr/>
        </p:nvSpPr>
        <p:spPr>
          <a:xfrm>
            <a:off x="10351008" y="2212848"/>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0.3%</a:t>
            </a:r>
            <a:endParaRPr lang="en-US" sz="880" dirty="0"/>
          </a:p>
        </p:txBody>
      </p:sp>
      <p:sp>
        <p:nvSpPr>
          <p:cNvPr id="54" name="Text 52"/>
          <p:cNvSpPr/>
          <p:nvPr/>
        </p:nvSpPr>
        <p:spPr>
          <a:xfrm>
            <a:off x="6236208" y="2587752"/>
            <a:ext cx="333756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CHECK POINT SOFTWARE TECH</a:t>
            </a:r>
            <a:endParaRPr lang="en-US" sz="880" dirty="0"/>
          </a:p>
        </p:txBody>
      </p:sp>
      <p:sp>
        <p:nvSpPr>
          <p:cNvPr id="55" name="Text 53"/>
          <p:cNvSpPr/>
          <p:nvPr/>
        </p:nvSpPr>
        <p:spPr>
          <a:xfrm>
            <a:off x="9573768" y="2587752"/>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a:t>
            </a:r>
            <a:endParaRPr lang="en-US" sz="880" dirty="0"/>
          </a:p>
        </p:txBody>
      </p:sp>
      <p:sp>
        <p:nvSpPr>
          <p:cNvPr id="56" name="Text 54"/>
          <p:cNvSpPr/>
          <p:nvPr/>
        </p:nvSpPr>
        <p:spPr>
          <a:xfrm>
            <a:off x="10351008" y="2587752"/>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0.3%</a:t>
            </a:r>
            <a:endParaRPr lang="en-US" sz="880" dirty="0"/>
          </a:p>
        </p:txBody>
      </p:sp>
      <p:sp>
        <p:nvSpPr>
          <p:cNvPr id="57" name="Text 55"/>
          <p:cNvSpPr/>
          <p:nvPr/>
        </p:nvSpPr>
        <p:spPr>
          <a:xfrm>
            <a:off x="6236208" y="2962656"/>
            <a:ext cx="333756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THREATOLOGY</a:t>
            </a:r>
            <a:endParaRPr lang="en-US" sz="880" dirty="0"/>
          </a:p>
        </p:txBody>
      </p:sp>
      <p:sp>
        <p:nvSpPr>
          <p:cNvPr id="58" name="Text 56"/>
          <p:cNvSpPr/>
          <p:nvPr/>
        </p:nvSpPr>
        <p:spPr>
          <a:xfrm>
            <a:off x="9573768" y="2962656"/>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a:t>
            </a:r>
            <a:endParaRPr lang="en-US" sz="880" dirty="0"/>
          </a:p>
        </p:txBody>
      </p:sp>
      <p:sp>
        <p:nvSpPr>
          <p:cNvPr id="59" name="Text 57"/>
          <p:cNvSpPr/>
          <p:nvPr/>
        </p:nvSpPr>
        <p:spPr>
          <a:xfrm>
            <a:off x="10351008" y="2962656"/>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0.1%</a:t>
            </a:r>
            <a:endParaRPr lang="en-US" sz="880" dirty="0"/>
          </a:p>
        </p:txBody>
      </p:sp>
      <p:sp>
        <p:nvSpPr>
          <p:cNvPr id="60" name="Text 58"/>
          <p:cNvSpPr/>
          <p:nvPr/>
        </p:nvSpPr>
        <p:spPr>
          <a:xfrm>
            <a:off x="6236208" y="3337560"/>
            <a:ext cx="333756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ZILLA SECURITY</a:t>
            </a:r>
            <a:endParaRPr lang="en-US" sz="880" dirty="0"/>
          </a:p>
        </p:txBody>
      </p:sp>
      <p:sp>
        <p:nvSpPr>
          <p:cNvPr id="61" name="Text 59"/>
          <p:cNvSpPr/>
          <p:nvPr/>
        </p:nvSpPr>
        <p:spPr>
          <a:xfrm>
            <a:off x="9573768" y="3337560"/>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a:t>
            </a:r>
            <a:endParaRPr lang="en-US" sz="880" dirty="0"/>
          </a:p>
        </p:txBody>
      </p:sp>
      <p:sp>
        <p:nvSpPr>
          <p:cNvPr id="62" name="Text 60"/>
          <p:cNvSpPr/>
          <p:nvPr/>
        </p:nvSpPr>
        <p:spPr>
          <a:xfrm>
            <a:off x="10351008" y="3337560"/>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0.1%</a:t>
            </a:r>
            <a:endParaRPr lang="en-US" sz="880" dirty="0"/>
          </a:p>
        </p:txBody>
      </p:sp>
      <p:sp>
        <p:nvSpPr>
          <p:cNvPr id="63" name="Text 61"/>
          <p:cNvSpPr/>
          <p:nvPr/>
        </p:nvSpPr>
        <p:spPr>
          <a:xfrm>
            <a:off x="6236208" y="3712464"/>
            <a:ext cx="333756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INFORMATICA</a:t>
            </a:r>
            <a:endParaRPr lang="en-US" sz="880" dirty="0"/>
          </a:p>
        </p:txBody>
      </p:sp>
      <p:sp>
        <p:nvSpPr>
          <p:cNvPr id="64" name="Text 62"/>
          <p:cNvSpPr/>
          <p:nvPr/>
        </p:nvSpPr>
        <p:spPr>
          <a:xfrm>
            <a:off x="9573768" y="3712464"/>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a:t>
            </a:r>
            <a:endParaRPr lang="en-US" sz="880" dirty="0"/>
          </a:p>
        </p:txBody>
      </p:sp>
      <p:sp>
        <p:nvSpPr>
          <p:cNvPr id="65" name="Text 63"/>
          <p:cNvSpPr/>
          <p:nvPr/>
        </p:nvSpPr>
        <p:spPr>
          <a:xfrm>
            <a:off x="10351008" y="3712464"/>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0.1%</a:t>
            </a:r>
            <a:endParaRPr lang="en-US" sz="880" dirty="0"/>
          </a:p>
        </p:txBody>
      </p:sp>
      <p:sp>
        <p:nvSpPr>
          <p:cNvPr id="66" name="Text 64"/>
          <p:cNvSpPr/>
          <p:nvPr/>
        </p:nvSpPr>
        <p:spPr>
          <a:xfrm>
            <a:off x="6236208" y="4087368"/>
            <a:ext cx="333756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RAPIDMINER</a:t>
            </a:r>
            <a:endParaRPr lang="en-US" sz="880" dirty="0"/>
          </a:p>
        </p:txBody>
      </p:sp>
      <p:sp>
        <p:nvSpPr>
          <p:cNvPr id="67" name="Text 65"/>
          <p:cNvSpPr/>
          <p:nvPr/>
        </p:nvSpPr>
        <p:spPr>
          <a:xfrm>
            <a:off x="9573768" y="4087368"/>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a:t>
            </a:r>
            <a:endParaRPr lang="en-US" sz="880" dirty="0"/>
          </a:p>
        </p:txBody>
      </p:sp>
      <p:sp>
        <p:nvSpPr>
          <p:cNvPr id="68" name="Text 66"/>
          <p:cNvSpPr/>
          <p:nvPr/>
        </p:nvSpPr>
        <p:spPr>
          <a:xfrm>
            <a:off x="10351008" y="4087368"/>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0.1%</a:t>
            </a:r>
            <a:endParaRPr lang="en-US" sz="880" dirty="0"/>
          </a:p>
        </p:txBody>
      </p:sp>
      <p:sp>
        <p:nvSpPr>
          <p:cNvPr id="69" name="Text 67"/>
          <p:cNvSpPr/>
          <p:nvPr/>
        </p:nvSpPr>
        <p:spPr>
          <a:xfrm>
            <a:off x="6236208" y="4462272"/>
            <a:ext cx="333756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ROBUST INTELLIGENCE</a:t>
            </a:r>
            <a:endParaRPr lang="en-US" sz="880" dirty="0"/>
          </a:p>
        </p:txBody>
      </p:sp>
      <p:sp>
        <p:nvSpPr>
          <p:cNvPr id="70" name="Text 68"/>
          <p:cNvSpPr/>
          <p:nvPr/>
        </p:nvSpPr>
        <p:spPr>
          <a:xfrm>
            <a:off x="9573768" y="4462272"/>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a:t>
            </a:r>
            <a:endParaRPr lang="en-US" sz="880" dirty="0"/>
          </a:p>
        </p:txBody>
      </p:sp>
      <p:sp>
        <p:nvSpPr>
          <p:cNvPr id="71" name="Text 69"/>
          <p:cNvSpPr/>
          <p:nvPr/>
        </p:nvSpPr>
        <p:spPr>
          <a:xfrm>
            <a:off x="10351008" y="4462272"/>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0.1%</a:t>
            </a:r>
            <a:endParaRPr lang="en-US" sz="880" dirty="0"/>
          </a:p>
        </p:txBody>
      </p:sp>
      <p:sp>
        <p:nvSpPr>
          <p:cNvPr id="72" name="Text 70"/>
          <p:cNvSpPr/>
          <p:nvPr/>
        </p:nvSpPr>
        <p:spPr>
          <a:xfrm>
            <a:off x="6236208" y="4837176"/>
            <a:ext cx="333756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ZIMPERIUM</a:t>
            </a:r>
            <a:endParaRPr lang="en-US" sz="880" dirty="0"/>
          </a:p>
        </p:txBody>
      </p:sp>
      <p:sp>
        <p:nvSpPr>
          <p:cNvPr id="73" name="Text 71"/>
          <p:cNvSpPr/>
          <p:nvPr/>
        </p:nvSpPr>
        <p:spPr>
          <a:xfrm>
            <a:off x="9573768" y="4837176"/>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a:t>
            </a:r>
            <a:endParaRPr lang="en-US" sz="880" dirty="0"/>
          </a:p>
        </p:txBody>
      </p:sp>
      <p:sp>
        <p:nvSpPr>
          <p:cNvPr id="74" name="Text 72"/>
          <p:cNvSpPr/>
          <p:nvPr/>
        </p:nvSpPr>
        <p:spPr>
          <a:xfrm>
            <a:off x="10351008" y="4837176"/>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0.1%</a:t>
            </a:r>
            <a:endParaRPr lang="en-US" sz="880" dirty="0"/>
          </a:p>
        </p:txBody>
      </p:sp>
      <p:sp>
        <p:nvSpPr>
          <p:cNvPr id="75" name="Text 73"/>
          <p:cNvSpPr/>
          <p:nvPr/>
        </p:nvSpPr>
        <p:spPr>
          <a:xfrm>
            <a:off x="6236208" y="5212080"/>
            <a:ext cx="3337560" cy="374904"/>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RAPID7 IRELAND</a:t>
            </a:r>
            <a:endParaRPr lang="en-US" sz="880" dirty="0"/>
          </a:p>
        </p:txBody>
      </p:sp>
      <p:sp>
        <p:nvSpPr>
          <p:cNvPr id="76" name="Text 74"/>
          <p:cNvSpPr/>
          <p:nvPr/>
        </p:nvSpPr>
        <p:spPr>
          <a:xfrm>
            <a:off x="9573768" y="5212080"/>
            <a:ext cx="77724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a:t>
            </a:r>
            <a:endParaRPr lang="en-US" sz="880" dirty="0"/>
          </a:p>
        </p:txBody>
      </p:sp>
      <p:sp>
        <p:nvSpPr>
          <p:cNvPr id="77" name="Text 75"/>
          <p:cNvSpPr/>
          <p:nvPr/>
        </p:nvSpPr>
        <p:spPr>
          <a:xfrm>
            <a:off x="10351008" y="5212080"/>
            <a:ext cx="914400" cy="374904"/>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0.1%</a:t>
            </a:r>
            <a:endParaRPr lang="en-US" sz="8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Top technical categories</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CPC/IPC view is generated directly from classification fields; full-code counts mean records containing that code.</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graphicFrame>
        <p:nvGraphicFramePr>
          <p:cNvPr id="6" name="Chart 0" descr=""/>
          <p:cNvGraphicFramePr/>
          <p:nvPr/>
        </p:nvGraphicFramePr>
        <p:xfrm>
          <a:off x="566928" y="1097280"/>
          <a:ext cx="6172200" cy="52120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086600" y="1207008"/>
            <a:ext cx="150876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View</a:t>
            </a:r>
            <a:endParaRPr lang="en-US" sz="880" dirty="0"/>
          </a:p>
        </p:txBody>
      </p:sp>
      <p:sp>
        <p:nvSpPr>
          <p:cNvPr id="8" name="Text 5"/>
          <p:cNvSpPr/>
          <p:nvPr/>
        </p:nvSpPr>
        <p:spPr>
          <a:xfrm>
            <a:off x="8595360" y="1207008"/>
            <a:ext cx="196596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Top category/code</a:t>
            </a:r>
            <a:endParaRPr lang="en-US" sz="880" dirty="0"/>
          </a:p>
        </p:txBody>
      </p:sp>
      <p:sp>
        <p:nvSpPr>
          <p:cNvPr id="9" name="Text 6"/>
          <p:cNvSpPr/>
          <p:nvPr/>
        </p:nvSpPr>
        <p:spPr>
          <a:xfrm>
            <a:off x="10561320" y="1207008"/>
            <a:ext cx="77724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Records</a:t>
            </a:r>
            <a:endParaRPr lang="en-US" sz="880" dirty="0"/>
          </a:p>
        </p:txBody>
      </p:sp>
      <p:sp>
        <p:nvSpPr>
          <p:cNvPr id="10" name="Text 7"/>
          <p:cNvSpPr/>
          <p:nvPr/>
        </p:nvSpPr>
        <p:spPr>
          <a:xfrm>
            <a:off x="7086600" y="1554480"/>
            <a:ext cx="1508760" cy="38404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CPC Subclass First</a:t>
            </a:r>
            <a:endParaRPr lang="en-US" sz="880" dirty="0"/>
          </a:p>
        </p:txBody>
      </p:sp>
      <p:sp>
        <p:nvSpPr>
          <p:cNvPr id="11" name="Text 8"/>
          <p:cNvSpPr/>
          <p:nvPr/>
        </p:nvSpPr>
        <p:spPr>
          <a:xfrm>
            <a:off x="8595360" y="1554480"/>
            <a:ext cx="1965960" cy="38404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H04L</a:t>
            </a:r>
            <a:endParaRPr lang="en-US" sz="880" dirty="0"/>
          </a:p>
        </p:txBody>
      </p:sp>
      <p:sp>
        <p:nvSpPr>
          <p:cNvPr id="12" name="Text 9"/>
          <p:cNvSpPr/>
          <p:nvPr/>
        </p:nvSpPr>
        <p:spPr>
          <a:xfrm>
            <a:off x="10561320" y="1554480"/>
            <a:ext cx="777240" cy="38404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359</a:t>
            </a:r>
            <a:endParaRPr lang="en-US" sz="880" dirty="0"/>
          </a:p>
        </p:txBody>
      </p:sp>
      <p:sp>
        <p:nvSpPr>
          <p:cNvPr id="13" name="Text 10"/>
          <p:cNvSpPr/>
          <p:nvPr/>
        </p:nvSpPr>
        <p:spPr>
          <a:xfrm>
            <a:off x="7086600" y="1938528"/>
            <a:ext cx="1508760" cy="38404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IPC Subclass First</a:t>
            </a:r>
            <a:endParaRPr lang="en-US" sz="880" dirty="0"/>
          </a:p>
        </p:txBody>
      </p:sp>
      <p:sp>
        <p:nvSpPr>
          <p:cNvPr id="14" name="Text 11"/>
          <p:cNvSpPr/>
          <p:nvPr/>
        </p:nvSpPr>
        <p:spPr>
          <a:xfrm>
            <a:off x="8595360" y="1938528"/>
            <a:ext cx="1965960" cy="38404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H04L</a:t>
            </a:r>
            <a:endParaRPr lang="en-US" sz="880" dirty="0"/>
          </a:p>
        </p:txBody>
      </p:sp>
      <p:sp>
        <p:nvSpPr>
          <p:cNvPr id="15" name="Text 12"/>
          <p:cNvSpPr/>
          <p:nvPr/>
        </p:nvSpPr>
        <p:spPr>
          <a:xfrm>
            <a:off x="10561320" y="1938528"/>
            <a:ext cx="777240" cy="38404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375</a:t>
            </a:r>
            <a:endParaRPr lang="en-US" sz="880" dirty="0"/>
          </a:p>
        </p:txBody>
      </p:sp>
      <p:sp>
        <p:nvSpPr>
          <p:cNvPr id="16" name="Text 13"/>
          <p:cNvSpPr/>
          <p:nvPr/>
        </p:nvSpPr>
        <p:spPr>
          <a:xfrm>
            <a:off x="7086600" y="2322576"/>
            <a:ext cx="1508760" cy="38404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CPC Full Code</a:t>
            </a:r>
            <a:endParaRPr lang="en-US" sz="880" dirty="0"/>
          </a:p>
        </p:txBody>
      </p:sp>
      <p:sp>
        <p:nvSpPr>
          <p:cNvPr id="17" name="Text 14"/>
          <p:cNvSpPr/>
          <p:nvPr/>
        </p:nvSpPr>
        <p:spPr>
          <a:xfrm>
            <a:off x="8595360" y="2322576"/>
            <a:ext cx="1965960" cy="38404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H04L 63/1425</a:t>
            </a:r>
            <a:endParaRPr lang="en-US" sz="880" dirty="0"/>
          </a:p>
        </p:txBody>
      </p:sp>
      <p:sp>
        <p:nvSpPr>
          <p:cNvPr id="18" name="Text 15"/>
          <p:cNvSpPr/>
          <p:nvPr/>
        </p:nvSpPr>
        <p:spPr>
          <a:xfrm>
            <a:off x="10561320" y="2322576"/>
            <a:ext cx="777240" cy="38404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189</a:t>
            </a:r>
            <a:endParaRPr lang="en-US" sz="880" dirty="0"/>
          </a:p>
        </p:txBody>
      </p:sp>
      <p:sp>
        <p:nvSpPr>
          <p:cNvPr id="19" name="Text 16"/>
          <p:cNvSpPr/>
          <p:nvPr/>
        </p:nvSpPr>
        <p:spPr>
          <a:xfrm>
            <a:off x="7086600" y="2706624"/>
            <a:ext cx="1508760" cy="38404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IPC Full Code</a:t>
            </a:r>
            <a:endParaRPr lang="en-US" sz="880" dirty="0"/>
          </a:p>
        </p:txBody>
      </p:sp>
      <p:sp>
        <p:nvSpPr>
          <p:cNvPr id="20" name="Text 17"/>
          <p:cNvSpPr/>
          <p:nvPr/>
        </p:nvSpPr>
        <p:spPr>
          <a:xfrm>
            <a:off x="8595360" y="2706624"/>
            <a:ext cx="1965960" cy="38404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H04L 9/40</a:t>
            </a:r>
            <a:endParaRPr lang="en-US" sz="880" dirty="0"/>
          </a:p>
        </p:txBody>
      </p:sp>
      <p:sp>
        <p:nvSpPr>
          <p:cNvPr id="21" name="Text 18"/>
          <p:cNvSpPr/>
          <p:nvPr/>
        </p:nvSpPr>
        <p:spPr>
          <a:xfrm>
            <a:off x="10561320" y="2706624"/>
            <a:ext cx="777240" cy="38404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405</a:t>
            </a:r>
            <a:endParaRPr lang="en-US" sz="880" dirty="0"/>
          </a:p>
        </p:txBody>
      </p:sp>
      <p:pic>
        <p:nvPicPr>
          <p:cNvPr id="22" name="Image 0" descr="/mnt/data/cyber_images/datacenter_lock.jpg">    </p:cNvPr>
          <p:cNvPicPr>
            <a:picLocks noChangeAspect="1"/>
          </p:cNvPicPr>
          <p:nvPr/>
        </p:nvPicPr>
        <p:blipFill>
          <a:blip r:embed="rId2"/>
          <a:srcRect l="0" r="0" t="20112" b="20112"/>
          <a:stretch/>
        </p:blipFill>
        <p:spPr>
          <a:xfrm>
            <a:off x="7223760" y="3474720"/>
            <a:ext cx="4069080" cy="1737360"/>
          </a:xfrm>
          <a:prstGeom prst="rect">
            <a:avLst/>
          </a:prstGeom>
        </p:spPr>
      </p:pic>
      <p:sp>
        <p:nvSpPr>
          <p:cNvPr id="23" name="Text 19"/>
          <p:cNvSpPr/>
          <p:nvPr/>
        </p:nvSpPr>
        <p:spPr>
          <a:xfrm>
            <a:off x="7086600" y="5532120"/>
            <a:ext cx="4434840" cy="594360"/>
          </a:xfrm>
          <a:prstGeom prst="rect">
            <a:avLst/>
          </a:prstGeom>
          <a:solidFill>
            <a:srgbClr val="EAF3F8"/>
          </a:solidFill>
          <a:ln>
            <a:solidFill>
              <a:srgbClr val="EAF3F8"/>
            </a:solidFill>
          </a:ln>
        </p:spPr>
        <p:txBody>
          <a:bodyPr wrap="square" lIns="1397" tIns="1397" rIns="1397" bIns="1397" rtlCol="0" anchor="ctr">
            <a:normAutofit/>
          </a:bodyPr>
          <a:lstStyle/>
          <a:p>
            <a:pPr indent="0" marL="0">
              <a:buNone/>
            </a:pPr>
            <a:r>
              <a:rPr lang="en-US" sz="930" dirty="0">
                <a:solidFill>
                  <a:srgbClr val="1F2937"/>
                </a:solidFill>
                <a:latin typeface="Aptos" pitchFamily="34" charset="0"/>
                <a:ea typeface="Aptos" pitchFamily="34" charset="-122"/>
                <a:cs typeface="Aptos" pitchFamily="34" charset="-120"/>
              </a:rPr>
              <a:t>CPC/IPC is an objective classification signal. The primary landscape taxonomy is text-and-code assisted because CPC/IPC alone is too broad for product-strategy buckets.</a:t>
            </a:r>
            <a:endParaRPr lang="en-US" sz="9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Top assignees v categories</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Heatmap counts show where each leading assignee concentrates its filings.</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411480" y="1097280"/>
            <a:ext cx="1508760" cy="41148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Assignee</a:t>
            </a:r>
            <a:endParaRPr lang="en-US" sz="880" dirty="0"/>
          </a:p>
        </p:txBody>
      </p:sp>
      <p:sp>
        <p:nvSpPr>
          <p:cNvPr id="7" name="Text 5"/>
          <p:cNvSpPr/>
          <p:nvPr/>
        </p:nvSpPr>
        <p:spPr>
          <a:xfrm>
            <a:off x="1920240" y="1097280"/>
            <a:ext cx="530352" cy="41148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Total</a:t>
            </a:r>
            <a:endParaRPr lang="en-US" sz="880" dirty="0"/>
          </a:p>
        </p:txBody>
      </p:sp>
      <p:sp>
        <p:nvSpPr>
          <p:cNvPr id="8" name="Text 6"/>
          <p:cNvSpPr/>
          <p:nvPr/>
        </p:nvSpPr>
        <p:spPr>
          <a:xfrm>
            <a:off x="2450592" y="1097280"/>
            <a:ext cx="1078992" cy="41148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620" b="1" dirty="0">
                <a:solidFill>
                  <a:srgbClr val="FFFFFF"/>
                </a:solidFill>
                <a:latin typeface="Aptos" pitchFamily="34" charset="0"/>
                <a:ea typeface="Aptos" pitchFamily="34" charset="-122"/>
                <a:cs typeface="Aptos" pitchFamily="34" charset="-120"/>
              </a:rPr>
              <a:t>Threat Detection and Response</a:t>
            </a:r>
            <a:endParaRPr lang="en-US" sz="620" dirty="0"/>
          </a:p>
        </p:txBody>
      </p:sp>
      <p:sp>
        <p:nvSpPr>
          <p:cNvPr id="9" name="Text 7"/>
          <p:cNvSpPr/>
          <p:nvPr/>
        </p:nvSpPr>
        <p:spPr>
          <a:xfrm>
            <a:off x="3529584" y="1097280"/>
            <a:ext cx="1078992" cy="41148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620" b="1" dirty="0">
                <a:solidFill>
                  <a:srgbClr val="FFFFFF"/>
                </a:solidFill>
                <a:latin typeface="Aptos" pitchFamily="34" charset="0"/>
                <a:ea typeface="Aptos" pitchFamily="34" charset="-122"/>
                <a:cs typeface="Aptos" pitchFamily="34" charset="-120"/>
              </a:rPr>
              <a:t>Network and Cloud Security</a:t>
            </a:r>
            <a:endParaRPr lang="en-US" sz="620" dirty="0"/>
          </a:p>
        </p:txBody>
      </p:sp>
      <p:sp>
        <p:nvSpPr>
          <p:cNvPr id="10" name="Text 8"/>
          <p:cNvSpPr/>
          <p:nvPr/>
        </p:nvSpPr>
        <p:spPr>
          <a:xfrm>
            <a:off x="4608576" y="1097280"/>
            <a:ext cx="1078992" cy="41148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620" b="1" dirty="0">
                <a:solidFill>
                  <a:srgbClr val="FFFFFF"/>
                </a:solidFill>
                <a:latin typeface="Aptos" pitchFamily="34" charset="0"/>
                <a:ea typeface="Aptos" pitchFamily="34" charset="-122"/>
                <a:cs typeface="Aptos" pitchFamily="34" charset="-120"/>
              </a:rPr>
              <a:t>Identity and Access Management</a:t>
            </a:r>
            <a:endParaRPr lang="en-US" sz="620" dirty="0"/>
          </a:p>
        </p:txBody>
      </p:sp>
      <p:sp>
        <p:nvSpPr>
          <p:cNvPr id="11" name="Text 9"/>
          <p:cNvSpPr/>
          <p:nvPr/>
        </p:nvSpPr>
        <p:spPr>
          <a:xfrm>
            <a:off x="5687568" y="1097280"/>
            <a:ext cx="1078992" cy="41148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620" b="1" dirty="0">
                <a:solidFill>
                  <a:srgbClr val="FFFFFF"/>
                </a:solidFill>
                <a:latin typeface="Aptos" pitchFamily="34" charset="0"/>
                <a:ea typeface="Aptos" pitchFamily="34" charset="-122"/>
                <a:cs typeface="Aptos" pitchFamily="34" charset="-120"/>
              </a:rPr>
              <a:t>Vulnerability and Risk Management</a:t>
            </a:r>
            <a:endParaRPr lang="en-US" sz="620" dirty="0"/>
          </a:p>
        </p:txBody>
      </p:sp>
      <p:sp>
        <p:nvSpPr>
          <p:cNvPr id="12" name="Text 10"/>
          <p:cNvSpPr/>
          <p:nvPr/>
        </p:nvSpPr>
        <p:spPr>
          <a:xfrm>
            <a:off x="6766560" y="1097280"/>
            <a:ext cx="1078992" cy="41148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620" b="1" dirty="0">
                <a:solidFill>
                  <a:srgbClr val="FFFFFF"/>
                </a:solidFill>
                <a:latin typeface="Aptos" pitchFamily="34" charset="0"/>
                <a:ea typeface="Aptos" pitchFamily="34" charset="-122"/>
                <a:cs typeface="Aptos" pitchFamily="34" charset="-120"/>
              </a:rPr>
              <a:t>AI Model Security</a:t>
            </a:r>
            <a:endParaRPr lang="en-US" sz="620" dirty="0"/>
          </a:p>
        </p:txBody>
      </p:sp>
      <p:sp>
        <p:nvSpPr>
          <p:cNvPr id="13" name="Text 11"/>
          <p:cNvSpPr/>
          <p:nvPr/>
        </p:nvSpPr>
        <p:spPr>
          <a:xfrm>
            <a:off x="7845552" y="1097280"/>
            <a:ext cx="1078992" cy="41148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620" b="1" dirty="0">
                <a:solidFill>
                  <a:srgbClr val="FFFFFF"/>
                </a:solidFill>
                <a:latin typeface="Aptos" pitchFamily="34" charset="0"/>
                <a:ea typeface="Aptos" pitchFamily="34" charset="-122"/>
                <a:cs typeface="Aptos" pitchFamily="34" charset="-120"/>
              </a:rPr>
              <a:t>Malware and Phishing Defense</a:t>
            </a:r>
            <a:endParaRPr lang="en-US" sz="620" dirty="0"/>
          </a:p>
        </p:txBody>
      </p:sp>
      <p:sp>
        <p:nvSpPr>
          <p:cNvPr id="14" name="Text 12"/>
          <p:cNvSpPr/>
          <p:nvPr/>
        </p:nvSpPr>
        <p:spPr>
          <a:xfrm>
            <a:off x="8924544" y="1097280"/>
            <a:ext cx="1078992" cy="41148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620" b="1" dirty="0">
                <a:solidFill>
                  <a:srgbClr val="FFFFFF"/>
                </a:solidFill>
                <a:latin typeface="Aptos" pitchFamily="34" charset="0"/>
                <a:ea typeface="Aptos" pitchFamily="34" charset="-122"/>
                <a:cs typeface="Aptos" pitchFamily="34" charset="-120"/>
              </a:rPr>
              <a:t>Data and Privacy Protection</a:t>
            </a:r>
            <a:endParaRPr lang="en-US" sz="620" dirty="0"/>
          </a:p>
        </p:txBody>
      </p:sp>
      <p:sp>
        <p:nvSpPr>
          <p:cNvPr id="15" name="Text 13"/>
          <p:cNvSpPr/>
          <p:nvPr/>
        </p:nvSpPr>
        <p:spPr>
          <a:xfrm>
            <a:off x="10003536" y="1097280"/>
            <a:ext cx="1078992" cy="411480"/>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620" b="1" dirty="0">
                <a:solidFill>
                  <a:srgbClr val="FFFFFF"/>
                </a:solidFill>
                <a:latin typeface="Aptos" pitchFamily="34" charset="0"/>
                <a:ea typeface="Aptos" pitchFamily="34" charset="-122"/>
                <a:cs typeface="Aptos" pitchFamily="34" charset="-120"/>
              </a:rPr>
              <a:t>Security Automation and Testing</a:t>
            </a:r>
            <a:endParaRPr lang="en-US" sz="620" dirty="0"/>
          </a:p>
        </p:txBody>
      </p:sp>
      <p:sp>
        <p:nvSpPr>
          <p:cNvPr id="16" name="Text 14"/>
          <p:cNvSpPr/>
          <p:nvPr/>
        </p:nvSpPr>
        <p:spPr>
          <a:xfrm>
            <a:off x="411480" y="1508760"/>
            <a:ext cx="1508760" cy="411480"/>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b="1" dirty="0">
                <a:solidFill>
                  <a:srgbClr val="1F2937"/>
                </a:solidFill>
                <a:latin typeface="Aptos" pitchFamily="34" charset="0"/>
                <a:ea typeface="Aptos" pitchFamily="34" charset="-122"/>
                <a:cs typeface="Aptos" pitchFamily="34" charset="-120"/>
              </a:rPr>
              <a:t>Microsoft</a:t>
            </a:r>
            <a:endParaRPr lang="en-US" sz="800" dirty="0"/>
          </a:p>
        </p:txBody>
      </p:sp>
      <p:sp>
        <p:nvSpPr>
          <p:cNvPr id="17" name="Text 15"/>
          <p:cNvSpPr/>
          <p:nvPr/>
        </p:nvSpPr>
        <p:spPr>
          <a:xfrm>
            <a:off x="1920240" y="1508760"/>
            <a:ext cx="53035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167</a:t>
            </a:r>
            <a:endParaRPr lang="en-US" sz="800" dirty="0"/>
          </a:p>
        </p:txBody>
      </p:sp>
      <p:sp>
        <p:nvSpPr>
          <p:cNvPr id="18" name="Text 16"/>
          <p:cNvSpPr/>
          <p:nvPr/>
        </p:nvSpPr>
        <p:spPr>
          <a:xfrm>
            <a:off x="2450592" y="1508760"/>
            <a:ext cx="1078992" cy="411480"/>
          </a:xfrm>
          <a:prstGeom prst="rect">
            <a:avLst/>
          </a:prstGeom>
          <a:solidFill>
            <a:srgbClr val="1F4E79"/>
          </a:solidFill>
          <a:ln>
            <a:solidFill>
              <a:srgbClr val="D9E2EC"/>
            </a:solidFill>
          </a:ln>
        </p:spPr>
        <p:txBody>
          <a:bodyPr wrap="square" lIns="699" tIns="699" rIns="699" bIns="699"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87</a:t>
            </a:r>
            <a:endParaRPr lang="en-US" sz="800" dirty="0"/>
          </a:p>
        </p:txBody>
      </p:sp>
      <p:sp>
        <p:nvSpPr>
          <p:cNvPr id="19" name="Text 17"/>
          <p:cNvSpPr/>
          <p:nvPr/>
        </p:nvSpPr>
        <p:spPr>
          <a:xfrm>
            <a:off x="3529584" y="1508760"/>
            <a:ext cx="1078992" cy="411480"/>
          </a:xfrm>
          <a:prstGeom prst="rect">
            <a:avLst/>
          </a:prstGeom>
          <a:solidFill>
            <a:srgbClr val="CFE2F3"/>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22</a:t>
            </a:r>
            <a:endParaRPr lang="en-US" sz="800" dirty="0"/>
          </a:p>
        </p:txBody>
      </p:sp>
      <p:sp>
        <p:nvSpPr>
          <p:cNvPr id="20" name="Text 18"/>
          <p:cNvSpPr/>
          <p:nvPr/>
        </p:nvSpPr>
        <p:spPr>
          <a:xfrm>
            <a:off x="4608576" y="150876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13</a:t>
            </a:r>
            <a:endParaRPr lang="en-US" sz="800" dirty="0"/>
          </a:p>
        </p:txBody>
      </p:sp>
      <p:sp>
        <p:nvSpPr>
          <p:cNvPr id="21" name="Text 19"/>
          <p:cNvSpPr/>
          <p:nvPr/>
        </p:nvSpPr>
        <p:spPr>
          <a:xfrm>
            <a:off x="5687568" y="150876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13</a:t>
            </a:r>
            <a:endParaRPr lang="en-US" sz="800" dirty="0"/>
          </a:p>
        </p:txBody>
      </p:sp>
      <p:sp>
        <p:nvSpPr>
          <p:cNvPr id="22" name="Text 20"/>
          <p:cNvSpPr/>
          <p:nvPr/>
        </p:nvSpPr>
        <p:spPr>
          <a:xfrm>
            <a:off x="6766560" y="1508760"/>
            <a:ext cx="1078992" cy="411480"/>
          </a:xfrm>
          <a:prstGeom prst="rect">
            <a:avLst/>
          </a:prstGeom>
          <a:solidFill>
            <a:srgbClr val="CFE2F3"/>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17</a:t>
            </a:r>
            <a:endParaRPr lang="en-US" sz="800" dirty="0"/>
          </a:p>
        </p:txBody>
      </p:sp>
      <p:sp>
        <p:nvSpPr>
          <p:cNvPr id="23" name="Text 21"/>
          <p:cNvSpPr/>
          <p:nvPr/>
        </p:nvSpPr>
        <p:spPr>
          <a:xfrm>
            <a:off x="7845552" y="150876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6</a:t>
            </a:r>
            <a:endParaRPr lang="en-US" sz="800" dirty="0"/>
          </a:p>
        </p:txBody>
      </p:sp>
      <p:sp>
        <p:nvSpPr>
          <p:cNvPr id="24" name="Text 22"/>
          <p:cNvSpPr/>
          <p:nvPr/>
        </p:nvSpPr>
        <p:spPr>
          <a:xfrm>
            <a:off x="8924544" y="150876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5</a:t>
            </a:r>
            <a:endParaRPr lang="en-US" sz="800" dirty="0"/>
          </a:p>
        </p:txBody>
      </p:sp>
      <p:sp>
        <p:nvSpPr>
          <p:cNvPr id="25" name="Text 23"/>
          <p:cNvSpPr/>
          <p:nvPr/>
        </p:nvSpPr>
        <p:spPr>
          <a:xfrm>
            <a:off x="10003536" y="150876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4</a:t>
            </a:r>
            <a:endParaRPr lang="en-US" sz="800" dirty="0"/>
          </a:p>
        </p:txBody>
      </p:sp>
      <p:sp>
        <p:nvSpPr>
          <p:cNvPr id="26" name="Text 24"/>
          <p:cNvSpPr/>
          <p:nvPr/>
        </p:nvSpPr>
        <p:spPr>
          <a:xfrm>
            <a:off x="411480" y="1920240"/>
            <a:ext cx="1508760" cy="411480"/>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b="1" dirty="0">
                <a:solidFill>
                  <a:srgbClr val="1F2937"/>
                </a:solidFill>
                <a:latin typeface="Aptos" pitchFamily="34" charset="0"/>
                <a:ea typeface="Aptos" pitchFamily="34" charset="-122"/>
                <a:cs typeface="Aptos" pitchFamily="34" charset="-120"/>
              </a:rPr>
              <a:t>Cisco</a:t>
            </a:r>
            <a:endParaRPr lang="en-US" sz="800" dirty="0"/>
          </a:p>
        </p:txBody>
      </p:sp>
      <p:sp>
        <p:nvSpPr>
          <p:cNvPr id="27" name="Text 25"/>
          <p:cNvSpPr/>
          <p:nvPr/>
        </p:nvSpPr>
        <p:spPr>
          <a:xfrm>
            <a:off x="1920240" y="1920240"/>
            <a:ext cx="53035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158</a:t>
            </a:r>
            <a:endParaRPr lang="en-US" sz="800" dirty="0"/>
          </a:p>
        </p:txBody>
      </p:sp>
      <p:sp>
        <p:nvSpPr>
          <p:cNvPr id="28" name="Text 26"/>
          <p:cNvSpPr/>
          <p:nvPr/>
        </p:nvSpPr>
        <p:spPr>
          <a:xfrm>
            <a:off x="2450592" y="1920240"/>
            <a:ext cx="1078992" cy="411480"/>
          </a:xfrm>
          <a:prstGeom prst="rect">
            <a:avLst/>
          </a:prstGeom>
          <a:solidFill>
            <a:srgbClr val="7EAED4"/>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51</a:t>
            </a:r>
            <a:endParaRPr lang="en-US" sz="800" dirty="0"/>
          </a:p>
        </p:txBody>
      </p:sp>
      <p:sp>
        <p:nvSpPr>
          <p:cNvPr id="29" name="Text 27"/>
          <p:cNvSpPr/>
          <p:nvPr/>
        </p:nvSpPr>
        <p:spPr>
          <a:xfrm>
            <a:off x="3529584" y="1920240"/>
            <a:ext cx="1078992" cy="411480"/>
          </a:xfrm>
          <a:prstGeom prst="rect">
            <a:avLst/>
          </a:prstGeom>
          <a:solidFill>
            <a:srgbClr val="7EAED4"/>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41</a:t>
            </a:r>
            <a:endParaRPr lang="en-US" sz="800" dirty="0"/>
          </a:p>
        </p:txBody>
      </p:sp>
      <p:sp>
        <p:nvSpPr>
          <p:cNvPr id="30" name="Text 28"/>
          <p:cNvSpPr/>
          <p:nvPr/>
        </p:nvSpPr>
        <p:spPr>
          <a:xfrm>
            <a:off x="4608576" y="1920240"/>
            <a:ext cx="1078992" cy="411480"/>
          </a:xfrm>
          <a:prstGeom prst="rect">
            <a:avLst/>
          </a:prstGeom>
          <a:solidFill>
            <a:srgbClr val="CFE2F3"/>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21</a:t>
            </a:r>
            <a:endParaRPr lang="en-US" sz="800" dirty="0"/>
          </a:p>
        </p:txBody>
      </p:sp>
      <p:sp>
        <p:nvSpPr>
          <p:cNvPr id="31" name="Text 29"/>
          <p:cNvSpPr/>
          <p:nvPr/>
        </p:nvSpPr>
        <p:spPr>
          <a:xfrm>
            <a:off x="5687568" y="1920240"/>
            <a:ext cx="1078992" cy="411480"/>
          </a:xfrm>
          <a:prstGeom prst="rect">
            <a:avLst/>
          </a:prstGeom>
          <a:solidFill>
            <a:srgbClr val="CFE2F3"/>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22</a:t>
            </a:r>
            <a:endParaRPr lang="en-US" sz="800" dirty="0"/>
          </a:p>
        </p:txBody>
      </p:sp>
      <p:sp>
        <p:nvSpPr>
          <p:cNvPr id="32" name="Text 30"/>
          <p:cNvSpPr/>
          <p:nvPr/>
        </p:nvSpPr>
        <p:spPr>
          <a:xfrm>
            <a:off x="6766560" y="192024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7</a:t>
            </a:r>
            <a:endParaRPr lang="en-US" sz="800" dirty="0"/>
          </a:p>
        </p:txBody>
      </p:sp>
      <p:sp>
        <p:nvSpPr>
          <p:cNvPr id="33" name="Text 31"/>
          <p:cNvSpPr/>
          <p:nvPr/>
        </p:nvSpPr>
        <p:spPr>
          <a:xfrm>
            <a:off x="7845552" y="192024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5</a:t>
            </a:r>
            <a:endParaRPr lang="en-US" sz="800" dirty="0"/>
          </a:p>
        </p:txBody>
      </p:sp>
      <p:sp>
        <p:nvSpPr>
          <p:cNvPr id="34" name="Text 32"/>
          <p:cNvSpPr/>
          <p:nvPr/>
        </p:nvSpPr>
        <p:spPr>
          <a:xfrm>
            <a:off x="8924544" y="192024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7</a:t>
            </a:r>
            <a:endParaRPr lang="en-US" sz="800" dirty="0"/>
          </a:p>
        </p:txBody>
      </p:sp>
      <p:sp>
        <p:nvSpPr>
          <p:cNvPr id="35" name="Text 33"/>
          <p:cNvSpPr/>
          <p:nvPr/>
        </p:nvSpPr>
        <p:spPr>
          <a:xfrm>
            <a:off x="10003536" y="192024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4</a:t>
            </a:r>
            <a:endParaRPr lang="en-US" sz="800" dirty="0"/>
          </a:p>
        </p:txBody>
      </p:sp>
      <p:sp>
        <p:nvSpPr>
          <p:cNvPr id="36" name="Text 34"/>
          <p:cNvSpPr/>
          <p:nvPr/>
        </p:nvSpPr>
        <p:spPr>
          <a:xfrm>
            <a:off x="411480" y="2331720"/>
            <a:ext cx="1508760" cy="411480"/>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b="1" dirty="0">
                <a:solidFill>
                  <a:srgbClr val="1F2937"/>
                </a:solidFill>
                <a:latin typeface="Aptos" pitchFamily="34" charset="0"/>
                <a:ea typeface="Aptos" pitchFamily="34" charset="-122"/>
                <a:cs typeface="Aptos" pitchFamily="34" charset="-120"/>
              </a:rPr>
              <a:t>Fortinet</a:t>
            </a:r>
            <a:endParaRPr lang="en-US" sz="800" dirty="0"/>
          </a:p>
        </p:txBody>
      </p:sp>
      <p:sp>
        <p:nvSpPr>
          <p:cNvPr id="37" name="Text 35"/>
          <p:cNvSpPr/>
          <p:nvPr/>
        </p:nvSpPr>
        <p:spPr>
          <a:xfrm>
            <a:off x="1920240" y="2331720"/>
            <a:ext cx="53035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96</a:t>
            </a:r>
            <a:endParaRPr lang="en-US" sz="800" dirty="0"/>
          </a:p>
        </p:txBody>
      </p:sp>
      <p:sp>
        <p:nvSpPr>
          <p:cNvPr id="38" name="Text 36"/>
          <p:cNvSpPr/>
          <p:nvPr/>
        </p:nvSpPr>
        <p:spPr>
          <a:xfrm>
            <a:off x="2450592" y="2331720"/>
            <a:ext cx="1078992" cy="411480"/>
          </a:xfrm>
          <a:prstGeom prst="rect">
            <a:avLst/>
          </a:prstGeom>
          <a:solidFill>
            <a:srgbClr val="CFE2F3"/>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28</a:t>
            </a:r>
            <a:endParaRPr lang="en-US" sz="800" dirty="0"/>
          </a:p>
        </p:txBody>
      </p:sp>
      <p:sp>
        <p:nvSpPr>
          <p:cNvPr id="39" name="Text 37"/>
          <p:cNvSpPr/>
          <p:nvPr/>
        </p:nvSpPr>
        <p:spPr>
          <a:xfrm>
            <a:off x="3529584" y="2331720"/>
            <a:ext cx="1078992" cy="411480"/>
          </a:xfrm>
          <a:prstGeom prst="rect">
            <a:avLst/>
          </a:prstGeom>
          <a:solidFill>
            <a:srgbClr val="7EAED4"/>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41</a:t>
            </a:r>
            <a:endParaRPr lang="en-US" sz="800" dirty="0"/>
          </a:p>
        </p:txBody>
      </p:sp>
      <p:sp>
        <p:nvSpPr>
          <p:cNvPr id="40" name="Text 38"/>
          <p:cNvSpPr/>
          <p:nvPr/>
        </p:nvSpPr>
        <p:spPr>
          <a:xfrm>
            <a:off x="4608576" y="233172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12</a:t>
            </a:r>
            <a:endParaRPr lang="en-US" sz="800" dirty="0"/>
          </a:p>
        </p:txBody>
      </p:sp>
      <p:sp>
        <p:nvSpPr>
          <p:cNvPr id="41" name="Text 39"/>
          <p:cNvSpPr/>
          <p:nvPr/>
        </p:nvSpPr>
        <p:spPr>
          <a:xfrm>
            <a:off x="5687568" y="233172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5</a:t>
            </a:r>
            <a:endParaRPr lang="en-US" sz="800" dirty="0"/>
          </a:p>
        </p:txBody>
      </p:sp>
      <p:sp>
        <p:nvSpPr>
          <p:cNvPr id="42" name="Text 40"/>
          <p:cNvSpPr/>
          <p:nvPr/>
        </p:nvSpPr>
        <p:spPr>
          <a:xfrm>
            <a:off x="6766560" y="233172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43" name="Text 41"/>
          <p:cNvSpPr/>
          <p:nvPr/>
        </p:nvSpPr>
        <p:spPr>
          <a:xfrm>
            <a:off x="7845552" y="233172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a:t>
            </a:r>
            <a:endParaRPr lang="en-US" sz="800" dirty="0"/>
          </a:p>
        </p:txBody>
      </p:sp>
      <p:sp>
        <p:nvSpPr>
          <p:cNvPr id="44" name="Text 42"/>
          <p:cNvSpPr/>
          <p:nvPr/>
        </p:nvSpPr>
        <p:spPr>
          <a:xfrm>
            <a:off x="8924544" y="233172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3</a:t>
            </a:r>
            <a:endParaRPr lang="en-US" sz="800" dirty="0"/>
          </a:p>
        </p:txBody>
      </p:sp>
      <p:sp>
        <p:nvSpPr>
          <p:cNvPr id="45" name="Text 43"/>
          <p:cNvSpPr/>
          <p:nvPr/>
        </p:nvSpPr>
        <p:spPr>
          <a:xfrm>
            <a:off x="10003536" y="233172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4</a:t>
            </a:r>
            <a:endParaRPr lang="en-US" sz="800" dirty="0"/>
          </a:p>
        </p:txBody>
      </p:sp>
      <p:sp>
        <p:nvSpPr>
          <p:cNvPr id="46" name="Text 44"/>
          <p:cNvSpPr/>
          <p:nvPr/>
        </p:nvSpPr>
        <p:spPr>
          <a:xfrm>
            <a:off x="411480" y="2743200"/>
            <a:ext cx="1508760" cy="411480"/>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b="1" dirty="0">
                <a:solidFill>
                  <a:srgbClr val="1F2937"/>
                </a:solidFill>
                <a:latin typeface="Aptos" pitchFamily="34" charset="0"/>
                <a:ea typeface="Aptos" pitchFamily="34" charset="-122"/>
                <a:cs typeface="Aptos" pitchFamily="34" charset="-120"/>
              </a:rPr>
              <a:t>Palo Alto Networks</a:t>
            </a:r>
            <a:endParaRPr lang="en-US" sz="800" dirty="0"/>
          </a:p>
        </p:txBody>
      </p:sp>
      <p:sp>
        <p:nvSpPr>
          <p:cNvPr id="47" name="Text 45"/>
          <p:cNvSpPr/>
          <p:nvPr/>
        </p:nvSpPr>
        <p:spPr>
          <a:xfrm>
            <a:off x="1920240" y="2743200"/>
            <a:ext cx="53035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96</a:t>
            </a:r>
            <a:endParaRPr lang="en-US" sz="800" dirty="0"/>
          </a:p>
        </p:txBody>
      </p:sp>
      <p:sp>
        <p:nvSpPr>
          <p:cNvPr id="48" name="Text 46"/>
          <p:cNvSpPr/>
          <p:nvPr/>
        </p:nvSpPr>
        <p:spPr>
          <a:xfrm>
            <a:off x="2450592" y="2743200"/>
            <a:ext cx="1078992" cy="411480"/>
          </a:xfrm>
          <a:prstGeom prst="rect">
            <a:avLst/>
          </a:prstGeom>
          <a:solidFill>
            <a:srgbClr val="CFE2F3"/>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20</a:t>
            </a:r>
            <a:endParaRPr lang="en-US" sz="800" dirty="0"/>
          </a:p>
        </p:txBody>
      </p:sp>
      <p:sp>
        <p:nvSpPr>
          <p:cNvPr id="49" name="Text 47"/>
          <p:cNvSpPr/>
          <p:nvPr/>
        </p:nvSpPr>
        <p:spPr>
          <a:xfrm>
            <a:off x="3529584" y="2743200"/>
            <a:ext cx="1078992" cy="411480"/>
          </a:xfrm>
          <a:prstGeom prst="rect">
            <a:avLst/>
          </a:prstGeom>
          <a:solidFill>
            <a:srgbClr val="CFE2F3"/>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22</a:t>
            </a:r>
            <a:endParaRPr lang="en-US" sz="800" dirty="0"/>
          </a:p>
        </p:txBody>
      </p:sp>
      <p:sp>
        <p:nvSpPr>
          <p:cNvPr id="50" name="Text 48"/>
          <p:cNvSpPr/>
          <p:nvPr/>
        </p:nvSpPr>
        <p:spPr>
          <a:xfrm>
            <a:off x="4608576" y="274320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5</a:t>
            </a:r>
            <a:endParaRPr lang="en-US" sz="800" dirty="0"/>
          </a:p>
        </p:txBody>
      </p:sp>
      <p:sp>
        <p:nvSpPr>
          <p:cNvPr id="51" name="Text 49"/>
          <p:cNvSpPr/>
          <p:nvPr/>
        </p:nvSpPr>
        <p:spPr>
          <a:xfrm>
            <a:off x="5687568" y="274320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10</a:t>
            </a:r>
            <a:endParaRPr lang="en-US" sz="800" dirty="0"/>
          </a:p>
        </p:txBody>
      </p:sp>
      <p:sp>
        <p:nvSpPr>
          <p:cNvPr id="52" name="Text 50"/>
          <p:cNvSpPr/>
          <p:nvPr/>
        </p:nvSpPr>
        <p:spPr>
          <a:xfrm>
            <a:off x="6766560" y="2743200"/>
            <a:ext cx="1078992" cy="411480"/>
          </a:xfrm>
          <a:prstGeom prst="rect">
            <a:avLst/>
          </a:prstGeom>
          <a:solidFill>
            <a:srgbClr val="CFE2F3"/>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20</a:t>
            </a:r>
            <a:endParaRPr lang="en-US" sz="800" dirty="0"/>
          </a:p>
        </p:txBody>
      </p:sp>
      <p:sp>
        <p:nvSpPr>
          <p:cNvPr id="53" name="Text 51"/>
          <p:cNvSpPr/>
          <p:nvPr/>
        </p:nvSpPr>
        <p:spPr>
          <a:xfrm>
            <a:off x="7845552" y="274320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10</a:t>
            </a:r>
            <a:endParaRPr lang="en-US" sz="800" dirty="0"/>
          </a:p>
        </p:txBody>
      </p:sp>
      <p:sp>
        <p:nvSpPr>
          <p:cNvPr id="54" name="Text 52"/>
          <p:cNvSpPr/>
          <p:nvPr/>
        </p:nvSpPr>
        <p:spPr>
          <a:xfrm>
            <a:off x="8924544" y="274320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3</a:t>
            </a:r>
            <a:endParaRPr lang="en-US" sz="800" dirty="0"/>
          </a:p>
        </p:txBody>
      </p:sp>
      <p:sp>
        <p:nvSpPr>
          <p:cNvPr id="55" name="Text 53"/>
          <p:cNvSpPr/>
          <p:nvPr/>
        </p:nvSpPr>
        <p:spPr>
          <a:xfrm>
            <a:off x="10003536" y="274320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6</a:t>
            </a:r>
            <a:endParaRPr lang="en-US" sz="800" dirty="0"/>
          </a:p>
        </p:txBody>
      </p:sp>
      <p:sp>
        <p:nvSpPr>
          <p:cNvPr id="56" name="Text 54"/>
          <p:cNvSpPr/>
          <p:nvPr/>
        </p:nvSpPr>
        <p:spPr>
          <a:xfrm>
            <a:off x="411480" y="3154680"/>
            <a:ext cx="1508760" cy="411480"/>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b="1" dirty="0">
                <a:solidFill>
                  <a:srgbClr val="1F2937"/>
                </a:solidFill>
                <a:latin typeface="Aptos" pitchFamily="34" charset="0"/>
                <a:ea typeface="Aptos" pitchFamily="34" charset="-122"/>
                <a:cs typeface="Aptos" pitchFamily="34" charset="-120"/>
              </a:rPr>
              <a:t>Google</a:t>
            </a:r>
            <a:endParaRPr lang="en-US" sz="800" dirty="0"/>
          </a:p>
        </p:txBody>
      </p:sp>
      <p:sp>
        <p:nvSpPr>
          <p:cNvPr id="57" name="Text 55"/>
          <p:cNvSpPr/>
          <p:nvPr/>
        </p:nvSpPr>
        <p:spPr>
          <a:xfrm>
            <a:off x="1920240" y="3154680"/>
            <a:ext cx="53035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46</a:t>
            </a:r>
            <a:endParaRPr lang="en-US" sz="800" dirty="0"/>
          </a:p>
        </p:txBody>
      </p:sp>
      <p:sp>
        <p:nvSpPr>
          <p:cNvPr id="58" name="Text 56"/>
          <p:cNvSpPr/>
          <p:nvPr/>
        </p:nvSpPr>
        <p:spPr>
          <a:xfrm>
            <a:off x="2450592" y="3154680"/>
            <a:ext cx="1078992" cy="411480"/>
          </a:xfrm>
          <a:prstGeom prst="rect">
            <a:avLst/>
          </a:prstGeom>
          <a:solidFill>
            <a:srgbClr val="CFE2F3"/>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21</a:t>
            </a:r>
            <a:endParaRPr lang="en-US" sz="800" dirty="0"/>
          </a:p>
        </p:txBody>
      </p:sp>
      <p:sp>
        <p:nvSpPr>
          <p:cNvPr id="59" name="Text 57"/>
          <p:cNvSpPr/>
          <p:nvPr/>
        </p:nvSpPr>
        <p:spPr>
          <a:xfrm>
            <a:off x="3529584" y="315468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6</a:t>
            </a:r>
            <a:endParaRPr lang="en-US" sz="800" dirty="0"/>
          </a:p>
        </p:txBody>
      </p:sp>
      <p:sp>
        <p:nvSpPr>
          <p:cNvPr id="60" name="Text 58"/>
          <p:cNvSpPr/>
          <p:nvPr/>
        </p:nvSpPr>
        <p:spPr>
          <a:xfrm>
            <a:off x="4608576" y="315468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61" name="Text 59"/>
          <p:cNvSpPr/>
          <p:nvPr/>
        </p:nvSpPr>
        <p:spPr>
          <a:xfrm>
            <a:off x="5687568" y="315468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3</a:t>
            </a:r>
            <a:endParaRPr lang="en-US" sz="800" dirty="0"/>
          </a:p>
        </p:txBody>
      </p:sp>
      <p:sp>
        <p:nvSpPr>
          <p:cNvPr id="62" name="Text 60"/>
          <p:cNvSpPr/>
          <p:nvPr/>
        </p:nvSpPr>
        <p:spPr>
          <a:xfrm>
            <a:off x="6766560" y="315468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4</a:t>
            </a:r>
            <a:endParaRPr lang="en-US" sz="800" dirty="0"/>
          </a:p>
        </p:txBody>
      </p:sp>
      <p:sp>
        <p:nvSpPr>
          <p:cNvPr id="63" name="Text 61"/>
          <p:cNvSpPr/>
          <p:nvPr/>
        </p:nvSpPr>
        <p:spPr>
          <a:xfrm>
            <a:off x="7845552" y="315468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3</a:t>
            </a:r>
            <a:endParaRPr lang="en-US" sz="800" dirty="0"/>
          </a:p>
        </p:txBody>
      </p:sp>
      <p:sp>
        <p:nvSpPr>
          <p:cNvPr id="64" name="Text 62"/>
          <p:cNvSpPr/>
          <p:nvPr/>
        </p:nvSpPr>
        <p:spPr>
          <a:xfrm>
            <a:off x="8924544" y="315468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3</a:t>
            </a:r>
            <a:endParaRPr lang="en-US" sz="800" dirty="0"/>
          </a:p>
        </p:txBody>
      </p:sp>
      <p:sp>
        <p:nvSpPr>
          <p:cNvPr id="65" name="Text 63"/>
          <p:cNvSpPr/>
          <p:nvPr/>
        </p:nvSpPr>
        <p:spPr>
          <a:xfrm>
            <a:off x="10003536" y="315468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5</a:t>
            </a:r>
            <a:endParaRPr lang="en-US" sz="800" dirty="0"/>
          </a:p>
        </p:txBody>
      </p:sp>
      <p:sp>
        <p:nvSpPr>
          <p:cNvPr id="66" name="Text 64"/>
          <p:cNvSpPr/>
          <p:nvPr/>
        </p:nvSpPr>
        <p:spPr>
          <a:xfrm>
            <a:off x="411480" y="3566160"/>
            <a:ext cx="1508760" cy="411480"/>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b="1" dirty="0">
                <a:solidFill>
                  <a:srgbClr val="1F2937"/>
                </a:solidFill>
                <a:latin typeface="Aptos" pitchFamily="34" charset="0"/>
                <a:ea typeface="Aptos" pitchFamily="34" charset="-122"/>
                <a:cs typeface="Aptos" pitchFamily="34" charset="-120"/>
              </a:rPr>
              <a:t>Rapid7</a:t>
            </a:r>
            <a:endParaRPr lang="en-US" sz="800" dirty="0"/>
          </a:p>
        </p:txBody>
      </p:sp>
      <p:sp>
        <p:nvSpPr>
          <p:cNvPr id="67" name="Text 65"/>
          <p:cNvSpPr/>
          <p:nvPr/>
        </p:nvSpPr>
        <p:spPr>
          <a:xfrm>
            <a:off x="1920240" y="3566160"/>
            <a:ext cx="53035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42</a:t>
            </a:r>
            <a:endParaRPr lang="en-US" sz="800" dirty="0"/>
          </a:p>
        </p:txBody>
      </p:sp>
      <p:sp>
        <p:nvSpPr>
          <p:cNvPr id="68" name="Text 66"/>
          <p:cNvSpPr/>
          <p:nvPr/>
        </p:nvSpPr>
        <p:spPr>
          <a:xfrm>
            <a:off x="2450592" y="3566160"/>
            <a:ext cx="1078992" cy="411480"/>
          </a:xfrm>
          <a:prstGeom prst="rect">
            <a:avLst/>
          </a:prstGeom>
          <a:solidFill>
            <a:srgbClr val="CFE2F3"/>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18</a:t>
            </a:r>
            <a:endParaRPr lang="en-US" sz="800" dirty="0"/>
          </a:p>
        </p:txBody>
      </p:sp>
      <p:sp>
        <p:nvSpPr>
          <p:cNvPr id="69" name="Text 67"/>
          <p:cNvSpPr/>
          <p:nvPr/>
        </p:nvSpPr>
        <p:spPr>
          <a:xfrm>
            <a:off x="3529584" y="356616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6</a:t>
            </a:r>
            <a:endParaRPr lang="en-US" sz="800" dirty="0"/>
          </a:p>
        </p:txBody>
      </p:sp>
      <p:sp>
        <p:nvSpPr>
          <p:cNvPr id="70" name="Text 68"/>
          <p:cNvSpPr/>
          <p:nvPr/>
        </p:nvSpPr>
        <p:spPr>
          <a:xfrm>
            <a:off x="4608576" y="356616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71" name="Text 69"/>
          <p:cNvSpPr/>
          <p:nvPr/>
        </p:nvSpPr>
        <p:spPr>
          <a:xfrm>
            <a:off x="5687568" y="3566160"/>
            <a:ext cx="1078992" cy="411480"/>
          </a:xfrm>
          <a:prstGeom prst="rect">
            <a:avLst/>
          </a:prstGeom>
          <a:solidFill>
            <a:srgbClr val="CFE2F3"/>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15</a:t>
            </a:r>
            <a:endParaRPr lang="en-US" sz="800" dirty="0"/>
          </a:p>
        </p:txBody>
      </p:sp>
      <p:sp>
        <p:nvSpPr>
          <p:cNvPr id="72" name="Text 70"/>
          <p:cNvSpPr/>
          <p:nvPr/>
        </p:nvSpPr>
        <p:spPr>
          <a:xfrm>
            <a:off x="6766560" y="3566160"/>
            <a:ext cx="107899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dirty="0">
                <a:solidFill>
                  <a:srgbClr val="1F2937"/>
                </a:solidFill>
                <a:latin typeface="Aptos" pitchFamily="34" charset="0"/>
                <a:ea typeface="Aptos" pitchFamily="34" charset="-122"/>
                <a:cs typeface="Aptos" pitchFamily="34" charset="-120"/>
              </a:rPr>
              <a:t>0</a:t>
            </a:r>
            <a:endParaRPr lang="en-US" sz="800" dirty="0"/>
          </a:p>
        </p:txBody>
      </p:sp>
      <p:sp>
        <p:nvSpPr>
          <p:cNvPr id="73" name="Text 71"/>
          <p:cNvSpPr/>
          <p:nvPr/>
        </p:nvSpPr>
        <p:spPr>
          <a:xfrm>
            <a:off x="7845552" y="3566160"/>
            <a:ext cx="107899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dirty="0">
                <a:solidFill>
                  <a:srgbClr val="1F2937"/>
                </a:solidFill>
                <a:latin typeface="Aptos" pitchFamily="34" charset="0"/>
                <a:ea typeface="Aptos" pitchFamily="34" charset="-122"/>
                <a:cs typeface="Aptos" pitchFamily="34" charset="-120"/>
              </a:rPr>
              <a:t>0</a:t>
            </a:r>
            <a:endParaRPr lang="en-US" sz="800" dirty="0"/>
          </a:p>
        </p:txBody>
      </p:sp>
      <p:sp>
        <p:nvSpPr>
          <p:cNvPr id="74" name="Text 72"/>
          <p:cNvSpPr/>
          <p:nvPr/>
        </p:nvSpPr>
        <p:spPr>
          <a:xfrm>
            <a:off x="8924544" y="356616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75" name="Text 73"/>
          <p:cNvSpPr/>
          <p:nvPr/>
        </p:nvSpPr>
        <p:spPr>
          <a:xfrm>
            <a:off x="10003536" y="356616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76" name="Text 74"/>
          <p:cNvSpPr/>
          <p:nvPr/>
        </p:nvSpPr>
        <p:spPr>
          <a:xfrm>
            <a:off x="411480" y="3977640"/>
            <a:ext cx="1508760" cy="411480"/>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b="1" dirty="0">
                <a:solidFill>
                  <a:srgbClr val="1F2937"/>
                </a:solidFill>
                <a:latin typeface="Aptos" pitchFamily="34" charset="0"/>
                <a:ea typeface="Aptos" pitchFamily="34" charset="-122"/>
                <a:cs typeface="Aptos" pitchFamily="34" charset="-120"/>
              </a:rPr>
              <a:t>Trend Micro</a:t>
            </a:r>
            <a:endParaRPr lang="en-US" sz="800" dirty="0"/>
          </a:p>
        </p:txBody>
      </p:sp>
      <p:sp>
        <p:nvSpPr>
          <p:cNvPr id="77" name="Text 75"/>
          <p:cNvSpPr/>
          <p:nvPr/>
        </p:nvSpPr>
        <p:spPr>
          <a:xfrm>
            <a:off x="1920240" y="3977640"/>
            <a:ext cx="53035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27</a:t>
            </a:r>
            <a:endParaRPr lang="en-US" sz="800" dirty="0"/>
          </a:p>
        </p:txBody>
      </p:sp>
      <p:sp>
        <p:nvSpPr>
          <p:cNvPr id="78" name="Text 76"/>
          <p:cNvSpPr/>
          <p:nvPr/>
        </p:nvSpPr>
        <p:spPr>
          <a:xfrm>
            <a:off x="2450592" y="397764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13</a:t>
            </a:r>
            <a:endParaRPr lang="en-US" sz="800" dirty="0"/>
          </a:p>
        </p:txBody>
      </p:sp>
      <p:sp>
        <p:nvSpPr>
          <p:cNvPr id="79" name="Text 77"/>
          <p:cNvSpPr/>
          <p:nvPr/>
        </p:nvSpPr>
        <p:spPr>
          <a:xfrm>
            <a:off x="3529584" y="397764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4</a:t>
            </a:r>
            <a:endParaRPr lang="en-US" sz="800" dirty="0"/>
          </a:p>
        </p:txBody>
      </p:sp>
      <p:sp>
        <p:nvSpPr>
          <p:cNvPr id="80" name="Text 78"/>
          <p:cNvSpPr/>
          <p:nvPr/>
        </p:nvSpPr>
        <p:spPr>
          <a:xfrm>
            <a:off x="4608576" y="3977640"/>
            <a:ext cx="107899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dirty="0">
                <a:solidFill>
                  <a:srgbClr val="1F2937"/>
                </a:solidFill>
                <a:latin typeface="Aptos" pitchFamily="34" charset="0"/>
                <a:ea typeface="Aptos" pitchFamily="34" charset="-122"/>
                <a:cs typeface="Aptos" pitchFamily="34" charset="-120"/>
              </a:rPr>
              <a:t>0</a:t>
            </a:r>
            <a:endParaRPr lang="en-US" sz="800" dirty="0"/>
          </a:p>
        </p:txBody>
      </p:sp>
      <p:sp>
        <p:nvSpPr>
          <p:cNvPr id="81" name="Text 79"/>
          <p:cNvSpPr/>
          <p:nvPr/>
        </p:nvSpPr>
        <p:spPr>
          <a:xfrm>
            <a:off x="5687568" y="397764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3</a:t>
            </a:r>
            <a:endParaRPr lang="en-US" sz="800" dirty="0"/>
          </a:p>
        </p:txBody>
      </p:sp>
      <p:sp>
        <p:nvSpPr>
          <p:cNvPr id="82" name="Text 80"/>
          <p:cNvSpPr/>
          <p:nvPr/>
        </p:nvSpPr>
        <p:spPr>
          <a:xfrm>
            <a:off x="6766560" y="397764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a:t>
            </a:r>
            <a:endParaRPr lang="en-US" sz="800" dirty="0"/>
          </a:p>
        </p:txBody>
      </p:sp>
      <p:sp>
        <p:nvSpPr>
          <p:cNvPr id="83" name="Text 81"/>
          <p:cNvSpPr/>
          <p:nvPr/>
        </p:nvSpPr>
        <p:spPr>
          <a:xfrm>
            <a:off x="7845552" y="397764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4</a:t>
            </a:r>
            <a:endParaRPr lang="en-US" sz="800" dirty="0"/>
          </a:p>
        </p:txBody>
      </p:sp>
      <p:sp>
        <p:nvSpPr>
          <p:cNvPr id="84" name="Text 82"/>
          <p:cNvSpPr/>
          <p:nvPr/>
        </p:nvSpPr>
        <p:spPr>
          <a:xfrm>
            <a:off x="8924544" y="3977640"/>
            <a:ext cx="107899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dirty="0">
                <a:solidFill>
                  <a:srgbClr val="1F2937"/>
                </a:solidFill>
                <a:latin typeface="Aptos" pitchFamily="34" charset="0"/>
                <a:ea typeface="Aptos" pitchFamily="34" charset="-122"/>
                <a:cs typeface="Aptos" pitchFamily="34" charset="-120"/>
              </a:rPr>
              <a:t>0</a:t>
            </a:r>
            <a:endParaRPr lang="en-US" sz="800" dirty="0"/>
          </a:p>
        </p:txBody>
      </p:sp>
      <p:sp>
        <p:nvSpPr>
          <p:cNvPr id="85" name="Text 83"/>
          <p:cNvSpPr/>
          <p:nvPr/>
        </p:nvSpPr>
        <p:spPr>
          <a:xfrm>
            <a:off x="10003536" y="397764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86" name="Text 84"/>
          <p:cNvSpPr/>
          <p:nvPr/>
        </p:nvSpPr>
        <p:spPr>
          <a:xfrm>
            <a:off x="411480" y="4389120"/>
            <a:ext cx="1508760" cy="411480"/>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b="1" dirty="0">
                <a:solidFill>
                  <a:srgbClr val="1F2937"/>
                </a:solidFill>
                <a:latin typeface="Aptos" pitchFamily="34" charset="0"/>
                <a:ea typeface="Aptos" pitchFamily="34" charset="-122"/>
                <a:cs typeface="Aptos" pitchFamily="34" charset="-120"/>
              </a:rPr>
              <a:t>CyberArk</a:t>
            </a:r>
            <a:endParaRPr lang="en-US" sz="800" dirty="0"/>
          </a:p>
        </p:txBody>
      </p:sp>
      <p:sp>
        <p:nvSpPr>
          <p:cNvPr id="87" name="Text 85"/>
          <p:cNvSpPr/>
          <p:nvPr/>
        </p:nvSpPr>
        <p:spPr>
          <a:xfrm>
            <a:off x="1920240" y="4389120"/>
            <a:ext cx="53035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13</a:t>
            </a:r>
            <a:endParaRPr lang="en-US" sz="800" dirty="0"/>
          </a:p>
        </p:txBody>
      </p:sp>
      <p:sp>
        <p:nvSpPr>
          <p:cNvPr id="88" name="Text 86"/>
          <p:cNvSpPr/>
          <p:nvPr/>
        </p:nvSpPr>
        <p:spPr>
          <a:xfrm>
            <a:off x="2450592" y="438912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89" name="Text 87"/>
          <p:cNvSpPr/>
          <p:nvPr/>
        </p:nvSpPr>
        <p:spPr>
          <a:xfrm>
            <a:off x="3529584" y="4389120"/>
            <a:ext cx="107899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dirty="0">
                <a:solidFill>
                  <a:srgbClr val="1F2937"/>
                </a:solidFill>
                <a:latin typeface="Aptos" pitchFamily="34" charset="0"/>
                <a:ea typeface="Aptos" pitchFamily="34" charset="-122"/>
                <a:cs typeface="Aptos" pitchFamily="34" charset="-120"/>
              </a:rPr>
              <a:t>0</a:t>
            </a:r>
            <a:endParaRPr lang="en-US" sz="800" dirty="0"/>
          </a:p>
        </p:txBody>
      </p:sp>
      <p:sp>
        <p:nvSpPr>
          <p:cNvPr id="90" name="Text 88"/>
          <p:cNvSpPr/>
          <p:nvPr/>
        </p:nvSpPr>
        <p:spPr>
          <a:xfrm>
            <a:off x="4608576" y="438912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7</a:t>
            </a:r>
            <a:endParaRPr lang="en-US" sz="800" dirty="0"/>
          </a:p>
        </p:txBody>
      </p:sp>
      <p:sp>
        <p:nvSpPr>
          <p:cNvPr id="91" name="Text 89"/>
          <p:cNvSpPr/>
          <p:nvPr/>
        </p:nvSpPr>
        <p:spPr>
          <a:xfrm>
            <a:off x="5687568" y="438912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a:t>
            </a:r>
            <a:endParaRPr lang="en-US" sz="800" dirty="0"/>
          </a:p>
        </p:txBody>
      </p:sp>
      <p:sp>
        <p:nvSpPr>
          <p:cNvPr id="92" name="Text 90"/>
          <p:cNvSpPr/>
          <p:nvPr/>
        </p:nvSpPr>
        <p:spPr>
          <a:xfrm>
            <a:off x="6766560" y="438912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93" name="Text 91"/>
          <p:cNvSpPr/>
          <p:nvPr/>
        </p:nvSpPr>
        <p:spPr>
          <a:xfrm>
            <a:off x="7845552" y="4389120"/>
            <a:ext cx="107899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dirty="0">
                <a:solidFill>
                  <a:srgbClr val="1F2937"/>
                </a:solidFill>
                <a:latin typeface="Aptos" pitchFamily="34" charset="0"/>
                <a:ea typeface="Aptos" pitchFamily="34" charset="-122"/>
                <a:cs typeface="Aptos" pitchFamily="34" charset="-120"/>
              </a:rPr>
              <a:t>0</a:t>
            </a:r>
            <a:endParaRPr lang="en-US" sz="800" dirty="0"/>
          </a:p>
        </p:txBody>
      </p:sp>
      <p:sp>
        <p:nvSpPr>
          <p:cNvPr id="94" name="Text 92"/>
          <p:cNvSpPr/>
          <p:nvPr/>
        </p:nvSpPr>
        <p:spPr>
          <a:xfrm>
            <a:off x="8924544" y="438912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95" name="Text 93"/>
          <p:cNvSpPr/>
          <p:nvPr/>
        </p:nvSpPr>
        <p:spPr>
          <a:xfrm>
            <a:off x="10003536" y="438912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96" name="Text 94"/>
          <p:cNvSpPr/>
          <p:nvPr/>
        </p:nvSpPr>
        <p:spPr>
          <a:xfrm>
            <a:off x="411480" y="4800600"/>
            <a:ext cx="1508760" cy="411480"/>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b="1" dirty="0">
                <a:solidFill>
                  <a:srgbClr val="1F2937"/>
                </a:solidFill>
                <a:latin typeface="Aptos" pitchFamily="34" charset="0"/>
                <a:ea typeface="Aptos" pitchFamily="34" charset="-122"/>
                <a:cs typeface="Aptos" pitchFamily="34" charset="-120"/>
              </a:rPr>
              <a:t>McAfee</a:t>
            </a:r>
            <a:endParaRPr lang="en-US" sz="800" dirty="0"/>
          </a:p>
        </p:txBody>
      </p:sp>
      <p:sp>
        <p:nvSpPr>
          <p:cNvPr id="97" name="Text 95"/>
          <p:cNvSpPr/>
          <p:nvPr/>
        </p:nvSpPr>
        <p:spPr>
          <a:xfrm>
            <a:off x="1920240" y="4800600"/>
            <a:ext cx="53035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12</a:t>
            </a:r>
            <a:endParaRPr lang="en-US" sz="800" dirty="0"/>
          </a:p>
        </p:txBody>
      </p:sp>
      <p:sp>
        <p:nvSpPr>
          <p:cNvPr id="98" name="Text 96"/>
          <p:cNvSpPr/>
          <p:nvPr/>
        </p:nvSpPr>
        <p:spPr>
          <a:xfrm>
            <a:off x="2450592" y="480060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4</a:t>
            </a:r>
            <a:endParaRPr lang="en-US" sz="800" dirty="0"/>
          </a:p>
        </p:txBody>
      </p:sp>
      <p:sp>
        <p:nvSpPr>
          <p:cNvPr id="99" name="Text 97"/>
          <p:cNvSpPr/>
          <p:nvPr/>
        </p:nvSpPr>
        <p:spPr>
          <a:xfrm>
            <a:off x="3529584" y="480060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100" name="Text 98"/>
          <p:cNvSpPr/>
          <p:nvPr/>
        </p:nvSpPr>
        <p:spPr>
          <a:xfrm>
            <a:off x="4608576" y="480060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3</a:t>
            </a:r>
            <a:endParaRPr lang="en-US" sz="800" dirty="0"/>
          </a:p>
        </p:txBody>
      </p:sp>
      <p:sp>
        <p:nvSpPr>
          <p:cNvPr id="101" name="Text 99"/>
          <p:cNvSpPr/>
          <p:nvPr/>
        </p:nvSpPr>
        <p:spPr>
          <a:xfrm>
            <a:off x="5687568" y="4800600"/>
            <a:ext cx="107899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dirty="0">
                <a:solidFill>
                  <a:srgbClr val="1F2937"/>
                </a:solidFill>
                <a:latin typeface="Aptos" pitchFamily="34" charset="0"/>
                <a:ea typeface="Aptos" pitchFamily="34" charset="-122"/>
                <a:cs typeface="Aptos" pitchFamily="34" charset="-120"/>
              </a:rPr>
              <a:t>0</a:t>
            </a:r>
            <a:endParaRPr lang="en-US" sz="800" dirty="0"/>
          </a:p>
        </p:txBody>
      </p:sp>
      <p:sp>
        <p:nvSpPr>
          <p:cNvPr id="102" name="Text 100"/>
          <p:cNvSpPr/>
          <p:nvPr/>
        </p:nvSpPr>
        <p:spPr>
          <a:xfrm>
            <a:off x="6766560" y="480060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2</a:t>
            </a:r>
            <a:endParaRPr lang="en-US" sz="800" dirty="0"/>
          </a:p>
        </p:txBody>
      </p:sp>
      <p:sp>
        <p:nvSpPr>
          <p:cNvPr id="103" name="Text 101"/>
          <p:cNvSpPr/>
          <p:nvPr/>
        </p:nvSpPr>
        <p:spPr>
          <a:xfrm>
            <a:off x="7845552" y="480060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104" name="Text 102"/>
          <p:cNvSpPr/>
          <p:nvPr/>
        </p:nvSpPr>
        <p:spPr>
          <a:xfrm>
            <a:off x="8924544" y="4800600"/>
            <a:ext cx="1078992" cy="411480"/>
          </a:xfrm>
          <a:prstGeom prst="rect">
            <a:avLst/>
          </a:prstGeom>
          <a:solidFill>
            <a:srgbClr val="EAF3F8"/>
          </a:solidFill>
          <a:ln>
            <a:solidFill>
              <a:srgbClr val="D9E2EC"/>
            </a:solidFill>
          </a:ln>
        </p:spPr>
        <p:txBody>
          <a:bodyPr wrap="square" lIns="699" tIns="699" rIns="699" bIns="699" rtlCol="0" anchor="ctr">
            <a:normAutofit/>
          </a:bodyPr>
          <a:lstStyle/>
          <a:p>
            <a:pPr algn="ctr" indent="0" marL="0">
              <a:buNone/>
            </a:pPr>
            <a:r>
              <a:rPr lang="en-US" sz="800" b="1" dirty="0">
                <a:solidFill>
                  <a:srgbClr val="1F2937"/>
                </a:solidFill>
                <a:latin typeface="Aptos" pitchFamily="34" charset="0"/>
                <a:ea typeface="Aptos" pitchFamily="34" charset="-122"/>
                <a:cs typeface="Aptos" pitchFamily="34" charset="-120"/>
              </a:rPr>
              <a:t>1</a:t>
            </a:r>
            <a:endParaRPr lang="en-US" sz="800" dirty="0"/>
          </a:p>
        </p:txBody>
      </p:sp>
      <p:sp>
        <p:nvSpPr>
          <p:cNvPr id="105" name="Text 103"/>
          <p:cNvSpPr/>
          <p:nvPr/>
        </p:nvSpPr>
        <p:spPr>
          <a:xfrm>
            <a:off x="10003536" y="4800600"/>
            <a:ext cx="1078992" cy="411480"/>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00" dirty="0">
                <a:solidFill>
                  <a:srgbClr val="1F2937"/>
                </a:solidFill>
                <a:latin typeface="Aptos" pitchFamily="34" charset="0"/>
                <a:ea typeface="Aptos" pitchFamily="34" charset="-122"/>
                <a:cs typeface="Aptos" pitchFamily="34" charset="-120"/>
              </a:rPr>
              <a:t>0</a:t>
            </a:r>
            <a:endParaRPr lang="en-US" sz="800" dirty="0"/>
          </a:p>
        </p:txBody>
      </p:sp>
      <p:sp>
        <p:nvSpPr>
          <p:cNvPr id="106" name="Text 104"/>
          <p:cNvSpPr/>
          <p:nvPr/>
        </p:nvSpPr>
        <p:spPr>
          <a:xfrm>
            <a:off x="594360" y="5806440"/>
            <a:ext cx="10972800" cy="411480"/>
          </a:xfrm>
          <a:prstGeom prst="rect">
            <a:avLst/>
          </a:prstGeom>
          <a:solidFill>
            <a:srgbClr val="EAF3F8"/>
          </a:solidFill>
          <a:ln>
            <a:solidFill>
              <a:srgbClr val="EAF3F8"/>
            </a:solidFill>
          </a:ln>
        </p:spPr>
        <p:txBody>
          <a:bodyPr wrap="square" lIns="1397" tIns="1397" rIns="1397" bIns="1397"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Reading: darker cells indicate larger record concentration within a category for that assignee. The counts are primary-category counts.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Top assignees category portfolios</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Stacked graph compares category mix for the top assignees.</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graphicFrame>
        <p:nvGraphicFramePr>
          <p:cNvPr id="6" name="Chart 0" descr=""/>
          <p:cNvGraphicFramePr/>
          <p:nvPr/>
        </p:nvGraphicFramePr>
        <p:xfrm>
          <a:off x="594360" y="1097280"/>
          <a:ext cx="10835640" cy="5257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Publishing year with company graph</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Publication-year trend by assignee; 2026 is partial in the source data.</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graphicFrame>
        <p:nvGraphicFramePr>
          <p:cNvPr id="6" name="Chart 0" descr=""/>
          <p:cNvGraphicFramePr/>
          <p:nvPr/>
        </p:nvGraphicFramePr>
        <p:xfrm>
          <a:off x="594360" y="1097280"/>
          <a:ext cx="7955280" cy="52578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915400" y="1417320"/>
            <a:ext cx="2377440" cy="384048"/>
          </a:xfrm>
          <a:prstGeom prst="rect">
            <a:avLst/>
          </a:prstGeom>
          <a:noFill/>
          <a:ln/>
        </p:spPr>
        <p:txBody>
          <a:bodyPr wrap="square" lIns="0" tIns="0" rIns="0" bIns="0" rtlCol="0" anchor="ctr">
            <a:normAutofit/>
          </a:bodyPr>
          <a:lstStyle/>
          <a:p>
            <a:pPr indent="0" marL="0">
              <a:buNone/>
            </a:pPr>
            <a:r>
              <a:rPr lang="en-US" sz="2500" b="1" dirty="0">
                <a:solidFill>
                  <a:srgbClr val="2F5597"/>
                </a:solidFill>
                <a:latin typeface="Aptos Display" pitchFamily="34" charset="0"/>
                <a:ea typeface="Aptos Display" pitchFamily="34" charset="-122"/>
                <a:cs typeface="Aptos Display" pitchFamily="34" charset="-120"/>
              </a:rPr>
              <a:t>264</a:t>
            </a:r>
            <a:endParaRPr lang="en-US" sz="2500" dirty="0"/>
          </a:p>
        </p:txBody>
      </p:sp>
      <p:sp>
        <p:nvSpPr>
          <p:cNvPr id="8" name="Text 5"/>
          <p:cNvSpPr/>
          <p:nvPr/>
        </p:nvSpPr>
        <p:spPr>
          <a:xfrm>
            <a:off x="8915400" y="1837944"/>
            <a:ext cx="2377440" cy="210312"/>
          </a:xfrm>
          <a:prstGeom prst="rect">
            <a:avLst/>
          </a:prstGeom>
          <a:noFill/>
          <a:ln/>
        </p:spPr>
        <p:txBody>
          <a:bodyPr wrap="square" lIns="0" tIns="0" rIns="0" bIns="0" rtlCol="0" anchor="ctr">
            <a:normAutofit/>
          </a:bodyPr>
          <a:lstStyle/>
          <a:p>
            <a:pPr indent="0" marL="0">
              <a:buNone/>
            </a:pPr>
            <a:r>
              <a:rPr lang="en-US" sz="1000" b="1" dirty="0">
                <a:solidFill>
                  <a:srgbClr val="1F2937"/>
                </a:solidFill>
                <a:latin typeface="Aptos" pitchFamily="34" charset="0"/>
                <a:ea typeface="Aptos" pitchFamily="34" charset="-122"/>
                <a:cs typeface="Aptos" pitchFamily="34" charset="-120"/>
              </a:rPr>
              <a:t>2025</a:t>
            </a:r>
            <a:endParaRPr lang="en-US" sz="1000" dirty="0"/>
          </a:p>
        </p:txBody>
      </p:sp>
      <p:sp>
        <p:nvSpPr>
          <p:cNvPr id="9" name="Text 6"/>
          <p:cNvSpPr/>
          <p:nvPr/>
        </p:nvSpPr>
        <p:spPr>
          <a:xfrm>
            <a:off x="8915400" y="2075688"/>
            <a:ext cx="2377440" cy="402336"/>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Largest publication year in this dataset.</a:t>
            </a:r>
            <a:endParaRPr lang="en-US" sz="850" dirty="0"/>
          </a:p>
        </p:txBody>
      </p:sp>
      <p:sp>
        <p:nvSpPr>
          <p:cNvPr id="10" name="Text 7"/>
          <p:cNvSpPr/>
          <p:nvPr/>
        </p:nvSpPr>
        <p:spPr>
          <a:xfrm>
            <a:off x="8915400" y="2834640"/>
            <a:ext cx="2377440" cy="384048"/>
          </a:xfrm>
          <a:prstGeom prst="rect">
            <a:avLst/>
          </a:prstGeom>
          <a:noFill/>
          <a:ln/>
        </p:spPr>
        <p:txBody>
          <a:bodyPr wrap="square" lIns="0" tIns="0" rIns="0" bIns="0" rtlCol="0" anchor="ctr">
            <a:normAutofit/>
          </a:bodyPr>
          <a:lstStyle/>
          <a:p>
            <a:pPr indent="0" marL="0">
              <a:buNone/>
            </a:pPr>
            <a:r>
              <a:rPr lang="en-US" sz="2500" b="1" dirty="0">
                <a:solidFill>
                  <a:srgbClr val="F59E0B"/>
                </a:solidFill>
                <a:latin typeface="Aptos Display" pitchFamily="34" charset="0"/>
                <a:ea typeface="Aptos Display" pitchFamily="34" charset="-122"/>
                <a:cs typeface="Aptos Display" pitchFamily="34" charset="-120"/>
              </a:rPr>
              <a:t>211</a:t>
            </a:r>
            <a:endParaRPr lang="en-US" sz="2500" dirty="0"/>
          </a:p>
        </p:txBody>
      </p:sp>
      <p:sp>
        <p:nvSpPr>
          <p:cNvPr id="11" name="Text 8"/>
          <p:cNvSpPr/>
          <p:nvPr/>
        </p:nvSpPr>
        <p:spPr>
          <a:xfrm>
            <a:off x="8915400" y="3255264"/>
            <a:ext cx="2377440" cy="210312"/>
          </a:xfrm>
          <a:prstGeom prst="rect">
            <a:avLst/>
          </a:prstGeom>
          <a:noFill/>
          <a:ln/>
        </p:spPr>
        <p:txBody>
          <a:bodyPr wrap="square" lIns="0" tIns="0" rIns="0" bIns="0" rtlCol="0" anchor="ctr">
            <a:normAutofit/>
          </a:bodyPr>
          <a:lstStyle/>
          <a:p>
            <a:pPr indent="0" marL="0">
              <a:buNone/>
            </a:pPr>
            <a:r>
              <a:rPr lang="en-US" sz="1000" b="1" dirty="0">
                <a:solidFill>
                  <a:srgbClr val="1F2937"/>
                </a:solidFill>
                <a:latin typeface="Aptos" pitchFamily="34" charset="0"/>
                <a:ea typeface="Aptos" pitchFamily="34" charset="-122"/>
                <a:cs typeface="Aptos" pitchFamily="34" charset="-120"/>
              </a:rPr>
              <a:t>2026 partial</a:t>
            </a:r>
            <a:endParaRPr lang="en-US" sz="1000" dirty="0"/>
          </a:p>
        </p:txBody>
      </p:sp>
      <p:sp>
        <p:nvSpPr>
          <p:cNvPr id="12" name="Text 9"/>
          <p:cNvSpPr/>
          <p:nvPr/>
        </p:nvSpPr>
        <p:spPr>
          <a:xfrm>
            <a:off x="8915400" y="3493008"/>
            <a:ext cx="2377440" cy="402336"/>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Through 2026-06-18.</a:t>
            </a:r>
            <a:endParaRPr lang="en-US" sz="850" dirty="0"/>
          </a:p>
        </p:txBody>
      </p:sp>
      <p:sp>
        <p:nvSpPr>
          <p:cNvPr id="13" name="Text 10"/>
          <p:cNvSpPr/>
          <p:nvPr/>
        </p:nvSpPr>
        <p:spPr>
          <a:xfrm>
            <a:off x="8732520" y="4663440"/>
            <a:ext cx="2697480" cy="621792"/>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940" dirty="0">
                <a:solidFill>
                  <a:srgbClr val="1F2937"/>
                </a:solidFill>
                <a:latin typeface="Aptos" pitchFamily="34" charset="0"/>
                <a:ea typeface="Aptos" pitchFamily="34" charset="-122"/>
                <a:cs typeface="Aptos" pitchFamily="34" charset="-120"/>
              </a:rPr>
              <a:t>Do not extrapolate 2026 as a full-year filing or publication trend without refreshing the dataset.</a:t>
            </a:r>
            <a:endParaRPr lang="en-US" sz="9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Filing year with category trend graph</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Filing-year trend uses Application Date; recent years can be lagged because applications publish later.</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graphicFrame>
        <p:nvGraphicFramePr>
          <p:cNvPr id="6" name="Chart 0" descr=""/>
          <p:cNvGraphicFramePr/>
          <p:nvPr/>
        </p:nvGraphicFramePr>
        <p:xfrm>
          <a:off x="594360" y="1097280"/>
          <a:ext cx="8275320" cy="52578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9144000" y="1353312"/>
            <a:ext cx="2331720" cy="384048"/>
          </a:xfrm>
          <a:prstGeom prst="rect">
            <a:avLst/>
          </a:prstGeom>
          <a:noFill/>
          <a:ln/>
        </p:spPr>
        <p:txBody>
          <a:bodyPr wrap="square" lIns="0" tIns="0" rIns="0" bIns="0" rtlCol="0" anchor="ctr">
            <a:normAutofit/>
          </a:bodyPr>
          <a:lstStyle/>
          <a:p>
            <a:pPr indent="0" marL="0">
              <a:buNone/>
            </a:pPr>
            <a:r>
              <a:rPr lang="en-US" sz="2500" b="1" dirty="0">
                <a:solidFill>
                  <a:srgbClr val="00A6A6"/>
                </a:solidFill>
                <a:latin typeface="Aptos Display" pitchFamily="34" charset="0"/>
                <a:ea typeface="Aptos Display" pitchFamily="34" charset="-122"/>
                <a:cs typeface="Aptos Display" pitchFamily="34" charset="-120"/>
              </a:rPr>
              <a:t>2024</a:t>
            </a:r>
            <a:endParaRPr lang="en-US" sz="2500" dirty="0"/>
          </a:p>
        </p:txBody>
      </p:sp>
      <p:sp>
        <p:nvSpPr>
          <p:cNvPr id="8" name="Text 5"/>
          <p:cNvSpPr/>
          <p:nvPr/>
        </p:nvSpPr>
        <p:spPr>
          <a:xfrm>
            <a:off x="9144000" y="1773936"/>
            <a:ext cx="2331720" cy="210312"/>
          </a:xfrm>
          <a:prstGeom prst="rect">
            <a:avLst/>
          </a:prstGeom>
          <a:noFill/>
          <a:ln/>
        </p:spPr>
        <p:txBody>
          <a:bodyPr wrap="square" lIns="0" tIns="0" rIns="0" bIns="0" rtlCol="0" anchor="ctr">
            <a:normAutofit/>
          </a:bodyPr>
          <a:lstStyle/>
          <a:p>
            <a:pPr indent="0" marL="0">
              <a:buNone/>
            </a:pPr>
            <a:r>
              <a:rPr lang="en-US" sz="1000" b="1" dirty="0">
                <a:solidFill>
                  <a:srgbClr val="1F2937"/>
                </a:solidFill>
                <a:latin typeface="Aptos" pitchFamily="34" charset="0"/>
                <a:ea typeface="Aptos" pitchFamily="34" charset="-122"/>
                <a:cs typeface="Aptos" pitchFamily="34" charset="-120"/>
              </a:rPr>
              <a:t>Peak filing year</a:t>
            </a:r>
            <a:endParaRPr lang="en-US" sz="1000" dirty="0"/>
          </a:p>
        </p:txBody>
      </p:sp>
      <p:sp>
        <p:nvSpPr>
          <p:cNvPr id="9" name="Text 6"/>
          <p:cNvSpPr/>
          <p:nvPr/>
        </p:nvSpPr>
        <p:spPr>
          <a:xfrm>
            <a:off x="9144000" y="2011680"/>
            <a:ext cx="2331720" cy="402336"/>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213 records by Application Date.</a:t>
            </a:r>
            <a:endParaRPr lang="en-US" sz="850" dirty="0"/>
          </a:p>
        </p:txBody>
      </p:sp>
      <p:sp>
        <p:nvSpPr>
          <p:cNvPr id="10" name="Text 7"/>
          <p:cNvSpPr/>
          <p:nvPr/>
        </p:nvSpPr>
        <p:spPr>
          <a:xfrm>
            <a:off x="9144000" y="2743200"/>
            <a:ext cx="2331720" cy="384048"/>
          </a:xfrm>
          <a:prstGeom prst="rect">
            <a:avLst/>
          </a:prstGeom>
          <a:noFill/>
          <a:ln/>
        </p:spPr>
        <p:txBody>
          <a:bodyPr wrap="square" lIns="0" tIns="0" rIns="0" bIns="0" rtlCol="0" anchor="ctr">
            <a:normAutofit/>
          </a:bodyPr>
          <a:lstStyle/>
          <a:p>
            <a:pPr indent="0" marL="0">
              <a:buNone/>
            </a:pPr>
            <a:r>
              <a:rPr lang="en-US" sz="2500" b="1" dirty="0">
                <a:solidFill>
                  <a:srgbClr val="C026D3"/>
                </a:solidFill>
                <a:latin typeface="Aptos Display" pitchFamily="34" charset="0"/>
                <a:ea typeface="Aptos Display" pitchFamily="34" charset="-122"/>
                <a:cs typeface="Aptos Display" pitchFamily="34" charset="-120"/>
              </a:rPr>
              <a:t>43</a:t>
            </a:r>
            <a:endParaRPr lang="en-US" sz="2500" dirty="0"/>
          </a:p>
        </p:txBody>
      </p:sp>
      <p:sp>
        <p:nvSpPr>
          <p:cNvPr id="11" name="Text 8"/>
          <p:cNvSpPr/>
          <p:nvPr/>
        </p:nvSpPr>
        <p:spPr>
          <a:xfrm>
            <a:off x="9144000" y="3163824"/>
            <a:ext cx="2331720" cy="210312"/>
          </a:xfrm>
          <a:prstGeom prst="rect">
            <a:avLst/>
          </a:prstGeom>
          <a:noFill/>
          <a:ln/>
        </p:spPr>
        <p:txBody>
          <a:bodyPr wrap="square" lIns="0" tIns="0" rIns="0" bIns="0" rtlCol="0" anchor="ctr">
            <a:normAutofit/>
          </a:bodyPr>
          <a:lstStyle/>
          <a:p>
            <a:pPr indent="0" marL="0">
              <a:buNone/>
            </a:pPr>
            <a:r>
              <a:rPr lang="en-US" sz="1000" b="1" dirty="0">
                <a:solidFill>
                  <a:srgbClr val="1F2937"/>
                </a:solidFill>
                <a:latin typeface="Aptos" pitchFamily="34" charset="0"/>
                <a:ea typeface="Aptos" pitchFamily="34" charset="-122"/>
                <a:cs typeface="Aptos" pitchFamily="34" charset="-120"/>
              </a:rPr>
              <a:t>AI Model Security in 2024</a:t>
            </a:r>
            <a:endParaRPr lang="en-US" sz="1000" dirty="0"/>
          </a:p>
        </p:txBody>
      </p:sp>
      <p:sp>
        <p:nvSpPr>
          <p:cNvPr id="12" name="Text 9"/>
          <p:cNvSpPr/>
          <p:nvPr/>
        </p:nvSpPr>
        <p:spPr>
          <a:xfrm>
            <a:off x="9144000" y="3401568"/>
            <a:ext cx="2331720" cy="402336"/>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Category records filed in 2024.</a:t>
            </a:r>
            <a:endParaRPr lang="en-US" sz="850" dirty="0"/>
          </a:p>
        </p:txBody>
      </p:sp>
      <p:sp>
        <p:nvSpPr>
          <p:cNvPr id="13" name="Text 10"/>
          <p:cNvSpPr/>
          <p:nvPr/>
        </p:nvSpPr>
        <p:spPr>
          <a:xfrm>
            <a:off x="9006840" y="4709160"/>
            <a:ext cx="2697480" cy="685800"/>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900" dirty="0">
                <a:solidFill>
                  <a:srgbClr val="1F2937"/>
                </a:solidFill>
                <a:latin typeface="Aptos" pitchFamily="34" charset="0"/>
                <a:ea typeface="Aptos" pitchFamily="34" charset="-122"/>
                <a:cs typeface="Aptos" pitchFamily="34" charset="-120"/>
              </a:rPr>
              <a:t>2025 and 2026 filing counts are partial/lagged; use them only as source-table counts, not as market growth proof.</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Forward citation leaders</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Ranked by Citing Patent Count from the workbook; cited count is shown as a secondary signal.</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graphicFrame>
        <p:nvGraphicFramePr>
          <p:cNvPr id="6" name="Chart 0" descr=""/>
          <p:cNvGraphicFramePr/>
          <p:nvPr/>
        </p:nvGraphicFramePr>
        <p:xfrm>
          <a:off x="594360" y="1097280"/>
          <a:ext cx="4846320" cy="52578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650992" y="1143000"/>
            <a:ext cx="292608" cy="310896"/>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t>
            </a:r>
            <a:endParaRPr lang="en-US" sz="880" dirty="0"/>
          </a:p>
        </p:txBody>
      </p:sp>
      <p:sp>
        <p:nvSpPr>
          <p:cNvPr id="8" name="Text 5"/>
          <p:cNvSpPr/>
          <p:nvPr/>
        </p:nvSpPr>
        <p:spPr>
          <a:xfrm>
            <a:off x="5943600" y="1143000"/>
            <a:ext cx="1078992" cy="310896"/>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Publication</a:t>
            </a:r>
            <a:endParaRPr lang="en-US" sz="880" dirty="0"/>
          </a:p>
        </p:txBody>
      </p:sp>
      <p:sp>
        <p:nvSpPr>
          <p:cNvPr id="9" name="Text 6"/>
          <p:cNvSpPr/>
          <p:nvPr/>
        </p:nvSpPr>
        <p:spPr>
          <a:xfrm>
            <a:off x="7022592" y="1143000"/>
            <a:ext cx="1024128" cy="310896"/>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Assignee</a:t>
            </a:r>
            <a:endParaRPr lang="en-US" sz="880" dirty="0"/>
          </a:p>
        </p:txBody>
      </p:sp>
      <p:sp>
        <p:nvSpPr>
          <p:cNvPr id="10" name="Text 7"/>
          <p:cNvSpPr/>
          <p:nvPr/>
        </p:nvSpPr>
        <p:spPr>
          <a:xfrm>
            <a:off x="8046720" y="1143000"/>
            <a:ext cx="1024128" cy="310896"/>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Category</a:t>
            </a:r>
            <a:endParaRPr lang="en-US" sz="880" dirty="0"/>
          </a:p>
        </p:txBody>
      </p:sp>
      <p:sp>
        <p:nvSpPr>
          <p:cNvPr id="11" name="Text 8"/>
          <p:cNvSpPr/>
          <p:nvPr/>
        </p:nvSpPr>
        <p:spPr>
          <a:xfrm>
            <a:off x="9070848" y="1143000"/>
            <a:ext cx="502920" cy="310896"/>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Citing</a:t>
            </a:r>
            <a:endParaRPr lang="en-US" sz="880" dirty="0"/>
          </a:p>
        </p:txBody>
      </p:sp>
      <p:sp>
        <p:nvSpPr>
          <p:cNvPr id="12" name="Text 9"/>
          <p:cNvSpPr/>
          <p:nvPr/>
        </p:nvSpPr>
        <p:spPr>
          <a:xfrm>
            <a:off x="9573768" y="1143000"/>
            <a:ext cx="2203704" cy="310896"/>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Title</a:t>
            </a:r>
            <a:endParaRPr lang="en-US" sz="880" dirty="0"/>
          </a:p>
        </p:txBody>
      </p:sp>
      <p:sp>
        <p:nvSpPr>
          <p:cNvPr id="13" name="Text 10"/>
          <p:cNvSpPr/>
          <p:nvPr/>
        </p:nvSpPr>
        <p:spPr>
          <a:xfrm>
            <a:off x="5650992" y="1453896"/>
            <a:ext cx="292608"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1</a:t>
            </a:r>
            <a:endParaRPr lang="en-US" sz="880" dirty="0"/>
          </a:p>
        </p:txBody>
      </p:sp>
      <p:sp>
        <p:nvSpPr>
          <p:cNvPr id="14" name="Text 11"/>
          <p:cNvSpPr/>
          <p:nvPr/>
        </p:nvSpPr>
        <p:spPr>
          <a:xfrm>
            <a:off x="5943600" y="1453896"/>
            <a:ext cx="1078992"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US11647034</a:t>
            </a:r>
            <a:endParaRPr lang="en-US" sz="880" dirty="0"/>
          </a:p>
        </p:txBody>
      </p:sp>
      <p:sp>
        <p:nvSpPr>
          <p:cNvPr id="15" name="Text 12"/>
          <p:cNvSpPr/>
          <p:nvPr/>
        </p:nvSpPr>
        <p:spPr>
          <a:xfrm>
            <a:off x="7022592" y="1453896"/>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Microsoft</a:t>
            </a:r>
            <a:endParaRPr lang="en-US" sz="800" dirty="0"/>
          </a:p>
        </p:txBody>
      </p:sp>
      <p:sp>
        <p:nvSpPr>
          <p:cNvPr id="16" name="Text 13"/>
          <p:cNvSpPr/>
          <p:nvPr/>
        </p:nvSpPr>
        <p:spPr>
          <a:xfrm>
            <a:off x="8046720" y="1453896"/>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Threat Detection and Response</a:t>
            </a:r>
            <a:endParaRPr lang="en-US" sz="800" dirty="0"/>
          </a:p>
        </p:txBody>
      </p:sp>
      <p:sp>
        <p:nvSpPr>
          <p:cNvPr id="17" name="Text 14"/>
          <p:cNvSpPr/>
          <p:nvPr/>
        </p:nvSpPr>
        <p:spPr>
          <a:xfrm>
            <a:off x="9070848" y="1453896"/>
            <a:ext cx="502920"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109</a:t>
            </a:r>
            <a:endParaRPr lang="en-US" sz="880" dirty="0"/>
          </a:p>
        </p:txBody>
      </p:sp>
      <p:sp>
        <p:nvSpPr>
          <p:cNvPr id="18" name="Text 15"/>
          <p:cNvSpPr/>
          <p:nvPr/>
        </p:nvSpPr>
        <p:spPr>
          <a:xfrm>
            <a:off x="9573768" y="1453896"/>
            <a:ext cx="2203704"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780" dirty="0">
                <a:solidFill>
                  <a:srgbClr val="1F2937"/>
                </a:solidFill>
                <a:latin typeface="Aptos" pitchFamily="34" charset="0"/>
                <a:ea typeface="Aptos" pitchFamily="34" charset="-122"/>
                <a:cs typeface="Aptos" pitchFamily="34" charset="-120"/>
              </a:rPr>
              <a:t>Service access data enrichment for cybersecurity</a:t>
            </a:r>
            <a:endParaRPr lang="en-US" sz="780" dirty="0"/>
          </a:p>
        </p:txBody>
      </p:sp>
      <p:sp>
        <p:nvSpPr>
          <p:cNvPr id="19" name="Text 16"/>
          <p:cNvSpPr/>
          <p:nvPr/>
        </p:nvSpPr>
        <p:spPr>
          <a:xfrm>
            <a:off x="5650992" y="1993392"/>
            <a:ext cx="292608"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2</a:t>
            </a:r>
            <a:endParaRPr lang="en-US" sz="880" dirty="0"/>
          </a:p>
        </p:txBody>
      </p:sp>
      <p:sp>
        <p:nvSpPr>
          <p:cNvPr id="20" name="Text 17"/>
          <p:cNvSpPr/>
          <p:nvPr/>
        </p:nvSpPr>
        <p:spPr>
          <a:xfrm>
            <a:off x="5943600" y="1993392"/>
            <a:ext cx="1078992"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US11783062</a:t>
            </a:r>
            <a:endParaRPr lang="en-US" sz="880" dirty="0"/>
          </a:p>
        </p:txBody>
      </p:sp>
      <p:sp>
        <p:nvSpPr>
          <p:cNvPr id="21" name="Text 18"/>
          <p:cNvSpPr/>
          <p:nvPr/>
        </p:nvSpPr>
        <p:spPr>
          <a:xfrm>
            <a:off x="7022592" y="1993392"/>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Microsoft</a:t>
            </a:r>
            <a:endParaRPr lang="en-US" sz="800" dirty="0"/>
          </a:p>
        </p:txBody>
      </p:sp>
      <p:sp>
        <p:nvSpPr>
          <p:cNvPr id="22" name="Text 19"/>
          <p:cNvSpPr/>
          <p:nvPr/>
        </p:nvSpPr>
        <p:spPr>
          <a:xfrm>
            <a:off x="8046720" y="1993392"/>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Data and Privacy Protection</a:t>
            </a:r>
            <a:endParaRPr lang="en-US" sz="800" dirty="0"/>
          </a:p>
        </p:txBody>
      </p:sp>
      <p:sp>
        <p:nvSpPr>
          <p:cNvPr id="23" name="Text 20"/>
          <p:cNvSpPr/>
          <p:nvPr/>
        </p:nvSpPr>
        <p:spPr>
          <a:xfrm>
            <a:off x="9070848" y="1993392"/>
            <a:ext cx="502920"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70</a:t>
            </a:r>
            <a:endParaRPr lang="en-US" sz="880" dirty="0"/>
          </a:p>
        </p:txBody>
      </p:sp>
      <p:sp>
        <p:nvSpPr>
          <p:cNvPr id="24" name="Text 21"/>
          <p:cNvSpPr/>
          <p:nvPr/>
        </p:nvSpPr>
        <p:spPr>
          <a:xfrm>
            <a:off x="9573768" y="1993392"/>
            <a:ext cx="2203704"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780" dirty="0">
                <a:solidFill>
                  <a:srgbClr val="1F2937"/>
                </a:solidFill>
                <a:latin typeface="Aptos" pitchFamily="34" charset="0"/>
                <a:ea typeface="Aptos" pitchFamily="34" charset="-122"/>
                <a:cs typeface="Aptos" pitchFamily="34" charset="-120"/>
              </a:rPr>
              <a:t>Risk-based access to computing environment secrets</a:t>
            </a:r>
            <a:endParaRPr lang="en-US" sz="780" dirty="0"/>
          </a:p>
        </p:txBody>
      </p:sp>
      <p:sp>
        <p:nvSpPr>
          <p:cNvPr id="25" name="Text 22"/>
          <p:cNvSpPr/>
          <p:nvPr/>
        </p:nvSpPr>
        <p:spPr>
          <a:xfrm>
            <a:off x="5650992" y="2532888"/>
            <a:ext cx="292608"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3</a:t>
            </a:r>
            <a:endParaRPr lang="en-US" sz="880" dirty="0"/>
          </a:p>
        </p:txBody>
      </p:sp>
      <p:sp>
        <p:nvSpPr>
          <p:cNvPr id="26" name="Text 23"/>
          <p:cNvSpPr/>
          <p:nvPr/>
        </p:nvSpPr>
        <p:spPr>
          <a:xfrm>
            <a:off x="5943600" y="2532888"/>
            <a:ext cx="1078992"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US20230259632</a:t>
            </a:r>
            <a:endParaRPr lang="en-US" sz="880" dirty="0"/>
          </a:p>
        </p:txBody>
      </p:sp>
      <p:sp>
        <p:nvSpPr>
          <p:cNvPr id="27" name="Text 24"/>
          <p:cNvSpPr/>
          <p:nvPr/>
        </p:nvSpPr>
        <p:spPr>
          <a:xfrm>
            <a:off x="7022592" y="2532888"/>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Microsoft</a:t>
            </a:r>
            <a:endParaRPr lang="en-US" sz="800" dirty="0"/>
          </a:p>
        </p:txBody>
      </p:sp>
      <p:sp>
        <p:nvSpPr>
          <p:cNvPr id="28" name="Text 25"/>
          <p:cNvSpPr/>
          <p:nvPr/>
        </p:nvSpPr>
        <p:spPr>
          <a:xfrm>
            <a:off x="8046720" y="2532888"/>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Threat Detection and Response</a:t>
            </a:r>
            <a:endParaRPr lang="en-US" sz="800" dirty="0"/>
          </a:p>
        </p:txBody>
      </p:sp>
      <p:sp>
        <p:nvSpPr>
          <p:cNvPr id="29" name="Text 26"/>
          <p:cNvSpPr/>
          <p:nvPr/>
        </p:nvSpPr>
        <p:spPr>
          <a:xfrm>
            <a:off x="9070848" y="2532888"/>
            <a:ext cx="502920"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38</a:t>
            </a:r>
            <a:endParaRPr lang="en-US" sz="880" dirty="0"/>
          </a:p>
        </p:txBody>
      </p:sp>
      <p:sp>
        <p:nvSpPr>
          <p:cNvPr id="30" name="Text 27"/>
          <p:cNvSpPr/>
          <p:nvPr/>
        </p:nvSpPr>
        <p:spPr>
          <a:xfrm>
            <a:off x="9573768" y="2532888"/>
            <a:ext cx="2203704"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780" dirty="0">
                <a:solidFill>
                  <a:srgbClr val="1F2937"/>
                </a:solidFill>
                <a:latin typeface="Aptos" pitchFamily="34" charset="0"/>
                <a:ea typeface="Aptos" pitchFamily="34" charset="-122"/>
                <a:cs typeface="Aptos" pitchFamily="34" charset="-120"/>
              </a:rPr>
              <a:t>Response activity-based security coverage management</a:t>
            </a:r>
            <a:endParaRPr lang="en-US" sz="780" dirty="0"/>
          </a:p>
        </p:txBody>
      </p:sp>
      <p:sp>
        <p:nvSpPr>
          <p:cNvPr id="31" name="Text 28"/>
          <p:cNvSpPr/>
          <p:nvPr/>
        </p:nvSpPr>
        <p:spPr>
          <a:xfrm>
            <a:off x="5650992" y="3072384"/>
            <a:ext cx="292608"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4</a:t>
            </a:r>
            <a:endParaRPr lang="en-US" sz="880" dirty="0"/>
          </a:p>
        </p:txBody>
      </p:sp>
      <p:sp>
        <p:nvSpPr>
          <p:cNvPr id="32" name="Text 29"/>
          <p:cNvSpPr/>
          <p:nvPr/>
        </p:nvSpPr>
        <p:spPr>
          <a:xfrm>
            <a:off x="5943600" y="3072384"/>
            <a:ext cx="1078992"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US20230370452</a:t>
            </a:r>
            <a:endParaRPr lang="en-US" sz="880" dirty="0"/>
          </a:p>
        </p:txBody>
      </p:sp>
      <p:sp>
        <p:nvSpPr>
          <p:cNvPr id="33" name="Text 30"/>
          <p:cNvSpPr/>
          <p:nvPr/>
        </p:nvSpPr>
        <p:spPr>
          <a:xfrm>
            <a:off x="7022592" y="3072384"/>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Microsoft</a:t>
            </a:r>
            <a:endParaRPr lang="en-US" sz="800" dirty="0"/>
          </a:p>
        </p:txBody>
      </p:sp>
      <p:sp>
        <p:nvSpPr>
          <p:cNvPr id="34" name="Text 31"/>
          <p:cNvSpPr/>
          <p:nvPr/>
        </p:nvSpPr>
        <p:spPr>
          <a:xfrm>
            <a:off x="8046720" y="3072384"/>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Network and Cloud Security</a:t>
            </a:r>
            <a:endParaRPr lang="en-US" sz="800" dirty="0"/>
          </a:p>
        </p:txBody>
      </p:sp>
      <p:sp>
        <p:nvSpPr>
          <p:cNvPr id="35" name="Text 32"/>
          <p:cNvSpPr/>
          <p:nvPr/>
        </p:nvSpPr>
        <p:spPr>
          <a:xfrm>
            <a:off x="9070848" y="3072384"/>
            <a:ext cx="502920"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36</a:t>
            </a:r>
            <a:endParaRPr lang="en-US" sz="880" dirty="0"/>
          </a:p>
        </p:txBody>
      </p:sp>
      <p:sp>
        <p:nvSpPr>
          <p:cNvPr id="36" name="Text 33"/>
          <p:cNvSpPr/>
          <p:nvPr/>
        </p:nvSpPr>
        <p:spPr>
          <a:xfrm>
            <a:off x="9573768" y="3072384"/>
            <a:ext cx="2203704"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780" dirty="0">
                <a:solidFill>
                  <a:srgbClr val="1F2937"/>
                </a:solidFill>
                <a:latin typeface="Aptos" pitchFamily="34" charset="0"/>
                <a:ea typeface="Aptos" pitchFamily="34" charset="-122"/>
                <a:cs typeface="Aptos" pitchFamily="34" charset="-120"/>
              </a:rPr>
              <a:t>Networked device security posture management</a:t>
            </a:r>
            <a:endParaRPr lang="en-US" sz="780" dirty="0"/>
          </a:p>
        </p:txBody>
      </p:sp>
      <p:sp>
        <p:nvSpPr>
          <p:cNvPr id="37" name="Text 34"/>
          <p:cNvSpPr/>
          <p:nvPr/>
        </p:nvSpPr>
        <p:spPr>
          <a:xfrm>
            <a:off x="5650992" y="3611880"/>
            <a:ext cx="292608"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5</a:t>
            </a:r>
            <a:endParaRPr lang="en-US" sz="880" dirty="0"/>
          </a:p>
        </p:txBody>
      </p:sp>
      <p:sp>
        <p:nvSpPr>
          <p:cNvPr id="38" name="Text 35"/>
          <p:cNvSpPr/>
          <p:nvPr/>
        </p:nvSpPr>
        <p:spPr>
          <a:xfrm>
            <a:off x="5943600" y="3611880"/>
            <a:ext cx="1078992"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US11888870</a:t>
            </a:r>
            <a:endParaRPr lang="en-US" sz="880" dirty="0"/>
          </a:p>
        </p:txBody>
      </p:sp>
      <p:sp>
        <p:nvSpPr>
          <p:cNvPr id="39" name="Text 36"/>
          <p:cNvSpPr/>
          <p:nvPr/>
        </p:nvSpPr>
        <p:spPr>
          <a:xfrm>
            <a:off x="7022592" y="3611880"/>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Microsoft</a:t>
            </a:r>
            <a:endParaRPr lang="en-US" sz="800" dirty="0"/>
          </a:p>
        </p:txBody>
      </p:sp>
      <p:sp>
        <p:nvSpPr>
          <p:cNvPr id="40" name="Text 37"/>
          <p:cNvSpPr/>
          <p:nvPr/>
        </p:nvSpPr>
        <p:spPr>
          <a:xfrm>
            <a:off x="8046720" y="3611880"/>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Threat Detection and Response</a:t>
            </a:r>
            <a:endParaRPr lang="en-US" sz="800" dirty="0"/>
          </a:p>
        </p:txBody>
      </p:sp>
      <p:sp>
        <p:nvSpPr>
          <p:cNvPr id="41" name="Text 38"/>
          <p:cNvSpPr/>
          <p:nvPr/>
        </p:nvSpPr>
        <p:spPr>
          <a:xfrm>
            <a:off x="9070848" y="3611880"/>
            <a:ext cx="502920"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31</a:t>
            </a:r>
            <a:endParaRPr lang="en-US" sz="880" dirty="0"/>
          </a:p>
        </p:txBody>
      </p:sp>
      <p:sp>
        <p:nvSpPr>
          <p:cNvPr id="42" name="Text 39"/>
          <p:cNvSpPr/>
          <p:nvPr/>
        </p:nvSpPr>
        <p:spPr>
          <a:xfrm>
            <a:off x="9573768" y="3611880"/>
            <a:ext cx="2203704"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780" dirty="0">
                <a:solidFill>
                  <a:srgbClr val="1F2937"/>
                </a:solidFill>
                <a:latin typeface="Aptos" pitchFamily="34" charset="0"/>
                <a:ea typeface="Aptos" pitchFamily="34" charset="-122"/>
                <a:cs typeface="Aptos" pitchFamily="34" charset="-120"/>
              </a:rPr>
              <a:t>Multitenant sharing anomaly cyberattack campaign detection</a:t>
            </a:r>
            <a:endParaRPr lang="en-US" sz="780" dirty="0"/>
          </a:p>
        </p:txBody>
      </p:sp>
      <p:sp>
        <p:nvSpPr>
          <p:cNvPr id="43" name="Text 40"/>
          <p:cNvSpPr/>
          <p:nvPr/>
        </p:nvSpPr>
        <p:spPr>
          <a:xfrm>
            <a:off x="5650992" y="4151376"/>
            <a:ext cx="292608"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6</a:t>
            </a:r>
            <a:endParaRPr lang="en-US" sz="880" dirty="0"/>
          </a:p>
        </p:txBody>
      </p:sp>
      <p:sp>
        <p:nvSpPr>
          <p:cNvPr id="44" name="Text 41"/>
          <p:cNvSpPr/>
          <p:nvPr/>
        </p:nvSpPr>
        <p:spPr>
          <a:xfrm>
            <a:off x="5943600" y="4151376"/>
            <a:ext cx="1078992"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US11620379</a:t>
            </a:r>
            <a:endParaRPr lang="en-US" sz="880" dirty="0"/>
          </a:p>
        </p:txBody>
      </p:sp>
      <p:sp>
        <p:nvSpPr>
          <p:cNvPr id="45" name="Text 42"/>
          <p:cNvSpPr/>
          <p:nvPr/>
        </p:nvSpPr>
        <p:spPr>
          <a:xfrm>
            <a:off x="7022592" y="4151376"/>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Google</a:t>
            </a:r>
            <a:endParaRPr lang="en-US" sz="800" dirty="0"/>
          </a:p>
        </p:txBody>
      </p:sp>
      <p:sp>
        <p:nvSpPr>
          <p:cNvPr id="46" name="Text 43"/>
          <p:cNvSpPr/>
          <p:nvPr/>
        </p:nvSpPr>
        <p:spPr>
          <a:xfrm>
            <a:off x="8046720" y="4151376"/>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Security Automation and Testing</a:t>
            </a:r>
            <a:endParaRPr lang="en-US" sz="800" dirty="0"/>
          </a:p>
        </p:txBody>
      </p:sp>
      <p:sp>
        <p:nvSpPr>
          <p:cNvPr id="47" name="Text 44"/>
          <p:cNvSpPr/>
          <p:nvPr/>
        </p:nvSpPr>
        <p:spPr>
          <a:xfrm>
            <a:off x="9070848" y="4151376"/>
            <a:ext cx="502920"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28</a:t>
            </a:r>
            <a:endParaRPr lang="en-US" sz="880" dirty="0"/>
          </a:p>
        </p:txBody>
      </p:sp>
      <p:sp>
        <p:nvSpPr>
          <p:cNvPr id="48" name="Text 45"/>
          <p:cNvSpPr/>
          <p:nvPr/>
        </p:nvSpPr>
        <p:spPr>
          <a:xfrm>
            <a:off x="9573768" y="4151376"/>
            <a:ext cx="2203704"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780" dirty="0">
                <a:solidFill>
                  <a:srgbClr val="1F2937"/>
                </a:solidFill>
                <a:latin typeface="Aptos" pitchFamily="34" charset="0"/>
                <a:ea typeface="Aptos" pitchFamily="34" charset="-122"/>
                <a:cs typeface="Aptos" pitchFamily="34" charset="-120"/>
              </a:rPr>
              <a:t>Methods and apparatus for detecting and preventing obfuscated...</a:t>
            </a:r>
            <a:endParaRPr lang="en-US" sz="780" dirty="0"/>
          </a:p>
        </p:txBody>
      </p:sp>
      <p:sp>
        <p:nvSpPr>
          <p:cNvPr id="49" name="Text 46"/>
          <p:cNvSpPr/>
          <p:nvPr/>
        </p:nvSpPr>
        <p:spPr>
          <a:xfrm>
            <a:off x="5650992" y="4690872"/>
            <a:ext cx="292608"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7</a:t>
            </a:r>
            <a:endParaRPr lang="en-US" sz="880" dirty="0"/>
          </a:p>
        </p:txBody>
      </p:sp>
      <p:sp>
        <p:nvSpPr>
          <p:cNvPr id="50" name="Text 47"/>
          <p:cNvSpPr/>
          <p:nvPr/>
        </p:nvSpPr>
        <p:spPr>
          <a:xfrm>
            <a:off x="5943600" y="4690872"/>
            <a:ext cx="1078992"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US11907368</a:t>
            </a:r>
            <a:endParaRPr lang="en-US" sz="880" dirty="0"/>
          </a:p>
        </p:txBody>
      </p:sp>
      <p:sp>
        <p:nvSpPr>
          <p:cNvPr id="51" name="Text 48"/>
          <p:cNvSpPr/>
          <p:nvPr/>
        </p:nvSpPr>
        <p:spPr>
          <a:xfrm>
            <a:off x="7022592" y="4690872"/>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Trend Micro</a:t>
            </a:r>
            <a:endParaRPr lang="en-US" sz="800" dirty="0"/>
          </a:p>
        </p:txBody>
      </p:sp>
      <p:sp>
        <p:nvSpPr>
          <p:cNvPr id="52" name="Text 49"/>
          <p:cNvSpPr/>
          <p:nvPr/>
        </p:nvSpPr>
        <p:spPr>
          <a:xfrm>
            <a:off x="8046720" y="4690872"/>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Threat Detection and Response</a:t>
            </a:r>
            <a:endParaRPr lang="en-US" sz="800" dirty="0"/>
          </a:p>
        </p:txBody>
      </p:sp>
      <p:sp>
        <p:nvSpPr>
          <p:cNvPr id="53" name="Text 50"/>
          <p:cNvSpPr/>
          <p:nvPr/>
        </p:nvSpPr>
        <p:spPr>
          <a:xfrm>
            <a:off x="9070848" y="4690872"/>
            <a:ext cx="502920"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21</a:t>
            </a:r>
            <a:endParaRPr lang="en-US" sz="880" dirty="0"/>
          </a:p>
        </p:txBody>
      </p:sp>
      <p:sp>
        <p:nvSpPr>
          <p:cNvPr id="54" name="Text 51"/>
          <p:cNvSpPr/>
          <p:nvPr/>
        </p:nvSpPr>
        <p:spPr>
          <a:xfrm>
            <a:off x="9573768" y="4690872"/>
            <a:ext cx="2203704"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780" dirty="0">
                <a:solidFill>
                  <a:srgbClr val="1F2937"/>
                </a:solidFill>
                <a:latin typeface="Aptos" pitchFamily="34" charset="0"/>
                <a:ea typeface="Aptos" pitchFamily="34" charset="-122"/>
                <a:cs typeface="Aptos" pitchFamily="34" charset="-120"/>
              </a:rPr>
              <a:t>Graph-based anomaly detection for cybersecurity</a:t>
            </a:r>
            <a:endParaRPr lang="en-US" sz="780" dirty="0"/>
          </a:p>
        </p:txBody>
      </p:sp>
      <p:sp>
        <p:nvSpPr>
          <p:cNvPr id="55" name="Text 52"/>
          <p:cNvSpPr/>
          <p:nvPr/>
        </p:nvSpPr>
        <p:spPr>
          <a:xfrm>
            <a:off x="5650992" y="5230368"/>
            <a:ext cx="292608"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dirty="0">
                <a:solidFill>
                  <a:srgbClr val="1F2937"/>
                </a:solidFill>
                <a:latin typeface="Aptos" pitchFamily="34" charset="0"/>
                <a:ea typeface="Aptos" pitchFamily="34" charset="-122"/>
                <a:cs typeface="Aptos" pitchFamily="34" charset="-120"/>
              </a:rPr>
              <a:t>8</a:t>
            </a:r>
            <a:endParaRPr lang="en-US" sz="880" dirty="0"/>
          </a:p>
        </p:txBody>
      </p:sp>
      <p:sp>
        <p:nvSpPr>
          <p:cNvPr id="56" name="Text 53"/>
          <p:cNvSpPr/>
          <p:nvPr/>
        </p:nvSpPr>
        <p:spPr>
          <a:xfrm>
            <a:off x="5943600" y="5230368"/>
            <a:ext cx="1078992"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US12003541</a:t>
            </a:r>
            <a:endParaRPr lang="en-US" sz="880" dirty="0"/>
          </a:p>
        </p:txBody>
      </p:sp>
      <p:sp>
        <p:nvSpPr>
          <p:cNvPr id="57" name="Text 54"/>
          <p:cNvSpPr/>
          <p:nvPr/>
        </p:nvSpPr>
        <p:spPr>
          <a:xfrm>
            <a:off x="7022592" y="5230368"/>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Palo Alto Networks</a:t>
            </a:r>
            <a:endParaRPr lang="en-US" sz="800" dirty="0"/>
          </a:p>
        </p:txBody>
      </p:sp>
      <p:sp>
        <p:nvSpPr>
          <p:cNvPr id="58" name="Text 55"/>
          <p:cNvSpPr/>
          <p:nvPr/>
        </p:nvSpPr>
        <p:spPr>
          <a:xfrm>
            <a:off x="8046720" y="5230368"/>
            <a:ext cx="1024128"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00" dirty="0">
                <a:solidFill>
                  <a:srgbClr val="1F2937"/>
                </a:solidFill>
                <a:latin typeface="Aptos" pitchFamily="34" charset="0"/>
                <a:ea typeface="Aptos" pitchFamily="34" charset="-122"/>
                <a:cs typeface="Aptos" pitchFamily="34" charset="-120"/>
              </a:rPr>
              <a:t>Identity and Access Management</a:t>
            </a:r>
            <a:endParaRPr lang="en-US" sz="800" dirty="0"/>
          </a:p>
        </p:txBody>
      </p:sp>
      <p:sp>
        <p:nvSpPr>
          <p:cNvPr id="59" name="Text 56"/>
          <p:cNvSpPr/>
          <p:nvPr/>
        </p:nvSpPr>
        <p:spPr>
          <a:xfrm>
            <a:off x="9070848" y="5230368"/>
            <a:ext cx="502920" cy="539496"/>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18</a:t>
            </a:r>
            <a:endParaRPr lang="en-US" sz="880" dirty="0"/>
          </a:p>
        </p:txBody>
      </p:sp>
      <p:sp>
        <p:nvSpPr>
          <p:cNvPr id="60" name="Text 57"/>
          <p:cNvSpPr/>
          <p:nvPr/>
        </p:nvSpPr>
        <p:spPr>
          <a:xfrm>
            <a:off x="9573768" y="5230368"/>
            <a:ext cx="2203704" cy="53949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780" dirty="0">
                <a:solidFill>
                  <a:srgbClr val="1F2937"/>
                </a:solidFill>
                <a:latin typeface="Aptos" pitchFamily="34" charset="0"/>
                <a:ea typeface="Aptos" pitchFamily="34" charset="-122"/>
                <a:cs typeface="Aptos" pitchFamily="34" charset="-120"/>
              </a:rPr>
              <a:t>Identifying serverless functions with over-permissive roles</a:t>
            </a:r>
            <a:endParaRPr lang="en-US" sz="7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Important patents by category (1 of 4)</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Two patents per category, selected mechanically by forward citation count.</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594360" y="1143000"/>
            <a:ext cx="5120640" cy="201168"/>
          </a:xfrm>
          <a:prstGeom prst="rect">
            <a:avLst/>
          </a:prstGeom>
          <a:noFill/>
          <a:ln/>
        </p:spPr>
        <p:txBody>
          <a:bodyPr wrap="square" lIns="0" tIns="0" rIns="0" bIns="0" rtlCol="0" anchor="ctr">
            <a:normAutofit/>
          </a:bodyPr>
          <a:lstStyle/>
          <a:p>
            <a:pPr indent="0" marL="0">
              <a:buNone/>
            </a:pPr>
            <a:r>
              <a:rPr lang="en-US" sz="1050" b="1" dirty="0">
                <a:solidFill>
                  <a:srgbClr val="2F5597"/>
                </a:solidFill>
                <a:latin typeface="Aptos" pitchFamily="34" charset="0"/>
                <a:ea typeface="Aptos" pitchFamily="34" charset="-122"/>
                <a:cs typeface="Aptos" pitchFamily="34" charset="-120"/>
              </a:rPr>
              <a:t>Threat Detection and Response: 2 selected patents</a:t>
            </a:r>
            <a:endParaRPr lang="en-US" sz="1050" dirty="0"/>
          </a:p>
        </p:txBody>
      </p:sp>
      <p:sp>
        <p:nvSpPr>
          <p:cNvPr id="7" name="Shape 5"/>
          <p:cNvSpPr/>
          <p:nvPr/>
        </p:nvSpPr>
        <p:spPr>
          <a:xfrm>
            <a:off x="594360" y="1399032"/>
            <a:ext cx="5120640" cy="0"/>
          </a:xfrm>
          <a:prstGeom prst="line">
            <a:avLst/>
          </a:prstGeom>
          <a:noFill/>
          <a:ln w="12700">
            <a:solidFill>
              <a:srgbClr val="2F5597"/>
            </a:solidFill>
            <a:prstDash val="solid"/>
          </a:ln>
        </p:spPr>
      </p:sp>
      <p:sp>
        <p:nvSpPr>
          <p:cNvPr id="8" name="Text 6"/>
          <p:cNvSpPr/>
          <p:nvPr/>
        </p:nvSpPr>
        <p:spPr>
          <a:xfrm>
            <a:off x="594360" y="1600200"/>
            <a:ext cx="1078992"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Publication</a:t>
            </a:r>
            <a:endParaRPr lang="en-US" sz="880" dirty="0"/>
          </a:p>
        </p:txBody>
      </p:sp>
      <p:sp>
        <p:nvSpPr>
          <p:cNvPr id="9" name="Text 7"/>
          <p:cNvSpPr/>
          <p:nvPr/>
        </p:nvSpPr>
        <p:spPr>
          <a:xfrm>
            <a:off x="1673352" y="1600200"/>
            <a:ext cx="1143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Assignee</a:t>
            </a:r>
            <a:endParaRPr lang="en-US" sz="880" dirty="0"/>
          </a:p>
        </p:txBody>
      </p:sp>
      <p:sp>
        <p:nvSpPr>
          <p:cNvPr id="10" name="Text 8"/>
          <p:cNvSpPr/>
          <p:nvPr/>
        </p:nvSpPr>
        <p:spPr>
          <a:xfrm>
            <a:off x="2816352" y="1600200"/>
            <a:ext cx="749808"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Citing/Cited</a:t>
            </a:r>
            <a:endParaRPr lang="en-US" sz="880" dirty="0"/>
          </a:p>
        </p:txBody>
      </p:sp>
      <p:sp>
        <p:nvSpPr>
          <p:cNvPr id="11" name="Text 9"/>
          <p:cNvSpPr/>
          <p:nvPr/>
        </p:nvSpPr>
        <p:spPr>
          <a:xfrm>
            <a:off x="3566160" y="1600200"/>
            <a:ext cx="2286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Title</a:t>
            </a:r>
            <a:endParaRPr lang="en-US" sz="880" dirty="0"/>
          </a:p>
        </p:txBody>
      </p:sp>
      <p:sp>
        <p:nvSpPr>
          <p:cNvPr id="12" name="Text 10"/>
          <p:cNvSpPr/>
          <p:nvPr/>
        </p:nvSpPr>
        <p:spPr>
          <a:xfrm>
            <a:off x="594360" y="1947672"/>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US11647034</a:t>
            </a:r>
            <a:endParaRPr lang="en-US" sz="890" dirty="0"/>
          </a:p>
        </p:txBody>
      </p:sp>
      <p:sp>
        <p:nvSpPr>
          <p:cNvPr id="13" name="Text 11"/>
          <p:cNvSpPr/>
          <p:nvPr/>
        </p:nvSpPr>
        <p:spPr>
          <a:xfrm>
            <a:off x="1673352" y="1947672"/>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Microsoft</a:t>
            </a:r>
            <a:endParaRPr lang="en-US" sz="880" dirty="0"/>
          </a:p>
        </p:txBody>
      </p:sp>
      <p:sp>
        <p:nvSpPr>
          <p:cNvPr id="14" name="Text 12"/>
          <p:cNvSpPr/>
          <p:nvPr/>
        </p:nvSpPr>
        <p:spPr>
          <a:xfrm>
            <a:off x="2816352" y="1947672"/>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109/54</a:t>
            </a:r>
            <a:endParaRPr lang="en-US" sz="880" dirty="0"/>
          </a:p>
        </p:txBody>
      </p:sp>
      <p:sp>
        <p:nvSpPr>
          <p:cNvPr id="15" name="Text 13"/>
          <p:cNvSpPr/>
          <p:nvPr/>
        </p:nvSpPr>
        <p:spPr>
          <a:xfrm>
            <a:off x="3566160" y="1947672"/>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Service access data enrichment for cybersecurity</a:t>
            </a:r>
            <a:endParaRPr lang="en-US" sz="880" dirty="0"/>
          </a:p>
        </p:txBody>
      </p:sp>
      <p:sp>
        <p:nvSpPr>
          <p:cNvPr id="16" name="Text 14"/>
          <p:cNvSpPr/>
          <p:nvPr/>
        </p:nvSpPr>
        <p:spPr>
          <a:xfrm>
            <a:off x="594360" y="2697480"/>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US20230259632</a:t>
            </a:r>
            <a:endParaRPr lang="en-US" sz="890" dirty="0"/>
          </a:p>
        </p:txBody>
      </p:sp>
      <p:sp>
        <p:nvSpPr>
          <p:cNvPr id="17" name="Text 15"/>
          <p:cNvSpPr/>
          <p:nvPr/>
        </p:nvSpPr>
        <p:spPr>
          <a:xfrm>
            <a:off x="1673352" y="2697480"/>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Microsoft</a:t>
            </a:r>
            <a:endParaRPr lang="en-US" sz="880" dirty="0"/>
          </a:p>
        </p:txBody>
      </p:sp>
      <p:sp>
        <p:nvSpPr>
          <p:cNvPr id="18" name="Text 16"/>
          <p:cNvSpPr/>
          <p:nvPr/>
        </p:nvSpPr>
        <p:spPr>
          <a:xfrm>
            <a:off x="2816352" y="2697480"/>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38/20</a:t>
            </a:r>
            <a:endParaRPr lang="en-US" sz="880" dirty="0"/>
          </a:p>
        </p:txBody>
      </p:sp>
      <p:sp>
        <p:nvSpPr>
          <p:cNvPr id="19" name="Text 17"/>
          <p:cNvSpPr/>
          <p:nvPr/>
        </p:nvSpPr>
        <p:spPr>
          <a:xfrm>
            <a:off x="3566160" y="2697480"/>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Response activity-based security coverage management</a:t>
            </a:r>
            <a:endParaRPr lang="en-US" sz="880" dirty="0"/>
          </a:p>
        </p:txBody>
      </p:sp>
      <p:sp>
        <p:nvSpPr>
          <p:cNvPr id="20" name="Text 18"/>
          <p:cNvSpPr/>
          <p:nvPr/>
        </p:nvSpPr>
        <p:spPr>
          <a:xfrm>
            <a:off x="594360" y="4069080"/>
            <a:ext cx="5257800" cy="1005840"/>
          </a:xfrm>
          <a:prstGeom prst="rect">
            <a:avLst/>
          </a:prstGeom>
          <a:solidFill>
            <a:srgbClr val="EAF3F8"/>
          </a:solidFill>
          <a:ln>
            <a:solidFill>
              <a:srgbClr val="EAF3F8"/>
            </a:solidFill>
          </a:ln>
        </p:spPr>
        <p:txBody>
          <a:bodyPr wrap="square" lIns="1397" tIns="1397" rIns="1397" bIns="1397" rtlCol="0" anchor="ctr">
            <a:normAutofit/>
          </a:bodyPr>
          <a:lstStyle/>
          <a:p>
            <a:pPr indent="0" marL="0">
              <a:buNone/>
            </a:pPr>
            <a:r>
              <a:rPr lang="en-US" sz="930" dirty="0">
                <a:solidFill>
                  <a:srgbClr val="1F2937"/>
                </a:solidFill>
                <a:latin typeface="Aptos" pitchFamily="34" charset="0"/>
                <a:ea typeface="Aptos" pitchFamily="34" charset="-122"/>
                <a:cs typeface="Aptos" pitchFamily="34" charset="-120"/>
              </a:rPr>
              <a:t>Model-based detection, alert scoring, incident triage, threat hunting and response decision support.</a:t>
            </a:r>
            <a:endParaRPr lang="en-US" sz="930" dirty="0"/>
          </a:p>
        </p:txBody>
      </p:sp>
      <p:sp>
        <p:nvSpPr>
          <p:cNvPr id="21" name="Text 19"/>
          <p:cNvSpPr/>
          <p:nvPr/>
        </p:nvSpPr>
        <p:spPr>
          <a:xfrm>
            <a:off x="6263640" y="1143000"/>
            <a:ext cx="5120640" cy="201168"/>
          </a:xfrm>
          <a:prstGeom prst="rect">
            <a:avLst/>
          </a:prstGeom>
          <a:noFill/>
          <a:ln/>
        </p:spPr>
        <p:txBody>
          <a:bodyPr wrap="square" lIns="0" tIns="0" rIns="0" bIns="0" rtlCol="0" anchor="ctr">
            <a:normAutofit/>
          </a:bodyPr>
          <a:lstStyle/>
          <a:p>
            <a:pPr indent="0" marL="0">
              <a:buNone/>
            </a:pPr>
            <a:r>
              <a:rPr lang="en-US" sz="1050" b="1" dirty="0">
                <a:solidFill>
                  <a:srgbClr val="00A6A6"/>
                </a:solidFill>
                <a:latin typeface="Aptos" pitchFamily="34" charset="0"/>
                <a:ea typeface="Aptos" pitchFamily="34" charset="-122"/>
                <a:cs typeface="Aptos" pitchFamily="34" charset="-120"/>
              </a:rPr>
              <a:t>Network and Cloud Security: 2 selected patents</a:t>
            </a:r>
            <a:endParaRPr lang="en-US" sz="1050" dirty="0"/>
          </a:p>
        </p:txBody>
      </p:sp>
      <p:sp>
        <p:nvSpPr>
          <p:cNvPr id="22" name="Shape 20"/>
          <p:cNvSpPr/>
          <p:nvPr/>
        </p:nvSpPr>
        <p:spPr>
          <a:xfrm>
            <a:off x="6263640" y="1399032"/>
            <a:ext cx="5120640" cy="0"/>
          </a:xfrm>
          <a:prstGeom prst="line">
            <a:avLst/>
          </a:prstGeom>
          <a:noFill/>
          <a:ln w="12700">
            <a:solidFill>
              <a:srgbClr val="00A6A6"/>
            </a:solidFill>
            <a:prstDash val="solid"/>
          </a:ln>
        </p:spPr>
      </p:sp>
      <p:sp>
        <p:nvSpPr>
          <p:cNvPr id="23" name="Text 21"/>
          <p:cNvSpPr/>
          <p:nvPr/>
        </p:nvSpPr>
        <p:spPr>
          <a:xfrm>
            <a:off x="6263640" y="1600200"/>
            <a:ext cx="1078992"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Publication</a:t>
            </a:r>
            <a:endParaRPr lang="en-US" sz="880" dirty="0"/>
          </a:p>
        </p:txBody>
      </p:sp>
      <p:sp>
        <p:nvSpPr>
          <p:cNvPr id="24" name="Text 22"/>
          <p:cNvSpPr/>
          <p:nvPr/>
        </p:nvSpPr>
        <p:spPr>
          <a:xfrm>
            <a:off x="7342632" y="1600200"/>
            <a:ext cx="1143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Assignee</a:t>
            </a:r>
            <a:endParaRPr lang="en-US" sz="880" dirty="0"/>
          </a:p>
        </p:txBody>
      </p:sp>
      <p:sp>
        <p:nvSpPr>
          <p:cNvPr id="25" name="Text 23"/>
          <p:cNvSpPr/>
          <p:nvPr/>
        </p:nvSpPr>
        <p:spPr>
          <a:xfrm>
            <a:off x="8485632" y="1600200"/>
            <a:ext cx="749808"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Citing/Cited</a:t>
            </a:r>
            <a:endParaRPr lang="en-US" sz="880" dirty="0"/>
          </a:p>
        </p:txBody>
      </p:sp>
      <p:sp>
        <p:nvSpPr>
          <p:cNvPr id="26" name="Text 24"/>
          <p:cNvSpPr/>
          <p:nvPr/>
        </p:nvSpPr>
        <p:spPr>
          <a:xfrm>
            <a:off x="9235440" y="1600200"/>
            <a:ext cx="2286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Title</a:t>
            </a:r>
            <a:endParaRPr lang="en-US" sz="880" dirty="0"/>
          </a:p>
        </p:txBody>
      </p:sp>
      <p:sp>
        <p:nvSpPr>
          <p:cNvPr id="27" name="Text 25"/>
          <p:cNvSpPr/>
          <p:nvPr/>
        </p:nvSpPr>
        <p:spPr>
          <a:xfrm>
            <a:off x="6263640" y="1947672"/>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US20230370452</a:t>
            </a:r>
            <a:endParaRPr lang="en-US" sz="890" dirty="0"/>
          </a:p>
        </p:txBody>
      </p:sp>
      <p:sp>
        <p:nvSpPr>
          <p:cNvPr id="28" name="Text 26"/>
          <p:cNvSpPr/>
          <p:nvPr/>
        </p:nvSpPr>
        <p:spPr>
          <a:xfrm>
            <a:off x="7342632" y="1947672"/>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Microsoft</a:t>
            </a:r>
            <a:endParaRPr lang="en-US" sz="880" dirty="0"/>
          </a:p>
        </p:txBody>
      </p:sp>
      <p:sp>
        <p:nvSpPr>
          <p:cNvPr id="29" name="Text 27"/>
          <p:cNvSpPr/>
          <p:nvPr/>
        </p:nvSpPr>
        <p:spPr>
          <a:xfrm>
            <a:off x="8485632" y="1947672"/>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36/20</a:t>
            </a:r>
            <a:endParaRPr lang="en-US" sz="880" dirty="0"/>
          </a:p>
        </p:txBody>
      </p:sp>
      <p:sp>
        <p:nvSpPr>
          <p:cNvPr id="30" name="Text 28"/>
          <p:cNvSpPr/>
          <p:nvPr/>
        </p:nvSpPr>
        <p:spPr>
          <a:xfrm>
            <a:off x="9235440" y="1947672"/>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Networked device security posture management</a:t>
            </a:r>
            <a:endParaRPr lang="en-US" sz="880" dirty="0"/>
          </a:p>
        </p:txBody>
      </p:sp>
      <p:sp>
        <p:nvSpPr>
          <p:cNvPr id="31" name="Text 29"/>
          <p:cNvSpPr/>
          <p:nvPr/>
        </p:nvSpPr>
        <p:spPr>
          <a:xfrm>
            <a:off x="6263640" y="2697480"/>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US20250317739</a:t>
            </a:r>
            <a:endParaRPr lang="en-US" sz="890" dirty="0"/>
          </a:p>
        </p:txBody>
      </p:sp>
      <p:sp>
        <p:nvSpPr>
          <p:cNvPr id="32" name="Text 30"/>
          <p:cNvSpPr/>
          <p:nvPr/>
        </p:nvSpPr>
        <p:spPr>
          <a:xfrm>
            <a:off x="7342632" y="2697480"/>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Cisco</a:t>
            </a:r>
            <a:endParaRPr lang="en-US" sz="880" dirty="0"/>
          </a:p>
        </p:txBody>
      </p:sp>
      <p:sp>
        <p:nvSpPr>
          <p:cNvPr id="33" name="Text 31"/>
          <p:cNvSpPr/>
          <p:nvPr/>
        </p:nvSpPr>
        <p:spPr>
          <a:xfrm>
            <a:off x="8485632" y="2697480"/>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9/0</a:t>
            </a:r>
            <a:endParaRPr lang="en-US" sz="880" dirty="0"/>
          </a:p>
        </p:txBody>
      </p:sp>
      <p:sp>
        <p:nvSpPr>
          <p:cNvPr id="34" name="Text 32"/>
          <p:cNvSpPr/>
          <p:nvPr/>
        </p:nvSpPr>
        <p:spPr>
          <a:xfrm>
            <a:off x="9235440" y="2697480"/>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Deep learning-based wireless intrusion detection</a:t>
            </a:r>
            <a:endParaRPr lang="en-US" sz="880" dirty="0"/>
          </a:p>
        </p:txBody>
      </p:sp>
      <p:sp>
        <p:nvSpPr>
          <p:cNvPr id="35" name="Text 33"/>
          <p:cNvSpPr/>
          <p:nvPr/>
        </p:nvSpPr>
        <p:spPr>
          <a:xfrm>
            <a:off x="6263640" y="4069080"/>
            <a:ext cx="5257800" cy="1005840"/>
          </a:xfrm>
          <a:prstGeom prst="rect">
            <a:avLst/>
          </a:prstGeom>
          <a:solidFill>
            <a:srgbClr val="E7F8F8"/>
          </a:solidFill>
          <a:ln>
            <a:solidFill>
              <a:srgbClr val="E7F8F8"/>
            </a:solidFill>
          </a:ln>
        </p:spPr>
        <p:txBody>
          <a:bodyPr wrap="square" lIns="1397" tIns="1397" rIns="1397" bIns="1397" rtlCol="0" anchor="ctr">
            <a:normAutofit/>
          </a:bodyPr>
          <a:lstStyle/>
          <a:p>
            <a:pPr indent="0" marL="0">
              <a:buNone/>
            </a:pPr>
            <a:r>
              <a:rPr lang="en-US" sz="930" dirty="0">
                <a:solidFill>
                  <a:srgbClr val="1F2937"/>
                </a:solidFill>
                <a:latin typeface="Aptos" pitchFamily="34" charset="0"/>
                <a:ea typeface="Aptos" pitchFamily="34" charset="-122"/>
                <a:cs typeface="Aptos" pitchFamily="34" charset="-120"/>
              </a:rPr>
              <a:t>Protection of network traffic, cloud workloads, endpoints, IoT/edge devices, segmentation and infrastructure telemetry.</a:t>
            </a:r>
            <a:endParaRPr lang="en-US" sz="930" dirty="0"/>
          </a:p>
        </p:txBody>
      </p:sp>
      <p:sp>
        <p:nvSpPr>
          <p:cNvPr id="36" name="Text 34"/>
          <p:cNvSpPr/>
          <p:nvPr/>
        </p:nvSpPr>
        <p:spPr>
          <a:xfrm>
            <a:off x="777240" y="5806440"/>
            <a:ext cx="10652760" cy="411480"/>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880" dirty="0">
                <a:solidFill>
                  <a:srgbClr val="1F2937"/>
                </a:solidFill>
                <a:latin typeface="Aptos" pitchFamily="34" charset="0"/>
                <a:ea typeface="Aptos" pitchFamily="34" charset="-122"/>
                <a:cs typeface="Aptos" pitchFamily="34" charset="-120"/>
              </a:rPr>
              <a:t>Importance basis: top within category by forward citation count; cited count used only as a secondary signal. This is not a claim-validity opinion.</a:t>
            </a:r>
            <a:endParaRPr lang="en-US" sz="8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Important patents by category (2 of 4)</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Two patents per category, selected mechanically by forward citation count.</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594360" y="1143000"/>
            <a:ext cx="5120640" cy="201168"/>
          </a:xfrm>
          <a:prstGeom prst="rect">
            <a:avLst/>
          </a:prstGeom>
          <a:noFill/>
          <a:ln/>
        </p:spPr>
        <p:txBody>
          <a:bodyPr wrap="square" lIns="0" tIns="0" rIns="0" bIns="0" rtlCol="0" anchor="ctr">
            <a:normAutofit/>
          </a:bodyPr>
          <a:lstStyle/>
          <a:p>
            <a:pPr indent="0" marL="0">
              <a:buNone/>
            </a:pPr>
            <a:r>
              <a:rPr lang="en-US" sz="1050" b="1" dirty="0">
                <a:solidFill>
                  <a:srgbClr val="7B61FF"/>
                </a:solidFill>
                <a:latin typeface="Aptos" pitchFamily="34" charset="0"/>
                <a:ea typeface="Aptos" pitchFamily="34" charset="-122"/>
                <a:cs typeface="Aptos" pitchFamily="34" charset="-120"/>
              </a:rPr>
              <a:t>Identity and Access Management: 2 selected patents</a:t>
            </a:r>
            <a:endParaRPr lang="en-US" sz="1050" dirty="0"/>
          </a:p>
        </p:txBody>
      </p:sp>
      <p:sp>
        <p:nvSpPr>
          <p:cNvPr id="7" name="Shape 5"/>
          <p:cNvSpPr/>
          <p:nvPr/>
        </p:nvSpPr>
        <p:spPr>
          <a:xfrm>
            <a:off x="594360" y="1399032"/>
            <a:ext cx="5120640" cy="0"/>
          </a:xfrm>
          <a:prstGeom prst="line">
            <a:avLst/>
          </a:prstGeom>
          <a:noFill/>
          <a:ln w="12700">
            <a:solidFill>
              <a:srgbClr val="7B61FF"/>
            </a:solidFill>
            <a:prstDash val="solid"/>
          </a:ln>
        </p:spPr>
      </p:sp>
      <p:sp>
        <p:nvSpPr>
          <p:cNvPr id="8" name="Text 6"/>
          <p:cNvSpPr/>
          <p:nvPr/>
        </p:nvSpPr>
        <p:spPr>
          <a:xfrm>
            <a:off x="594360" y="1600200"/>
            <a:ext cx="1078992"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Publication</a:t>
            </a:r>
            <a:endParaRPr lang="en-US" sz="880" dirty="0"/>
          </a:p>
        </p:txBody>
      </p:sp>
      <p:sp>
        <p:nvSpPr>
          <p:cNvPr id="9" name="Text 7"/>
          <p:cNvSpPr/>
          <p:nvPr/>
        </p:nvSpPr>
        <p:spPr>
          <a:xfrm>
            <a:off x="1673352" y="1600200"/>
            <a:ext cx="1143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Assignee</a:t>
            </a:r>
            <a:endParaRPr lang="en-US" sz="880" dirty="0"/>
          </a:p>
        </p:txBody>
      </p:sp>
      <p:sp>
        <p:nvSpPr>
          <p:cNvPr id="10" name="Text 8"/>
          <p:cNvSpPr/>
          <p:nvPr/>
        </p:nvSpPr>
        <p:spPr>
          <a:xfrm>
            <a:off x="2816352" y="1600200"/>
            <a:ext cx="749808"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Citing/Cited</a:t>
            </a:r>
            <a:endParaRPr lang="en-US" sz="880" dirty="0"/>
          </a:p>
        </p:txBody>
      </p:sp>
      <p:sp>
        <p:nvSpPr>
          <p:cNvPr id="11" name="Text 9"/>
          <p:cNvSpPr/>
          <p:nvPr/>
        </p:nvSpPr>
        <p:spPr>
          <a:xfrm>
            <a:off x="3566160" y="1600200"/>
            <a:ext cx="2286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Title</a:t>
            </a:r>
            <a:endParaRPr lang="en-US" sz="880" dirty="0"/>
          </a:p>
        </p:txBody>
      </p:sp>
      <p:sp>
        <p:nvSpPr>
          <p:cNvPr id="12" name="Text 10"/>
          <p:cNvSpPr/>
          <p:nvPr/>
        </p:nvSpPr>
        <p:spPr>
          <a:xfrm>
            <a:off x="594360" y="1947672"/>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US12003541</a:t>
            </a:r>
            <a:endParaRPr lang="en-US" sz="890" dirty="0"/>
          </a:p>
        </p:txBody>
      </p:sp>
      <p:sp>
        <p:nvSpPr>
          <p:cNvPr id="13" name="Text 11"/>
          <p:cNvSpPr/>
          <p:nvPr/>
        </p:nvSpPr>
        <p:spPr>
          <a:xfrm>
            <a:off x="1673352" y="1947672"/>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Palo Alto Networks</a:t>
            </a:r>
            <a:endParaRPr lang="en-US" sz="880" dirty="0"/>
          </a:p>
        </p:txBody>
      </p:sp>
      <p:sp>
        <p:nvSpPr>
          <p:cNvPr id="14" name="Text 12"/>
          <p:cNvSpPr/>
          <p:nvPr/>
        </p:nvSpPr>
        <p:spPr>
          <a:xfrm>
            <a:off x="2816352" y="1947672"/>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18/9</a:t>
            </a:r>
            <a:endParaRPr lang="en-US" sz="880" dirty="0"/>
          </a:p>
        </p:txBody>
      </p:sp>
      <p:sp>
        <p:nvSpPr>
          <p:cNvPr id="15" name="Text 13"/>
          <p:cNvSpPr/>
          <p:nvPr/>
        </p:nvSpPr>
        <p:spPr>
          <a:xfrm>
            <a:off x="3566160" y="1947672"/>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Identifying serverless functions with over-permissive roles</a:t>
            </a:r>
            <a:endParaRPr lang="en-US" sz="880" dirty="0"/>
          </a:p>
        </p:txBody>
      </p:sp>
      <p:sp>
        <p:nvSpPr>
          <p:cNvPr id="16" name="Text 14"/>
          <p:cNvSpPr/>
          <p:nvPr/>
        </p:nvSpPr>
        <p:spPr>
          <a:xfrm>
            <a:off x="594360" y="2697480"/>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US20250080561</a:t>
            </a:r>
            <a:endParaRPr lang="en-US" sz="890" dirty="0"/>
          </a:p>
        </p:txBody>
      </p:sp>
      <p:sp>
        <p:nvSpPr>
          <p:cNvPr id="17" name="Text 15"/>
          <p:cNvSpPr/>
          <p:nvPr/>
        </p:nvSpPr>
        <p:spPr>
          <a:xfrm>
            <a:off x="1673352" y="2697480"/>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CyberArk</a:t>
            </a:r>
            <a:endParaRPr lang="en-US" sz="880" dirty="0"/>
          </a:p>
        </p:txBody>
      </p:sp>
      <p:sp>
        <p:nvSpPr>
          <p:cNvPr id="18" name="Text 16"/>
          <p:cNvSpPr/>
          <p:nvPr/>
        </p:nvSpPr>
        <p:spPr>
          <a:xfrm>
            <a:off x="2816352" y="2697480"/>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5/5</a:t>
            </a:r>
            <a:endParaRPr lang="en-US" sz="880" dirty="0"/>
          </a:p>
        </p:txBody>
      </p:sp>
      <p:sp>
        <p:nvSpPr>
          <p:cNvPr id="19" name="Text 17"/>
          <p:cNvSpPr/>
          <p:nvPr/>
        </p:nvSpPr>
        <p:spPr>
          <a:xfrm>
            <a:off x="3566160" y="2697480"/>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Monitoring and classification of activity requested during privileged sessions</a:t>
            </a:r>
            <a:endParaRPr lang="en-US" sz="880" dirty="0"/>
          </a:p>
        </p:txBody>
      </p:sp>
      <p:sp>
        <p:nvSpPr>
          <p:cNvPr id="20" name="Text 18"/>
          <p:cNvSpPr/>
          <p:nvPr/>
        </p:nvSpPr>
        <p:spPr>
          <a:xfrm>
            <a:off x="594360" y="4069080"/>
            <a:ext cx="5257800" cy="1005840"/>
          </a:xfrm>
          <a:prstGeom prst="rect">
            <a:avLst/>
          </a:prstGeom>
          <a:solidFill>
            <a:srgbClr val="EAF3F8"/>
          </a:solidFill>
          <a:ln>
            <a:solidFill>
              <a:srgbClr val="EAF3F8"/>
            </a:solidFill>
          </a:ln>
        </p:spPr>
        <p:txBody>
          <a:bodyPr wrap="square" lIns="1397" tIns="1397" rIns="1397" bIns="1397" rtlCol="0" anchor="ctr">
            <a:normAutofit/>
          </a:bodyPr>
          <a:lstStyle/>
          <a:p>
            <a:pPr indent="0" marL="0">
              <a:buNone/>
            </a:pPr>
            <a:r>
              <a:rPr lang="en-US" sz="930" dirty="0">
                <a:solidFill>
                  <a:srgbClr val="1F2937"/>
                </a:solidFill>
                <a:latin typeface="Aptos" pitchFamily="34" charset="0"/>
                <a:ea typeface="Aptos" pitchFamily="34" charset="-122"/>
                <a:cs typeface="Aptos" pitchFamily="34" charset="-120"/>
              </a:rPr>
              <a:t>Authentication, credentials, privileges, authorization, permissions, entitlement review and continuous access-risk controls.</a:t>
            </a:r>
            <a:endParaRPr lang="en-US" sz="930" dirty="0"/>
          </a:p>
        </p:txBody>
      </p:sp>
      <p:sp>
        <p:nvSpPr>
          <p:cNvPr id="21" name="Text 19"/>
          <p:cNvSpPr/>
          <p:nvPr/>
        </p:nvSpPr>
        <p:spPr>
          <a:xfrm>
            <a:off x="6263640" y="1143000"/>
            <a:ext cx="5120640" cy="201168"/>
          </a:xfrm>
          <a:prstGeom prst="rect">
            <a:avLst/>
          </a:prstGeom>
          <a:noFill/>
          <a:ln/>
        </p:spPr>
        <p:txBody>
          <a:bodyPr wrap="square" lIns="0" tIns="0" rIns="0" bIns="0" rtlCol="0" anchor="ctr">
            <a:normAutofit/>
          </a:bodyPr>
          <a:lstStyle/>
          <a:p>
            <a:pPr indent="0" marL="0">
              <a:buNone/>
            </a:pPr>
            <a:r>
              <a:rPr lang="en-US" sz="1050" b="1" dirty="0">
                <a:solidFill>
                  <a:srgbClr val="F59E0B"/>
                </a:solidFill>
                <a:latin typeface="Aptos" pitchFamily="34" charset="0"/>
                <a:ea typeface="Aptos" pitchFamily="34" charset="-122"/>
                <a:cs typeface="Aptos" pitchFamily="34" charset="-120"/>
              </a:rPr>
              <a:t>Vulnerability and Risk Management: 2 selected patents</a:t>
            </a:r>
            <a:endParaRPr lang="en-US" sz="1050" dirty="0"/>
          </a:p>
        </p:txBody>
      </p:sp>
      <p:sp>
        <p:nvSpPr>
          <p:cNvPr id="22" name="Shape 20"/>
          <p:cNvSpPr/>
          <p:nvPr/>
        </p:nvSpPr>
        <p:spPr>
          <a:xfrm>
            <a:off x="6263640" y="1399032"/>
            <a:ext cx="5120640" cy="0"/>
          </a:xfrm>
          <a:prstGeom prst="line">
            <a:avLst/>
          </a:prstGeom>
          <a:noFill/>
          <a:ln w="12700">
            <a:solidFill>
              <a:srgbClr val="F59E0B"/>
            </a:solidFill>
            <a:prstDash val="solid"/>
          </a:ln>
        </p:spPr>
      </p:sp>
      <p:sp>
        <p:nvSpPr>
          <p:cNvPr id="23" name="Text 21"/>
          <p:cNvSpPr/>
          <p:nvPr/>
        </p:nvSpPr>
        <p:spPr>
          <a:xfrm>
            <a:off x="6263640" y="1600200"/>
            <a:ext cx="1078992"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Publication</a:t>
            </a:r>
            <a:endParaRPr lang="en-US" sz="880" dirty="0"/>
          </a:p>
        </p:txBody>
      </p:sp>
      <p:sp>
        <p:nvSpPr>
          <p:cNvPr id="24" name="Text 22"/>
          <p:cNvSpPr/>
          <p:nvPr/>
        </p:nvSpPr>
        <p:spPr>
          <a:xfrm>
            <a:off x="7342632" y="1600200"/>
            <a:ext cx="1143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Assignee</a:t>
            </a:r>
            <a:endParaRPr lang="en-US" sz="880" dirty="0"/>
          </a:p>
        </p:txBody>
      </p:sp>
      <p:sp>
        <p:nvSpPr>
          <p:cNvPr id="25" name="Text 23"/>
          <p:cNvSpPr/>
          <p:nvPr/>
        </p:nvSpPr>
        <p:spPr>
          <a:xfrm>
            <a:off x="8485632" y="1600200"/>
            <a:ext cx="749808"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Citing/Cited</a:t>
            </a:r>
            <a:endParaRPr lang="en-US" sz="880" dirty="0"/>
          </a:p>
        </p:txBody>
      </p:sp>
      <p:sp>
        <p:nvSpPr>
          <p:cNvPr id="26" name="Text 24"/>
          <p:cNvSpPr/>
          <p:nvPr/>
        </p:nvSpPr>
        <p:spPr>
          <a:xfrm>
            <a:off x="9235440" y="1600200"/>
            <a:ext cx="2286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Title</a:t>
            </a:r>
            <a:endParaRPr lang="en-US" sz="880" dirty="0"/>
          </a:p>
        </p:txBody>
      </p:sp>
      <p:sp>
        <p:nvSpPr>
          <p:cNvPr id="27" name="Text 25"/>
          <p:cNvSpPr/>
          <p:nvPr/>
        </p:nvSpPr>
        <p:spPr>
          <a:xfrm>
            <a:off x="6263640" y="1947672"/>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US20240403437</a:t>
            </a:r>
            <a:endParaRPr lang="en-US" sz="890" dirty="0"/>
          </a:p>
        </p:txBody>
      </p:sp>
      <p:sp>
        <p:nvSpPr>
          <p:cNvPr id="28" name="Text 26"/>
          <p:cNvSpPr/>
          <p:nvPr/>
        </p:nvSpPr>
        <p:spPr>
          <a:xfrm>
            <a:off x="7342632" y="1947672"/>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Cisco</a:t>
            </a:r>
            <a:endParaRPr lang="en-US" sz="880" dirty="0"/>
          </a:p>
        </p:txBody>
      </p:sp>
      <p:sp>
        <p:nvSpPr>
          <p:cNvPr id="29" name="Text 27"/>
          <p:cNvSpPr/>
          <p:nvPr/>
        </p:nvSpPr>
        <p:spPr>
          <a:xfrm>
            <a:off x="8485632" y="1947672"/>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18/0</a:t>
            </a:r>
            <a:endParaRPr lang="en-US" sz="880" dirty="0"/>
          </a:p>
        </p:txBody>
      </p:sp>
      <p:sp>
        <p:nvSpPr>
          <p:cNvPr id="30" name="Text 28"/>
          <p:cNvSpPr/>
          <p:nvPr/>
        </p:nvSpPr>
        <p:spPr>
          <a:xfrm>
            <a:off x="9235440" y="1947672"/>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External api vulnerability assessments</a:t>
            </a:r>
            <a:endParaRPr lang="en-US" sz="880" dirty="0"/>
          </a:p>
        </p:txBody>
      </p:sp>
      <p:sp>
        <p:nvSpPr>
          <p:cNvPr id="31" name="Text 29"/>
          <p:cNvSpPr/>
          <p:nvPr/>
        </p:nvSpPr>
        <p:spPr>
          <a:xfrm>
            <a:off x="6263640" y="2697480"/>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US20250047701</a:t>
            </a:r>
            <a:endParaRPr lang="en-US" sz="890" dirty="0"/>
          </a:p>
        </p:txBody>
      </p:sp>
      <p:sp>
        <p:nvSpPr>
          <p:cNvPr id="32" name="Text 30"/>
          <p:cNvSpPr/>
          <p:nvPr/>
        </p:nvSpPr>
        <p:spPr>
          <a:xfrm>
            <a:off x="7342632" y="2697480"/>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Palo Alto Networks</a:t>
            </a:r>
            <a:endParaRPr lang="en-US" sz="880" dirty="0"/>
          </a:p>
        </p:txBody>
      </p:sp>
      <p:sp>
        <p:nvSpPr>
          <p:cNvPr id="33" name="Text 31"/>
          <p:cNvSpPr/>
          <p:nvPr/>
        </p:nvSpPr>
        <p:spPr>
          <a:xfrm>
            <a:off x="8485632" y="2697480"/>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10/44</a:t>
            </a:r>
            <a:endParaRPr lang="en-US" sz="880" dirty="0"/>
          </a:p>
        </p:txBody>
      </p:sp>
      <p:sp>
        <p:nvSpPr>
          <p:cNvPr id="34" name="Text 32"/>
          <p:cNvSpPr/>
          <p:nvPr/>
        </p:nvSpPr>
        <p:spPr>
          <a:xfrm>
            <a:off x="9235440" y="2697480"/>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Asset security and risk posture visualization</a:t>
            </a:r>
            <a:endParaRPr lang="en-US" sz="880" dirty="0"/>
          </a:p>
        </p:txBody>
      </p:sp>
      <p:sp>
        <p:nvSpPr>
          <p:cNvPr id="35" name="Text 33"/>
          <p:cNvSpPr/>
          <p:nvPr/>
        </p:nvSpPr>
        <p:spPr>
          <a:xfrm>
            <a:off x="6263640" y="4069080"/>
            <a:ext cx="5257800" cy="1005840"/>
          </a:xfrm>
          <a:prstGeom prst="rect">
            <a:avLst/>
          </a:prstGeom>
          <a:solidFill>
            <a:srgbClr val="E7F8F8"/>
          </a:solidFill>
          <a:ln>
            <a:solidFill>
              <a:srgbClr val="E7F8F8"/>
            </a:solidFill>
          </a:ln>
        </p:spPr>
        <p:txBody>
          <a:bodyPr wrap="square" lIns="1397" tIns="1397" rIns="1397" bIns="1397" rtlCol="0" anchor="ctr">
            <a:normAutofit/>
          </a:bodyPr>
          <a:lstStyle/>
          <a:p>
            <a:pPr indent="0" marL="0">
              <a:buNone/>
            </a:pPr>
            <a:r>
              <a:rPr lang="en-US" sz="930" dirty="0">
                <a:solidFill>
                  <a:srgbClr val="1F2937"/>
                </a:solidFill>
                <a:latin typeface="Aptos" pitchFamily="34" charset="0"/>
                <a:ea typeface="Aptos" pitchFamily="34" charset="-122"/>
                <a:cs typeface="Aptos" pitchFamily="34" charset="-120"/>
              </a:rPr>
              <a:t>Vulnerability assessment, exploitability, exposure, attack surface, cyber-risk scoring and remediation prioritization.</a:t>
            </a:r>
            <a:endParaRPr lang="en-US" sz="930" dirty="0"/>
          </a:p>
        </p:txBody>
      </p:sp>
      <p:sp>
        <p:nvSpPr>
          <p:cNvPr id="36" name="Text 34"/>
          <p:cNvSpPr/>
          <p:nvPr/>
        </p:nvSpPr>
        <p:spPr>
          <a:xfrm>
            <a:off x="777240" y="5806440"/>
            <a:ext cx="10652760" cy="411480"/>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880" dirty="0">
                <a:solidFill>
                  <a:srgbClr val="1F2937"/>
                </a:solidFill>
                <a:latin typeface="Aptos" pitchFamily="34" charset="0"/>
                <a:ea typeface="Aptos" pitchFamily="34" charset="-122"/>
                <a:cs typeface="Aptos" pitchFamily="34" charset="-120"/>
              </a:rPr>
              <a:t>Importance basis: top within category by forward citation count; cited count used only as a secondary signal. This is not a claim-validity opinion.</a:t>
            </a:r>
            <a:endParaRPr lang="en-US" sz="8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Important patents by category (3 of 4)</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Two patents per category, selected mechanically by forward citation count.</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594360" y="1143000"/>
            <a:ext cx="5120640" cy="201168"/>
          </a:xfrm>
          <a:prstGeom prst="rect">
            <a:avLst/>
          </a:prstGeom>
          <a:noFill/>
          <a:ln/>
        </p:spPr>
        <p:txBody>
          <a:bodyPr wrap="square" lIns="0" tIns="0" rIns="0" bIns="0" rtlCol="0" anchor="ctr">
            <a:normAutofit/>
          </a:bodyPr>
          <a:lstStyle/>
          <a:p>
            <a:pPr indent="0" marL="0">
              <a:buNone/>
            </a:pPr>
            <a:r>
              <a:rPr lang="en-US" sz="1050" b="1" dirty="0">
                <a:solidFill>
                  <a:srgbClr val="C026D3"/>
                </a:solidFill>
                <a:latin typeface="Aptos" pitchFamily="34" charset="0"/>
                <a:ea typeface="Aptos" pitchFamily="34" charset="-122"/>
                <a:cs typeface="Aptos" pitchFamily="34" charset="-120"/>
              </a:rPr>
              <a:t>AI Model Security: 2 selected patents</a:t>
            </a:r>
            <a:endParaRPr lang="en-US" sz="1050" dirty="0"/>
          </a:p>
        </p:txBody>
      </p:sp>
      <p:sp>
        <p:nvSpPr>
          <p:cNvPr id="7" name="Shape 5"/>
          <p:cNvSpPr/>
          <p:nvPr/>
        </p:nvSpPr>
        <p:spPr>
          <a:xfrm>
            <a:off x="594360" y="1399032"/>
            <a:ext cx="5120640" cy="0"/>
          </a:xfrm>
          <a:prstGeom prst="line">
            <a:avLst/>
          </a:prstGeom>
          <a:noFill/>
          <a:ln w="12700">
            <a:solidFill>
              <a:srgbClr val="C026D3"/>
            </a:solidFill>
            <a:prstDash val="solid"/>
          </a:ln>
        </p:spPr>
      </p:sp>
      <p:sp>
        <p:nvSpPr>
          <p:cNvPr id="8" name="Text 6"/>
          <p:cNvSpPr/>
          <p:nvPr/>
        </p:nvSpPr>
        <p:spPr>
          <a:xfrm>
            <a:off x="594360" y="1600200"/>
            <a:ext cx="1078992"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Publication</a:t>
            </a:r>
            <a:endParaRPr lang="en-US" sz="880" dirty="0"/>
          </a:p>
        </p:txBody>
      </p:sp>
      <p:sp>
        <p:nvSpPr>
          <p:cNvPr id="9" name="Text 7"/>
          <p:cNvSpPr/>
          <p:nvPr/>
        </p:nvSpPr>
        <p:spPr>
          <a:xfrm>
            <a:off x="1673352" y="1600200"/>
            <a:ext cx="1143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Assignee</a:t>
            </a:r>
            <a:endParaRPr lang="en-US" sz="880" dirty="0"/>
          </a:p>
        </p:txBody>
      </p:sp>
      <p:sp>
        <p:nvSpPr>
          <p:cNvPr id="10" name="Text 8"/>
          <p:cNvSpPr/>
          <p:nvPr/>
        </p:nvSpPr>
        <p:spPr>
          <a:xfrm>
            <a:off x="2816352" y="1600200"/>
            <a:ext cx="749808"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Citing/Cited</a:t>
            </a:r>
            <a:endParaRPr lang="en-US" sz="880" dirty="0"/>
          </a:p>
        </p:txBody>
      </p:sp>
      <p:sp>
        <p:nvSpPr>
          <p:cNvPr id="11" name="Text 9"/>
          <p:cNvSpPr/>
          <p:nvPr/>
        </p:nvSpPr>
        <p:spPr>
          <a:xfrm>
            <a:off x="3566160" y="1600200"/>
            <a:ext cx="2286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Title</a:t>
            </a:r>
            <a:endParaRPr lang="en-US" sz="880" dirty="0"/>
          </a:p>
        </p:txBody>
      </p:sp>
      <p:sp>
        <p:nvSpPr>
          <p:cNvPr id="12" name="Text 10"/>
          <p:cNvSpPr/>
          <p:nvPr/>
        </p:nvSpPr>
        <p:spPr>
          <a:xfrm>
            <a:off x="594360" y="1947672"/>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US20250181836</a:t>
            </a:r>
            <a:endParaRPr lang="en-US" sz="890" dirty="0"/>
          </a:p>
        </p:txBody>
      </p:sp>
      <p:sp>
        <p:nvSpPr>
          <p:cNvPr id="13" name="Text 11"/>
          <p:cNvSpPr/>
          <p:nvPr/>
        </p:nvSpPr>
        <p:spPr>
          <a:xfrm>
            <a:off x="1673352" y="1947672"/>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ROBUST INTELLIGENCE</a:t>
            </a:r>
            <a:endParaRPr lang="en-US" sz="880" dirty="0"/>
          </a:p>
        </p:txBody>
      </p:sp>
      <p:sp>
        <p:nvSpPr>
          <p:cNvPr id="14" name="Text 12"/>
          <p:cNvSpPr/>
          <p:nvPr/>
        </p:nvSpPr>
        <p:spPr>
          <a:xfrm>
            <a:off x="2816352" y="1947672"/>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8/7</a:t>
            </a:r>
            <a:endParaRPr lang="en-US" sz="880" dirty="0"/>
          </a:p>
        </p:txBody>
      </p:sp>
      <p:sp>
        <p:nvSpPr>
          <p:cNvPr id="15" name="Text 13"/>
          <p:cNvSpPr/>
          <p:nvPr/>
        </p:nvSpPr>
        <p:spPr>
          <a:xfrm>
            <a:off x="3566160" y="1947672"/>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Systems and methods for jailbreaking black-box large language models</a:t>
            </a:r>
            <a:endParaRPr lang="en-US" sz="880" dirty="0"/>
          </a:p>
        </p:txBody>
      </p:sp>
      <p:sp>
        <p:nvSpPr>
          <p:cNvPr id="16" name="Text 14"/>
          <p:cNvSpPr/>
          <p:nvPr/>
        </p:nvSpPr>
        <p:spPr>
          <a:xfrm>
            <a:off x="594360" y="2697480"/>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US20250335795</a:t>
            </a:r>
            <a:endParaRPr lang="en-US" sz="890" dirty="0"/>
          </a:p>
        </p:txBody>
      </p:sp>
      <p:sp>
        <p:nvSpPr>
          <p:cNvPr id="17" name="Text 15"/>
          <p:cNvSpPr/>
          <p:nvPr/>
        </p:nvSpPr>
        <p:spPr>
          <a:xfrm>
            <a:off x="1673352" y="2697480"/>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Palo Alto Networks</a:t>
            </a:r>
            <a:endParaRPr lang="en-US" sz="880" dirty="0"/>
          </a:p>
        </p:txBody>
      </p:sp>
      <p:sp>
        <p:nvSpPr>
          <p:cNvPr id="18" name="Text 16"/>
          <p:cNvSpPr/>
          <p:nvPr/>
        </p:nvSpPr>
        <p:spPr>
          <a:xfrm>
            <a:off x="2816352" y="2697480"/>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7/4</a:t>
            </a:r>
            <a:endParaRPr lang="en-US" sz="880" dirty="0"/>
          </a:p>
        </p:txBody>
      </p:sp>
      <p:sp>
        <p:nvSpPr>
          <p:cNvPr id="19" name="Text 17"/>
          <p:cNvSpPr/>
          <p:nvPr/>
        </p:nvSpPr>
        <p:spPr>
          <a:xfrm>
            <a:off x="3566160" y="2697480"/>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Unstructured data extraction with large language models for query resolution</a:t>
            </a:r>
            <a:endParaRPr lang="en-US" sz="880" dirty="0"/>
          </a:p>
        </p:txBody>
      </p:sp>
      <p:sp>
        <p:nvSpPr>
          <p:cNvPr id="20" name="Text 18"/>
          <p:cNvSpPr/>
          <p:nvPr/>
        </p:nvSpPr>
        <p:spPr>
          <a:xfrm>
            <a:off x="594360" y="4069080"/>
            <a:ext cx="5257800" cy="1005840"/>
          </a:xfrm>
          <a:prstGeom prst="rect">
            <a:avLst/>
          </a:prstGeom>
          <a:solidFill>
            <a:srgbClr val="EAF3F8"/>
          </a:solidFill>
          <a:ln>
            <a:solidFill>
              <a:srgbClr val="EAF3F8"/>
            </a:solidFill>
          </a:ln>
        </p:spPr>
        <p:txBody>
          <a:bodyPr wrap="square" lIns="1397" tIns="1397" rIns="1397" bIns="1397" rtlCol="0" anchor="ctr">
            <a:normAutofit/>
          </a:bodyPr>
          <a:lstStyle/>
          <a:p>
            <a:pPr indent="0" marL="0">
              <a:buNone/>
            </a:pPr>
            <a:r>
              <a:rPr lang="en-US" sz="930" dirty="0">
                <a:solidFill>
                  <a:srgbClr val="1F2937"/>
                </a:solidFill>
                <a:latin typeface="Aptos" pitchFamily="34" charset="0"/>
                <a:ea typeface="Aptos" pitchFamily="34" charset="-122"/>
                <a:cs typeface="Aptos" pitchFamily="34" charset="-120"/>
              </a:rPr>
              <a:t>Security of LLMs, generative AI systems and ML models, including prompt attacks, adversarial inputs and model-risk controls.</a:t>
            </a:r>
            <a:endParaRPr lang="en-US" sz="930" dirty="0"/>
          </a:p>
        </p:txBody>
      </p:sp>
      <p:sp>
        <p:nvSpPr>
          <p:cNvPr id="21" name="Text 19"/>
          <p:cNvSpPr/>
          <p:nvPr/>
        </p:nvSpPr>
        <p:spPr>
          <a:xfrm>
            <a:off x="6263640" y="1143000"/>
            <a:ext cx="5120640" cy="201168"/>
          </a:xfrm>
          <a:prstGeom prst="rect">
            <a:avLst/>
          </a:prstGeom>
          <a:noFill/>
          <a:ln/>
        </p:spPr>
        <p:txBody>
          <a:bodyPr wrap="square" lIns="0" tIns="0" rIns="0" bIns="0" rtlCol="0" anchor="ctr">
            <a:normAutofit/>
          </a:bodyPr>
          <a:lstStyle/>
          <a:p>
            <a:pPr indent="0" marL="0">
              <a:buNone/>
            </a:pPr>
            <a:r>
              <a:rPr lang="en-US" sz="1050" b="1" dirty="0">
                <a:solidFill>
                  <a:srgbClr val="EF4444"/>
                </a:solidFill>
                <a:latin typeface="Aptos" pitchFamily="34" charset="0"/>
                <a:ea typeface="Aptos" pitchFamily="34" charset="-122"/>
                <a:cs typeface="Aptos" pitchFamily="34" charset="-120"/>
              </a:rPr>
              <a:t>Malware and Phishing Defense: 2 selected patents</a:t>
            </a:r>
            <a:endParaRPr lang="en-US" sz="1050" dirty="0"/>
          </a:p>
        </p:txBody>
      </p:sp>
      <p:sp>
        <p:nvSpPr>
          <p:cNvPr id="22" name="Shape 20"/>
          <p:cNvSpPr/>
          <p:nvPr/>
        </p:nvSpPr>
        <p:spPr>
          <a:xfrm>
            <a:off x="6263640" y="1399032"/>
            <a:ext cx="5120640" cy="0"/>
          </a:xfrm>
          <a:prstGeom prst="line">
            <a:avLst/>
          </a:prstGeom>
          <a:noFill/>
          <a:ln w="12700">
            <a:solidFill>
              <a:srgbClr val="EF4444"/>
            </a:solidFill>
            <a:prstDash val="solid"/>
          </a:ln>
        </p:spPr>
      </p:sp>
      <p:sp>
        <p:nvSpPr>
          <p:cNvPr id="23" name="Text 21"/>
          <p:cNvSpPr/>
          <p:nvPr/>
        </p:nvSpPr>
        <p:spPr>
          <a:xfrm>
            <a:off x="6263640" y="1600200"/>
            <a:ext cx="1078992"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Publication</a:t>
            </a:r>
            <a:endParaRPr lang="en-US" sz="880" dirty="0"/>
          </a:p>
        </p:txBody>
      </p:sp>
      <p:sp>
        <p:nvSpPr>
          <p:cNvPr id="24" name="Text 22"/>
          <p:cNvSpPr/>
          <p:nvPr/>
        </p:nvSpPr>
        <p:spPr>
          <a:xfrm>
            <a:off x="7342632" y="1600200"/>
            <a:ext cx="1143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Assignee</a:t>
            </a:r>
            <a:endParaRPr lang="en-US" sz="880" dirty="0"/>
          </a:p>
        </p:txBody>
      </p:sp>
      <p:sp>
        <p:nvSpPr>
          <p:cNvPr id="25" name="Text 23"/>
          <p:cNvSpPr/>
          <p:nvPr/>
        </p:nvSpPr>
        <p:spPr>
          <a:xfrm>
            <a:off x="8485632" y="1600200"/>
            <a:ext cx="749808"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Citing/Cited</a:t>
            </a:r>
            <a:endParaRPr lang="en-US" sz="880" dirty="0"/>
          </a:p>
        </p:txBody>
      </p:sp>
      <p:sp>
        <p:nvSpPr>
          <p:cNvPr id="26" name="Text 24"/>
          <p:cNvSpPr/>
          <p:nvPr/>
        </p:nvSpPr>
        <p:spPr>
          <a:xfrm>
            <a:off x="9235440" y="1600200"/>
            <a:ext cx="2286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Title</a:t>
            </a:r>
            <a:endParaRPr lang="en-US" sz="880" dirty="0"/>
          </a:p>
        </p:txBody>
      </p:sp>
      <p:sp>
        <p:nvSpPr>
          <p:cNvPr id="27" name="Text 25"/>
          <p:cNvSpPr/>
          <p:nvPr/>
        </p:nvSpPr>
        <p:spPr>
          <a:xfrm>
            <a:off x="6263640" y="1947672"/>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US12003535</a:t>
            </a:r>
            <a:endParaRPr lang="en-US" sz="890" dirty="0"/>
          </a:p>
        </p:txBody>
      </p:sp>
      <p:sp>
        <p:nvSpPr>
          <p:cNvPr id="28" name="Text 26"/>
          <p:cNvSpPr/>
          <p:nvPr/>
        </p:nvSpPr>
        <p:spPr>
          <a:xfrm>
            <a:off x="7342632" y="1947672"/>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Microsoft</a:t>
            </a:r>
            <a:endParaRPr lang="en-US" sz="880" dirty="0"/>
          </a:p>
        </p:txBody>
      </p:sp>
      <p:sp>
        <p:nvSpPr>
          <p:cNvPr id="29" name="Text 27"/>
          <p:cNvSpPr/>
          <p:nvPr/>
        </p:nvSpPr>
        <p:spPr>
          <a:xfrm>
            <a:off x="8485632" y="1947672"/>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5/45</a:t>
            </a:r>
            <a:endParaRPr lang="en-US" sz="880" dirty="0"/>
          </a:p>
        </p:txBody>
      </p:sp>
      <p:sp>
        <p:nvSpPr>
          <p:cNvPr id="30" name="Text 28"/>
          <p:cNvSpPr/>
          <p:nvPr/>
        </p:nvSpPr>
        <p:spPr>
          <a:xfrm>
            <a:off x="9235440" y="1947672"/>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Phishing URL detection using transformers</a:t>
            </a:r>
            <a:endParaRPr lang="en-US" sz="880" dirty="0"/>
          </a:p>
        </p:txBody>
      </p:sp>
      <p:sp>
        <p:nvSpPr>
          <p:cNvPr id="31" name="Text 29"/>
          <p:cNvSpPr/>
          <p:nvPr/>
        </p:nvSpPr>
        <p:spPr>
          <a:xfrm>
            <a:off x="6263640" y="2697480"/>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US11687652</a:t>
            </a:r>
            <a:endParaRPr lang="en-US" sz="890" dirty="0"/>
          </a:p>
        </p:txBody>
      </p:sp>
      <p:sp>
        <p:nvSpPr>
          <p:cNvPr id="32" name="Text 30"/>
          <p:cNvSpPr/>
          <p:nvPr/>
        </p:nvSpPr>
        <p:spPr>
          <a:xfrm>
            <a:off x="7342632" y="2697480"/>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Trend Micro</a:t>
            </a:r>
            <a:endParaRPr lang="en-US" sz="880" dirty="0"/>
          </a:p>
        </p:txBody>
      </p:sp>
      <p:sp>
        <p:nvSpPr>
          <p:cNvPr id="33" name="Text 31"/>
          <p:cNvSpPr/>
          <p:nvPr/>
        </p:nvSpPr>
        <p:spPr>
          <a:xfrm>
            <a:off x="8485632" y="2697480"/>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4/2</a:t>
            </a:r>
            <a:endParaRPr lang="en-US" sz="880" dirty="0"/>
          </a:p>
        </p:txBody>
      </p:sp>
      <p:sp>
        <p:nvSpPr>
          <p:cNvPr id="34" name="Text 32"/>
          <p:cNvSpPr/>
          <p:nvPr/>
        </p:nvSpPr>
        <p:spPr>
          <a:xfrm>
            <a:off x="9235440" y="2697480"/>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Clustering of binary files using architecture-agnostic digests</a:t>
            </a:r>
            <a:endParaRPr lang="en-US" sz="880" dirty="0"/>
          </a:p>
        </p:txBody>
      </p:sp>
      <p:sp>
        <p:nvSpPr>
          <p:cNvPr id="35" name="Text 33"/>
          <p:cNvSpPr/>
          <p:nvPr/>
        </p:nvSpPr>
        <p:spPr>
          <a:xfrm>
            <a:off x="6263640" y="4069080"/>
            <a:ext cx="5257800" cy="1005840"/>
          </a:xfrm>
          <a:prstGeom prst="rect">
            <a:avLst/>
          </a:prstGeom>
          <a:solidFill>
            <a:srgbClr val="E7F8F8"/>
          </a:solidFill>
          <a:ln>
            <a:solidFill>
              <a:srgbClr val="E7F8F8"/>
            </a:solidFill>
          </a:ln>
        </p:spPr>
        <p:txBody>
          <a:bodyPr wrap="square" lIns="1397" tIns="1397" rIns="1397" bIns="1397" rtlCol="0" anchor="ctr">
            <a:normAutofit/>
          </a:bodyPr>
          <a:lstStyle/>
          <a:p>
            <a:pPr indent="0" marL="0">
              <a:buNone/>
            </a:pPr>
            <a:r>
              <a:rPr lang="en-US" sz="930" dirty="0">
                <a:solidFill>
                  <a:srgbClr val="1F2937"/>
                </a:solidFill>
                <a:latin typeface="Aptos" pitchFamily="34" charset="0"/>
                <a:ea typeface="Aptos" pitchFamily="34" charset="-122"/>
                <a:cs typeface="Aptos" pitchFamily="34" charset="-120"/>
              </a:rPr>
              <a:t>Detection and defense for malware, ransomware, phishing, malicious URLs/files/emails, bot activity, scams and deepfakes.</a:t>
            </a:r>
            <a:endParaRPr lang="en-US" sz="930" dirty="0"/>
          </a:p>
        </p:txBody>
      </p:sp>
      <p:sp>
        <p:nvSpPr>
          <p:cNvPr id="36" name="Text 34"/>
          <p:cNvSpPr/>
          <p:nvPr/>
        </p:nvSpPr>
        <p:spPr>
          <a:xfrm>
            <a:off x="777240" y="5806440"/>
            <a:ext cx="10652760" cy="411480"/>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880" dirty="0">
                <a:solidFill>
                  <a:srgbClr val="1F2937"/>
                </a:solidFill>
                <a:latin typeface="Aptos" pitchFamily="34" charset="0"/>
                <a:ea typeface="Aptos" pitchFamily="34" charset="-122"/>
                <a:cs typeface="Aptos" pitchFamily="34" charset="-120"/>
              </a:rPr>
              <a:t>Importance basis: top within category by forward citation count; cited count used only as a secondary signal. This is not a claim-validity opinion.</a:t>
            </a:r>
            <a:endParaRPr lang="en-US" sz="8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Important patents by category (4 of 4)</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Two patents per category, selected mechanically by forward citation count.</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594360" y="1143000"/>
            <a:ext cx="5120640" cy="201168"/>
          </a:xfrm>
          <a:prstGeom prst="rect">
            <a:avLst/>
          </a:prstGeom>
          <a:noFill/>
          <a:ln/>
        </p:spPr>
        <p:txBody>
          <a:bodyPr wrap="square" lIns="0" tIns="0" rIns="0" bIns="0" rtlCol="0" anchor="ctr">
            <a:normAutofit/>
          </a:bodyPr>
          <a:lstStyle/>
          <a:p>
            <a:pPr indent="0" marL="0">
              <a:buNone/>
            </a:pPr>
            <a:r>
              <a:rPr lang="en-US" sz="1050" b="1" dirty="0">
                <a:solidFill>
                  <a:srgbClr val="16A34A"/>
                </a:solidFill>
                <a:latin typeface="Aptos" pitchFamily="34" charset="0"/>
                <a:ea typeface="Aptos" pitchFamily="34" charset="-122"/>
                <a:cs typeface="Aptos" pitchFamily="34" charset="-120"/>
              </a:rPr>
              <a:t>Data and Privacy Protection: 2 selected patents</a:t>
            </a:r>
            <a:endParaRPr lang="en-US" sz="1050" dirty="0"/>
          </a:p>
        </p:txBody>
      </p:sp>
      <p:sp>
        <p:nvSpPr>
          <p:cNvPr id="7" name="Shape 5"/>
          <p:cNvSpPr/>
          <p:nvPr/>
        </p:nvSpPr>
        <p:spPr>
          <a:xfrm>
            <a:off x="594360" y="1399032"/>
            <a:ext cx="5120640" cy="0"/>
          </a:xfrm>
          <a:prstGeom prst="line">
            <a:avLst/>
          </a:prstGeom>
          <a:noFill/>
          <a:ln w="12700">
            <a:solidFill>
              <a:srgbClr val="16A34A"/>
            </a:solidFill>
            <a:prstDash val="solid"/>
          </a:ln>
        </p:spPr>
      </p:sp>
      <p:sp>
        <p:nvSpPr>
          <p:cNvPr id="8" name="Text 6"/>
          <p:cNvSpPr/>
          <p:nvPr/>
        </p:nvSpPr>
        <p:spPr>
          <a:xfrm>
            <a:off x="594360" y="1600200"/>
            <a:ext cx="1078992"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Publication</a:t>
            </a:r>
            <a:endParaRPr lang="en-US" sz="880" dirty="0"/>
          </a:p>
        </p:txBody>
      </p:sp>
      <p:sp>
        <p:nvSpPr>
          <p:cNvPr id="9" name="Text 7"/>
          <p:cNvSpPr/>
          <p:nvPr/>
        </p:nvSpPr>
        <p:spPr>
          <a:xfrm>
            <a:off x="1673352" y="1600200"/>
            <a:ext cx="1143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Assignee</a:t>
            </a:r>
            <a:endParaRPr lang="en-US" sz="880" dirty="0"/>
          </a:p>
        </p:txBody>
      </p:sp>
      <p:sp>
        <p:nvSpPr>
          <p:cNvPr id="10" name="Text 8"/>
          <p:cNvSpPr/>
          <p:nvPr/>
        </p:nvSpPr>
        <p:spPr>
          <a:xfrm>
            <a:off x="2816352" y="1600200"/>
            <a:ext cx="749808"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Citing/Cited</a:t>
            </a:r>
            <a:endParaRPr lang="en-US" sz="880" dirty="0"/>
          </a:p>
        </p:txBody>
      </p:sp>
      <p:sp>
        <p:nvSpPr>
          <p:cNvPr id="11" name="Text 9"/>
          <p:cNvSpPr/>
          <p:nvPr/>
        </p:nvSpPr>
        <p:spPr>
          <a:xfrm>
            <a:off x="3566160" y="1600200"/>
            <a:ext cx="2286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Title</a:t>
            </a:r>
            <a:endParaRPr lang="en-US" sz="880" dirty="0"/>
          </a:p>
        </p:txBody>
      </p:sp>
      <p:sp>
        <p:nvSpPr>
          <p:cNvPr id="12" name="Text 10"/>
          <p:cNvSpPr/>
          <p:nvPr/>
        </p:nvSpPr>
        <p:spPr>
          <a:xfrm>
            <a:off x="594360" y="1947672"/>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US11783062</a:t>
            </a:r>
            <a:endParaRPr lang="en-US" sz="890" dirty="0"/>
          </a:p>
        </p:txBody>
      </p:sp>
      <p:sp>
        <p:nvSpPr>
          <p:cNvPr id="13" name="Text 11"/>
          <p:cNvSpPr/>
          <p:nvPr/>
        </p:nvSpPr>
        <p:spPr>
          <a:xfrm>
            <a:off x="1673352" y="1947672"/>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Microsoft</a:t>
            </a:r>
            <a:endParaRPr lang="en-US" sz="880" dirty="0"/>
          </a:p>
        </p:txBody>
      </p:sp>
      <p:sp>
        <p:nvSpPr>
          <p:cNvPr id="14" name="Text 12"/>
          <p:cNvSpPr/>
          <p:nvPr/>
        </p:nvSpPr>
        <p:spPr>
          <a:xfrm>
            <a:off x="2816352" y="1947672"/>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70/25</a:t>
            </a:r>
            <a:endParaRPr lang="en-US" sz="880" dirty="0"/>
          </a:p>
        </p:txBody>
      </p:sp>
      <p:sp>
        <p:nvSpPr>
          <p:cNvPr id="15" name="Text 13"/>
          <p:cNvSpPr/>
          <p:nvPr/>
        </p:nvSpPr>
        <p:spPr>
          <a:xfrm>
            <a:off x="3566160" y="1947672"/>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Risk-based access to computing environment secrets</a:t>
            </a:r>
            <a:endParaRPr lang="en-US" sz="880" dirty="0"/>
          </a:p>
        </p:txBody>
      </p:sp>
      <p:sp>
        <p:nvSpPr>
          <p:cNvPr id="16" name="Text 14"/>
          <p:cNvSpPr/>
          <p:nvPr/>
        </p:nvSpPr>
        <p:spPr>
          <a:xfrm>
            <a:off x="594360" y="2697480"/>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US11921820</a:t>
            </a:r>
            <a:endParaRPr lang="en-US" sz="890" dirty="0"/>
          </a:p>
        </p:txBody>
      </p:sp>
      <p:sp>
        <p:nvSpPr>
          <p:cNvPr id="17" name="Text 15"/>
          <p:cNvSpPr/>
          <p:nvPr/>
        </p:nvSpPr>
        <p:spPr>
          <a:xfrm>
            <a:off x="1673352" y="2697480"/>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Fortinet</a:t>
            </a:r>
            <a:endParaRPr lang="en-US" sz="880" dirty="0"/>
          </a:p>
        </p:txBody>
      </p:sp>
      <p:sp>
        <p:nvSpPr>
          <p:cNvPr id="18" name="Text 16"/>
          <p:cNvSpPr/>
          <p:nvPr/>
        </p:nvSpPr>
        <p:spPr>
          <a:xfrm>
            <a:off x="2816352" y="2697480"/>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4/4</a:t>
            </a:r>
            <a:endParaRPr lang="en-US" sz="880" dirty="0"/>
          </a:p>
        </p:txBody>
      </p:sp>
      <p:sp>
        <p:nvSpPr>
          <p:cNvPr id="19" name="Text 17"/>
          <p:cNvSpPr/>
          <p:nvPr/>
        </p:nvSpPr>
        <p:spPr>
          <a:xfrm>
            <a:off x="3566160" y="2697480"/>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Real-time minimal vector labeling scheme for supervised machine learning</a:t>
            </a:r>
            <a:endParaRPr lang="en-US" sz="880" dirty="0"/>
          </a:p>
        </p:txBody>
      </p:sp>
      <p:sp>
        <p:nvSpPr>
          <p:cNvPr id="20" name="Text 18"/>
          <p:cNvSpPr/>
          <p:nvPr/>
        </p:nvSpPr>
        <p:spPr>
          <a:xfrm>
            <a:off x="594360" y="4069080"/>
            <a:ext cx="5257800" cy="1005840"/>
          </a:xfrm>
          <a:prstGeom prst="rect">
            <a:avLst/>
          </a:prstGeom>
          <a:solidFill>
            <a:srgbClr val="EAF3F8"/>
          </a:solidFill>
          <a:ln>
            <a:solidFill>
              <a:srgbClr val="EAF3F8"/>
            </a:solidFill>
          </a:ln>
        </p:spPr>
        <p:txBody>
          <a:bodyPr wrap="square" lIns="1397" tIns="1397" rIns="1397" bIns="1397" rtlCol="0" anchor="ctr">
            <a:normAutofit/>
          </a:bodyPr>
          <a:lstStyle/>
          <a:p>
            <a:pPr indent="0" marL="0">
              <a:buNone/>
            </a:pPr>
            <a:r>
              <a:rPr lang="en-US" sz="930" dirty="0">
                <a:solidFill>
                  <a:srgbClr val="1F2937"/>
                </a:solidFill>
                <a:latin typeface="Aptos" pitchFamily="34" charset="0"/>
                <a:ea typeface="Aptos" pitchFamily="34" charset="-122"/>
                <a:cs typeface="Aptos" pitchFamily="34" charset="-120"/>
              </a:rPr>
              <a:t>Data leakage, exfiltration, sensitive data, privacy, encryption, cryptography, certificates and secrets protection.</a:t>
            </a:r>
            <a:endParaRPr lang="en-US" sz="930" dirty="0"/>
          </a:p>
        </p:txBody>
      </p:sp>
      <p:sp>
        <p:nvSpPr>
          <p:cNvPr id="21" name="Text 19"/>
          <p:cNvSpPr/>
          <p:nvPr/>
        </p:nvSpPr>
        <p:spPr>
          <a:xfrm>
            <a:off x="6263640" y="1143000"/>
            <a:ext cx="5120640" cy="201168"/>
          </a:xfrm>
          <a:prstGeom prst="rect">
            <a:avLst/>
          </a:prstGeom>
          <a:noFill/>
          <a:ln/>
        </p:spPr>
        <p:txBody>
          <a:bodyPr wrap="square" lIns="0" tIns="0" rIns="0" bIns="0" rtlCol="0" anchor="ctr">
            <a:normAutofit/>
          </a:bodyPr>
          <a:lstStyle/>
          <a:p>
            <a:pPr indent="0" marL="0">
              <a:buNone/>
            </a:pPr>
            <a:r>
              <a:rPr lang="en-US" sz="1050" b="1" dirty="0">
                <a:solidFill>
                  <a:srgbClr val="6B7280"/>
                </a:solidFill>
                <a:latin typeface="Aptos" pitchFamily="34" charset="0"/>
                <a:ea typeface="Aptos" pitchFamily="34" charset="-122"/>
                <a:cs typeface="Aptos" pitchFamily="34" charset="-120"/>
              </a:rPr>
              <a:t>Security Automation and Testing: 2 selected patents</a:t>
            </a:r>
            <a:endParaRPr lang="en-US" sz="1050" dirty="0"/>
          </a:p>
        </p:txBody>
      </p:sp>
      <p:sp>
        <p:nvSpPr>
          <p:cNvPr id="22" name="Shape 20"/>
          <p:cNvSpPr/>
          <p:nvPr/>
        </p:nvSpPr>
        <p:spPr>
          <a:xfrm>
            <a:off x="6263640" y="1399032"/>
            <a:ext cx="5120640" cy="0"/>
          </a:xfrm>
          <a:prstGeom prst="line">
            <a:avLst/>
          </a:prstGeom>
          <a:noFill/>
          <a:ln w="12700">
            <a:solidFill>
              <a:srgbClr val="6B7280"/>
            </a:solidFill>
            <a:prstDash val="solid"/>
          </a:ln>
        </p:spPr>
      </p:sp>
      <p:sp>
        <p:nvSpPr>
          <p:cNvPr id="23" name="Text 21"/>
          <p:cNvSpPr/>
          <p:nvPr/>
        </p:nvSpPr>
        <p:spPr>
          <a:xfrm>
            <a:off x="6263640" y="1600200"/>
            <a:ext cx="1078992"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Publication</a:t>
            </a:r>
            <a:endParaRPr lang="en-US" sz="880" dirty="0"/>
          </a:p>
        </p:txBody>
      </p:sp>
      <p:sp>
        <p:nvSpPr>
          <p:cNvPr id="24" name="Text 22"/>
          <p:cNvSpPr/>
          <p:nvPr/>
        </p:nvSpPr>
        <p:spPr>
          <a:xfrm>
            <a:off x="7342632" y="1600200"/>
            <a:ext cx="1143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Assignee</a:t>
            </a:r>
            <a:endParaRPr lang="en-US" sz="880" dirty="0"/>
          </a:p>
        </p:txBody>
      </p:sp>
      <p:sp>
        <p:nvSpPr>
          <p:cNvPr id="25" name="Text 23"/>
          <p:cNvSpPr/>
          <p:nvPr/>
        </p:nvSpPr>
        <p:spPr>
          <a:xfrm>
            <a:off x="8485632" y="1600200"/>
            <a:ext cx="749808"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Citing/Cited</a:t>
            </a:r>
            <a:endParaRPr lang="en-US" sz="880" dirty="0"/>
          </a:p>
        </p:txBody>
      </p:sp>
      <p:sp>
        <p:nvSpPr>
          <p:cNvPr id="26" name="Text 24"/>
          <p:cNvSpPr/>
          <p:nvPr/>
        </p:nvSpPr>
        <p:spPr>
          <a:xfrm>
            <a:off x="9235440" y="1600200"/>
            <a:ext cx="228600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Title</a:t>
            </a:r>
            <a:endParaRPr lang="en-US" sz="880" dirty="0"/>
          </a:p>
        </p:txBody>
      </p:sp>
      <p:sp>
        <p:nvSpPr>
          <p:cNvPr id="27" name="Text 25"/>
          <p:cNvSpPr/>
          <p:nvPr/>
        </p:nvSpPr>
        <p:spPr>
          <a:xfrm>
            <a:off x="6263640" y="1947672"/>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US11620379</a:t>
            </a:r>
            <a:endParaRPr lang="en-US" sz="890" dirty="0"/>
          </a:p>
        </p:txBody>
      </p:sp>
      <p:sp>
        <p:nvSpPr>
          <p:cNvPr id="28" name="Text 26"/>
          <p:cNvSpPr/>
          <p:nvPr/>
        </p:nvSpPr>
        <p:spPr>
          <a:xfrm>
            <a:off x="7342632" y="1947672"/>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Google</a:t>
            </a:r>
            <a:endParaRPr lang="en-US" sz="880" dirty="0"/>
          </a:p>
        </p:txBody>
      </p:sp>
      <p:sp>
        <p:nvSpPr>
          <p:cNvPr id="29" name="Text 27"/>
          <p:cNvSpPr/>
          <p:nvPr/>
        </p:nvSpPr>
        <p:spPr>
          <a:xfrm>
            <a:off x="8485632" y="1947672"/>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28/4</a:t>
            </a:r>
            <a:endParaRPr lang="en-US" sz="880" dirty="0"/>
          </a:p>
        </p:txBody>
      </p:sp>
      <p:sp>
        <p:nvSpPr>
          <p:cNvPr id="30" name="Text 28"/>
          <p:cNvSpPr/>
          <p:nvPr/>
        </p:nvSpPr>
        <p:spPr>
          <a:xfrm>
            <a:off x="9235440" y="1947672"/>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Methods and apparatus for detecting and preventing obfuscated cyberattacks usin...</a:t>
            </a:r>
            <a:endParaRPr lang="en-US" sz="880" dirty="0"/>
          </a:p>
        </p:txBody>
      </p:sp>
      <p:sp>
        <p:nvSpPr>
          <p:cNvPr id="31" name="Text 29"/>
          <p:cNvSpPr/>
          <p:nvPr/>
        </p:nvSpPr>
        <p:spPr>
          <a:xfrm>
            <a:off x="6263640" y="2697480"/>
            <a:ext cx="107899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90" b="1" dirty="0">
                <a:solidFill>
                  <a:srgbClr val="1F2937"/>
                </a:solidFill>
                <a:latin typeface="Aptos" pitchFamily="34" charset="0"/>
                <a:ea typeface="Aptos" pitchFamily="34" charset="-122"/>
                <a:cs typeface="Aptos" pitchFamily="34" charset="-120"/>
              </a:rPr>
              <a:t>US11550911</a:t>
            </a:r>
            <a:endParaRPr lang="en-US" sz="890" dirty="0"/>
          </a:p>
        </p:txBody>
      </p:sp>
      <p:sp>
        <p:nvSpPr>
          <p:cNvPr id="32" name="Text 30"/>
          <p:cNvSpPr/>
          <p:nvPr/>
        </p:nvSpPr>
        <p:spPr>
          <a:xfrm>
            <a:off x="7342632" y="2697480"/>
            <a:ext cx="1143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Palo Alto Networks</a:t>
            </a:r>
            <a:endParaRPr lang="en-US" sz="880" dirty="0"/>
          </a:p>
        </p:txBody>
      </p:sp>
      <p:sp>
        <p:nvSpPr>
          <p:cNvPr id="33" name="Text 31"/>
          <p:cNvSpPr/>
          <p:nvPr/>
        </p:nvSpPr>
        <p:spPr>
          <a:xfrm>
            <a:off x="8485632" y="2697480"/>
            <a:ext cx="74980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13/18</a:t>
            </a:r>
            <a:endParaRPr lang="en-US" sz="880" dirty="0"/>
          </a:p>
        </p:txBody>
      </p:sp>
      <p:sp>
        <p:nvSpPr>
          <p:cNvPr id="34" name="Text 32"/>
          <p:cNvSpPr/>
          <p:nvPr/>
        </p:nvSpPr>
        <p:spPr>
          <a:xfrm>
            <a:off x="9235440" y="2697480"/>
            <a:ext cx="228600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Multi-representational learning models for static analysis of source code</a:t>
            </a:r>
            <a:endParaRPr lang="en-US" sz="880" dirty="0"/>
          </a:p>
        </p:txBody>
      </p:sp>
      <p:sp>
        <p:nvSpPr>
          <p:cNvPr id="35" name="Text 33"/>
          <p:cNvSpPr/>
          <p:nvPr/>
        </p:nvSpPr>
        <p:spPr>
          <a:xfrm>
            <a:off x="6263640" y="4069080"/>
            <a:ext cx="5257800" cy="1005840"/>
          </a:xfrm>
          <a:prstGeom prst="rect">
            <a:avLst/>
          </a:prstGeom>
          <a:solidFill>
            <a:srgbClr val="E7F8F8"/>
          </a:solidFill>
          <a:ln>
            <a:solidFill>
              <a:srgbClr val="E7F8F8"/>
            </a:solidFill>
          </a:ln>
        </p:spPr>
        <p:txBody>
          <a:bodyPr wrap="square" lIns="1397" tIns="1397" rIns="1397" bIns="1397" rtlCol="0" anchor="ctr">
            <a:normAutofit/>
          </a:bodyPr>
          <a:lstStyle/>
          <a:p>
            <a:pPr indent="0" marL="0">
              <a:buNone/>
            </a:pPr>
            <a:r>
              <a:rPr lang="en-US" sz="930" dirty="0">
                <a:solidFill>
                  <a:srgbClr val="1F2937"/>
                </a:solidFill>
                <a:latin typeface="Aptos" pitchFamily="34" charset="0"/>
                <a:ea typeface="Aptos" pitchFamily="34" charset="-122"/>
                <a:cs typeface="Aptos" pitchFamily="34" charset="-120"/>
              </a:rPr>
              <a:t>Security testing, CI/CD protection, static analysis, policy correction, automated remediation and workflow orchestration.</a:t>
            </a:r>
            <a:endParaRPr lang="en-US" sz="930" dirty="0"/>
          </a:p>
        </p:txBody>
      </p:sp>
      <p:sp>
        <p:nvSpPr>
          <p:cNvPr id="36" name="Text 34"/>
          <p:cNvSpPr/>
          <p:nvPr/>
        </p:nvSpPr>
        <p:spPr>
          <a:xfrm>
            <a:off x="777240" y="5806440"/>
            <a:ext cx="10652760" cy="411480"/>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880" dirty="0">
                <a:solidFill>
                  <a:srgbClr val="1F2937"/>
                </a:solidFill>
                <a:latin typeface="Aptos" pitchFamily="34" charset="0"/>
                <a:ea typeface="Aptos" pitchFamily="34" charset="-122"/>
                <a:cs typeface="Aptos" pitchFamily="34" charset="-120"/>
              </a:rPr>
              <a:t>Importance basis: top within category by forward citation count; cited count used only as a secondary signal. This is not a claim-validity opinion.</a:t>
            </a:r>
            <a:endParaRPr lang="en-US" sz="8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Problem intensity graph</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Non-exclusive problem-theme counts; a patent record may match more than one problem.</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graphicFrame>
        <p:nvGraphicFramePr>
          <p:cNvPr id="6" name="Chart 0" descr=""/>
          <p:cNvGraphicFramePr/>
          <p:nvPr/>
        </p:nvGraphicFramePr>
        <p:xfrm>
          <a:off x="594360" y="1097280"/>
          <a:ext cx="7315200" cy="5349240"/>
        </p:xfrm>
        <a:graphic xmlns:a="http://schemas.openxmlformats.org/drawingml/2006/main">
          <a:graphicData uri="http://schemas.openxmlformats.org/drawingml/2006/chart">
            <c:chart xmlns:c="http://schemas.openxmlformats.org/drawingml/2006/chart" r:id="rId1"/>
          </a:graphicData>
        </a:graphic>
      </p:graphicFrame>
      <p:pic>
        <p:nvPicPr>
          <p:cNvPr id="7" name="Image 0" descr="/mnt/data/cyber_images/soc_dashboard.jpg">    </p:cNvPr>
          <p:cNvPicPr>
            <a:picLocks noChangeAspect="1"/>
          </p:cNvPicPr>
          <p:nvPr/>
        </p:nvPicPr>
        <p:blipFill>
          <a:blip r:embed="rId2"/>
          <a:srcRect l="3571" r="3571" t="0" b="0"/>
          <a:stretch/>
        </p:blipFill>
        <p:spPr>
          <a:xfrm>
            <a:off x="8366760" y="1188720"/>
            <a:ext cx="2971800" cy="1600200"/>
          </a:xfrm>
          <a:prstGeom prst="rect">
            <a:avLst/>
          </a:prstGeom>
        </p:spPr>
      </p:pic>
      <p:sp>
        <p:nvSpPr>
          <p:cNvPr id="8" name="Text 4"/>
          <p:cNvSpPr/>
          <p:nvPr/>
        </p:nvSpPr>
        <p:spPr>
          <a:xfrm>
            <a:off x="8229600" y="3063240"/>
            <a:ext cx="3246120" cy="822960"/>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970" dirty="0">
                <a:solidFill>
                  <a:srgbClr val="1F2937"/>
                </a:solidFill>
                <a:latin typeface="Aptos" pitchFamily="34" charset="0"/>
                <a:ea typeface="Aptos" pitchFamily="34" charset="-122"/>
                <a:cs typeface="Aptos" pitchFamily="34" charset="-120"/>
              </a:rPr>
              <a:t>Interpretation: problem counts show recurring technical pain points in titles and abstracts, not market size or legal strength.</a:t>
            </a:r>
            <a:endParaRPr lang="en-US" sz="970" dirty="0"/>
          </a:p>
        </p:txBody>
      </p:sp>
      <p:sp>
        <p:nvSpPr>
          <p:cNvPr id="9" name="Text 5"/>
          <p:cNvSpPr/>
          <p:nvPr/>
        </p:nvSpPr>
        <p:spPr>
          <a:xfrm>
            <a:off x="8229600" y="4160520"/>
            <a:ext cx="3246120" cy="960120"/>
          </a:xfrm>
          <a:prstGeom prst="rect">
            <a:avLst/>
          </a:prstGeom>
          <a:solidFill>
            <a:srgbClr val="EAF3F8"/>
          </a:solidFill>
          <a:ln>
            <a:solidFill>
              <a:srgbClr val="EAF3F8"/>
            </a:solidFill>
          </a:ln>
        </p:spPr>
        <p:txBody>
          <a:bodyPr wrap="square" lIns="1397" tIns="1397" rIns="1397" bIns="1397" rtlCol="0" anchor="ctr">
            <a:normAutofit/>
          </a:bodyPr>
          <a:lstStyle/>
          <a:p>
            <a:pPr indent="0" marL="0">
              <a:buNone/>
            </a:pPr>
            <a:r>
              <a:rPr lang="en-US" sz="970" dirty="0">
                <a:solidFill>
                  <a:srgbClr val="1F2937"/>
                </a:solidFill>
                <a:latin typeface="Aptos" pitchFamily="34" charset="0"/>
                <a:ea typeface="Aptos" pitchFamily="34" charset="-122"/>
                <a:cs typeface="Aptos" pitchFamily="34" charset="-120"/>
              </a:rPr>
              <a:t>Highest-count problems point toward SOC overload, network/device anomaly detection, identity/access abuse, cloud configuration and vulnerability prioritization.</a:t>
            </a:r>
            <a:endParaRPr lang="en-US" sz="97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Top 10 problems with direction (1 of 2)</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Problem counts are non-exclusive theme mentions across patent titles and abstracts.</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502920" y="1115568"/>
            <a:ext cx="566928"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Rank</a:t>
            </a:r>
            <a:endParaRPr lang="en-US" sz="880" dirty="0"/>
          </a:p>
        </p:txBody>
      </p:sp>
      <p:sp>
        <p:nvSpPr>
          <p:cNvPr id="7" name="Text 5"/>
          <p:cNvSpPr/>
          <p:nvPr/>
        </p:nvSpPr>
        <p:spPr>
          <a:xfrm>
            <a:off x="1069848" y="1115568"/>
            <a:ext cx="2880360"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Problem</a:t>
            </a:r>
            <a:endParaRPr lang="en-US" sz="880" dirty="0"/>
          </a:p>
        </p:txBody>
      </p:sp>
      <p:sp>
        <p:nvSpPr>
          <p:cNvPr id="8" name="Text 6"/>
          <p:cNvSpPr/>
          <p:nvPr/>
        </p:nvSpPr>
        <p:spPr>
          <a:xfrm>
            <a:off x="3950208" y="1115568"/>
            <a:ext cx="868680"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Records</a:t>
            </a:r>
            <a:endParaRPr lang="en-US" sz="880" dirty="0"/>
          </a:p>
        </p:txBody>
      </p:sp>
      <p:sp>
        <p:nvSpPr>
          <p:cNvPr id="9" name="Text 7"/>
          <p:cNvSpPr/>
          <p:nvPr/>
        </p:nvSpPr>
        <p:spPr>
          <a:xfrm>
            <a:off x="4818888" y="1115568"/>
            <a:ext cx="6839712"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Technology direction</a:t>
            </a:r>
            <a:endParaRPr lang="en-US" sz="880" dirty="0"/>
          </a:p>
        </p:txBody>
      </p:sp>
      <p:sp>
        <p:nvSpPr>
          <p:cNvPr id="10" name="Text 8"/>
          <p:cNvSpPr/>
          <p:nvPr/>
        </p:nvSpPr>
        <p:spPr>
          <a:xfrm>
            <a:off x="502920" y="1499616"/>
            <a:ext cx="56692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a:t>
            </a:r>
            <a:endParaRPr lang="en-US" sz="880" dirty="0"/>
          </a:p>
        </p:txBody>
      </p:sp>
      <p:sp>
        <p:nvSpPr>
          <p:cNvPr id="11" name="Text 9"/>
          <p:cNvSpPr/>
          <p:nvPr/>
        </p:nvSpPr>
        <p:spPr>
          <a:xfrm>
            <a:off x="1069848" y="1499616"/>
            <a:ext cx="288036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20" b="1" dirty="0">
                <a:solidFill>
                  <a:srgbClr val="1F2937"/>
                </a:solidFill>
                <a:latin typeface="Aptos" pitchFamily="34" charset="0"/>
                <a:ea typeface="Aptos" pitchFamily="34" charset="-122"/>
                <a:cs typeface="Aptos" pitchFamily="34" charset="-120"/>
              </a:rPr>
              <a:t>Network and device anomaly detection</a:t>
            </a:r>
            <a:endParaRPr lang="en-US" sz="1020" dirty="0"/>
          </a:p>
        </p:txBody>
      </p:sp>
      <p:sp>
        <p:nvSpPr>
          <p:cNvPr id="12" name="Text 10"/>
          <p:cNvSpPr/>
          <p:nvPr/>
        </p:nvSpPr>
        <p:spPr>
          <a:xfrm>
            <a:off x="3950208" y="1499616"/>
            <a:ext cx="868680"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273</a:t>
            </a:r>
            <a:endParaRPr lang="en-US" sz="880" dirty="0"/>
          </a:p>
        </p:txBody>
      </p:sp>
      <p:sp>
        <p:nvSpPr>
          <p:cNvPr id="13" name="Text 11"/>
          <p:cNvSpPr/>
          <p:nvPr/>
        </p:nvSpPr>
        <p:spPr>
          <a:xfrm>
            <a:off x="4818888" y="1499616"/>
            <a:ext cx="683971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00" dirty="0">
                <a:solidFill>
                  <a:srgbClr val="1F2937"/>
                </a:solidFill>
                <a:latin typeface="Aptos" pitchFamily="34" charset="0"/>
                <a:ea typeface="Aptos" pitchFamily="34" charset="-122"/>
                <a:cs typeface="Aptos" pitchFamily="34" charset="-120"/>
              </a:rPr>
              <a:t>Use multivariate and graph/sequence models to detect anomalous behavior across network, endpoint and edge telemetry.</a:t>
            </a:r>
            <a:endParaRPr lang="en-US" sz="1000" dirty="0"/>
          </a:p>
        </p:txBody>
      </p:sp>
      <p:sp>
        <p:nvSpPr>
          <p:cNvPr id="14" name="Text 12"/>
          <p:cNvSpPr/>
          <p:nvPr/>
        </p:nvSpPr>
        <p:spPr>
          <a:xfrm>
            <a:off x="502920" y="2249424"/>
            <a:ext cx="56692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a:t>
            </a:r>
            <a:endParaRPr lang="en-US" sz="880" dirty="0"/>
          </a:p>
        </p:txBody>
      </p:sp>
      <p:sp>
        <p:nvSpPr>
          <p:cNvPr id="15" name="Text 13"/>
          <p:cNvSpPr/>
          <p:nvPr/>
        </p:nvSpPr>
        <p:spPr>
          <a:xfrm>
            <a:off x="1069848" y="2249424"/>
            <a:ext cx="288036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20" b="1" dirty="0">
                <a:solidFill>
                  <a:srgbClr val="1F2937"/>
                </a:solidFill>
                <a:latin typeface="Aptos" pitchFamily="34" charset="0"/>
                <a:ea typeface="Aptos" pitchFamily="34" charset="-122"/>
                <a:cs typeface="Aptos" pitchFamily="34" charset="-120"/>
              </a:rPr>
              <a:t>Alert overload and SOC response prioritization</a:t>
            </a:r>
            <a:endParaRPr lang="en-US" sz="1020" dirty="0"/>
          </a:p>
        </p:txBody>
      </p:sp>
      <p:sp>
        <p:nvSpPr>
          <p:cNvPr id="16" name="Text 14"/>
          <p:cNvSpPr/>
          <p:nvPr/>
        </p:nvSpPr>
        <p:spPr>
          <a:xfrm>
            <a:off x="3950208" y="2249424"/>
            <a:ext cx="868680"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189</a:t>
            </a:r>
            <a:endParaRPr lang="en-US" sz="880" dirty="0"/>
          </a:p>
        </p:txBody>
      </p:sp>
      <p:sp>
        <p:nvSpPr>
          <p:cNvPr id="17" name="Text 15"/>
          <p:cNvSpPr/>
          <p:nvPr/>
        </p:nvSpPr>
        <p:spPr>
          <a:xfrm>
            <a:off x="4818888" y="2249424"/>
            <a:ext cx="683971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00" dirty="0">
                <a:solidFill>
                  <a:srgbClr val="1F2937"/>
                </a:solidFill>
                <a:latin typeface="Aptos" pitchFamily="34" charset="0"/>
                <a:ea typeface="Aptos" pitchFamily="34" charset="-122"/>
                <a:cs typeface="Aptos" pitchFamily="34" charset="-120"/>
              </a:rPr>
              <a:t>Move from static alerts to explainable, ranked incident queues with recommended follow-on actions and analyst feedback loops.</a:t>
            </a:r>
            <a:endParaRPr lang="en-US" sz="1000" dirty="0"/>
          </a:p>
        </p:txBody>
      </p:sp>
      <p:sp>
        <p:nvSpPr>
          <p:cNvPr id="18" name="Text 16"/>
          <p:cNvSpPr/>
          <p:nvPr/>
        </p:nvSpPr>
        <p:spPr>
          <a:xfrm>
            <a:off x="502920" y="2999232"/>
            <a:ext cx="56692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3</a:t>
            </a:r>
            <a:endParaRPr lang="en-US" sz="880" dirty="0"/>
          </a:p>
        </p:txBody>
      </p:sp>
      <p:sp>
        <p:nvSpPr>
          <p:cNvPr id="19" name="Text 17"/>
          <p:cNvSpPr/>
          <p:nvPr/>
        </p:nvSpPr>
        <p:spPr>
          <a:xfrm>
            <a:off x="1069848" y="2999232"/>
            <a:ext cx="288036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20" b="1" dirty="0">
                <a:solidFill>
                  <a:srgbClr val="1F2937"/>
                </a:solidFill>
                <a:latin typeface="Aptos" pitchFamily="34" charset="0"/>
                <a:ea typeface="Aptos" pitchFamily="34" charset="-122"/>
                <a:cs typeface="Aptos" pitchFamily="34" charset="-120"/>
              </a:rPr>
              <a:t>Identity, credential and access abuse</a:t>
            </a:r>
            <a:endParaRPr lang="en-US" sz="1020" dirty="0"/>
          </a:p>
        </p:txBody>
      </p:sp>
      <p:sp>
        <p:nvSpPr>
          <p:cNvPr id="20" name="Text 18"/>
          <p:cNvSpPr/>
          <p:nvPr/>
        </p:nvSpPr>
        <p:spPr>
          <a:xfrm>
            <a:off x="3950208" y="2999232"/>
            <a:ext cx="868680"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152</a:t>
            </a:r>
            <a:endParaRPr lang="en-US" sz="880" dirty="0"/>
          </a:p>
        </p:txBody>
      </p:sp>
      <p:sp>
        <p:nvSpPr>
          <p:cNvPr id="21" name="Text 19"/>
          <p:cNvSpPr/>
          <p:nvPr/>
        </p:nvSpPr>
        <p:spPr>
          <a:xfrm>
            <a:off x="4818888" y="2999232"/>
            <a:ext cx="683971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00" dirty="0">
                <a:solidFill>
                  <a:srgbClr val="1F2937"/>
                </a:solidFill>
                <a:latin typeface="Aptos" pitchFamily="34" charset="0"/>
                <a:ea typeface="Aptos" pitchFamily="34" charset="-122"/>
                <a:cs typeface="Aptos" pitchFamily="34" charset="-120"/>
              </a:rPr>
              <a:t>Shift toward continuous access-risk scoring, least-privilege remediation and context-aware authentication.</a:t>
            </a:r>
            <a:endParaRPr lang="en-US" sz="1000" dirty="0"/>
          </a:p>
        </p:txBody>
      </p:sp>
      <p:sp>
        <p:nvSpPr>
          <p:cNvPr id="22" name="Text 20"/>
          <p:cNvSpPr/>
          <p:nvPr/>
        </p:nvSpPr>
        <p:spPr>
          <a:xfrm>
            <a:off x="502920" y="3749040"/>
            <a:ext cx="56692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4</a:t>
            </a:r>
            <a:endParaRPr lang="en-US" sz="880" dirty="0"/>
          </a:p>
        </p:txBody>
      </p:sp>
      <p:sp>
        <p:nvSpPr>
          <p:cNvPr id="23" name="Text 21"/>
          <p:cNvSpPr/>
          <p:nvPr/>
        </p:nvSpPr>
        <p:spPr>
          <a:xfrm>
            <a:off x="1069848" y="3749040"/>
            <a:ext cx="288036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20" b="1" dirty="0">
                <a:solidFill>
                  <a:srgbClr val="1F2937"/>
                </a:solidFill>
                <a:latin typeface="Aptos" pitchFamily="34" charset="0"/>
                <a:ea typeface="Aptos" pitchFamily="34" charset="-122"/>
                <a:cs typeface="Aptos" pitchFamily="34" charset="-120"/>
              </a:rPr>
              <a:t>Cloud workload and configuration protection</a:t>
            </a:r>
            <a:endParaRPr lang="en-US" sz="1020" dirty="0"/>
          </a:p>
        </p:txBody>
      </p:sp>
      <p:sp>
        <p:nvSpPr>
          <p:cNvPr id="24" name="Text 22"/>
          <p:cNvSpPr/>
          <p:nvPr/>
        </p:nvSpPr>
        <p:spPr>
          <a:xfrm>
            <a:off x="3950208" y="3749040"/>
            <a:ext cx="868680"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136</a:t>
            </a:r>
            <a:endParaRPr lang="en-US" sz="880" dirty="0"/>
          </a:p>
        </p:txBody>
      </p:sp>
      <p:sp>
        <p:nvSpPr>
          <p:cNvPr id="25" name="Text 23"/>
          <p:cNvSpPr/>
          <p:nvPr/>
        </p:nvSpPr>
        <p:spPr>
          <a:xfrm>
            <a:off x="4818888" y="3749040"/>
            <a:ext cx="683971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00" dirty="0">
                <a:solidFill>
                  <a:srgbClr val="1F2937"/>
                </a:solidFill>
                <a:latin typeface="Aptos" pitchFamily="34" charset="0"/>
                <a:ea typeface="Aptos" pitchFamily="34" charset="-122"/>
                <a:cs typeface="Aptos" pitchFamily="34" charset="-120"/>
              </a:rPr>
              <a:t>Correlate workload posture, runtime behavior and policy state to prevent misconfiguration and over-permissioning.</a:t>
            </a:r>
            <a:endParaRPr lang="en-US" sz="1000" dirty="0"/>
          </a:p>
        </p:txBody>
      </p:sp>
      <p:sp>
        <p:nvSpPr>
          <p:cNvPr id="26" name="Text 24"/>
          <p:cNvSpPr/>
          <p:nvPr/>
        </p:nvSpPr>
        <p:spPr>
          <a:xfrm>
            <a:off x="502920" y="4498848"/>
            <a:ext cx="56692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5</a:t>
            </a:r>
            <a:endParaRPr lang="en-US" sz="880" dirty="0"/>
          </a:p>
        </p:txBody>
      </p:sp>
      <p:sp>
        <p:nvSpPr>
          <p:cNvPr id="27" name="Text 25"/>
          <p:cNvSpPr/>
          <p:nvPr/>
        </p:nvSpPr>
        <p:spPr>
          <a:xfrm>
            <a:off x="1069848" y="4498848"/>
            <a:ext cx="288036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20" b="1" dirty="0">
                <a:solidFill>
                  <a:srgbClr val="1F2937"/>
                </a:solidFill>
                <a:latin typeface="Aptos" pitchFamily="34" charset="0"/>
                <a:ea typeface="Aptos" pitchFamily="34" charset="-122"/>
                <a:cs typeface="Aptos" pitchFamily="34" charset="-120"/>
              </a:rPr>
              <a:t>Risk, vulnerability and exposure prioritization</a:t>
            </a:r>
            <a:endParaRPr lang="en-US" sz="1020" dirty="0"/>
          </a:p>
        </p:txBody>
      </p:sp>
      <p:sp>
        <p:nvSpPr>
          <p:cNvPr id="28" name="Text 26"/>
          <p:cNvSpPr/>
          <p:nvPr/>
        </p:nvSpPr>
        <p:spPr>
          <a:xfrm>
            <a:off x="3950208" y="4498848"/>
            <a:ext cx="868680"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134</a:t>
            </a:r>
            <a:endParaRPr lang="en-US" sz="880" dirty="0"/>
          </a:p>
        </p:txBody>
      </p:sp>
      <p:sp>
        <p:nvSpPr>
          <p:cNvPr id="29" name="Text 27"/>
          <p:cNvSpPr/>
          <p:nvPr/>
        </p:nvSpPr>
        <p:spPr>
          <a:xfrm>
            <a:off x="4818888" y="4498848"/>
            <a:ext cx="683971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00" dirty="0">
                <a:solidFill>
                  <a:srgbClr val="1F2937"/>
                </a:solidFill>
                <a:latin typeface="Aptos" pitchFamily="34" charset="0"/>
                <a:ea typeface="Aptos" pitchFamily="34" charset="-122"/>
                <a:cs typeface="Aptos" pitchFamily="34" charset="-120"/>
              </a:rPr>
              <a:t>Combine exploit context, asset criticality and threat intelligence to produce actionable exposure scores.</a:t>
            </a:r>
            <a:endParaRPr lang="en-US" sz="1000" dirty="0"/>
          </a:p>
        </p:txBody>
      </p:sp>
      <p:sp>
        <p:nvSpPr>
          <p:cNvPr id="30" name="Text 28"/>
          <p:cNvSpPr/>
          <p:nvPr/>
        </p:nvSpPr>
        <p:spPr>
          <a:xfrm>
            <a:off x="685800" y="5715000"/>
            <a:ext cx="10789920" cy="475488"/>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970" dirty="0">
                <a:solidFill>
                  <a:srgbClr val="1F2937"/>
                </a:solidFill>
                <a:latin typeface="Aptos" pitchFamily="34" charset="0"/>
                <a:ea typeface="Aptos" pitchFamily="34" charset="-122"/>
                <a:cs typeface="Aptos" pitchFamily="34" charset="-120"/>
              </a:rPr>
              <a:t>Direction statements summarize technical vectors visible from repeated patent themes. They are not legal conclusions.</a:t>
            </a:r>
            <a:endParaRPr lang="en-US" sz="97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Top 10 problems with direction (2 of 2)</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Lower-count problem themes can still be valuable where the technical solution is differentiated.</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502920" y="1115568"/>
            <a:ext cx="566928"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Rank</a:t>
            </a:r>
            <a:endParaRPr lang="en-US" sz="880" dirty="0"/>
          </a:p>
        </p:txBody>
      </p:sp>
      <p:sp>
        <p:nvSpPr>
          <p:cNvPr id="7" name="Text 5"/>
          <p:cNvSpPr/>
          <p:nvPr/>
        </p:nvSpPr>
        <p:spPr>
          <a:xfrm>
            <a:off x="1069848" y="1115568"/>
            <a:ext cx="2880360"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Problem</a:t>
            </a:r>
            <a:endParaRPr lang="en-US" sz="880" dirty="0"/>
          </a:p>
        </p:txBody>
      </p:sp>
      <p:sp>
        <p:nvSpPr>
          <p:cNvPr id="8" name="Text 6"/>
          <p:cNvSpPr/>
          <p:nvPr/>
        </p:nvSpPr>
        <p:spPr>
          <a:xfrm>
            <a:off x="3950208" y="1115568"/>
            <a:ext cx="868680"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Records</a:t>
            </a:r>
            <a:endParaRPr lang="en-US" sz="880" dirty="0"/>
          </a:p>
        </p:txBody>
      </p:sp>
      <p:sp>
        <p:nvSpPr>
          <p:cNvPr id="9" name="Text 7"/>
          <p:cNvSpPr/>
          <p:nvPr/>
        </p:nvSpPr>
        <p:spPr>
          <a:xfrm>
            <a:off x="4818888" y="1115568"/>
            <a:ext cx="6839712"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Technology direction</a:t>
            </a:r>
            <a:endParaRPr lang="en-US" sz="880" dirty="0"/>
          </a:p>
        </p:txBody>
      </p:sp>
      <p:sp>
        <p:nvSpPr>
          <p:cNvPr id="10" name="Text 8"/>
          <p:cNvSpPr/>
          <p:nvPr/>
        </p:nvSpPr>
        <p:spPr>
          <a:xfrm>
            <a:off x="502920" y="1499616"/>
            <a:ext cx="56692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6</a:t>
            </a:r>
            <a:endParaRPr lang="en-US" sz="880" dirty="0"/>
          </a:p>
        </p:txBody>
      </p:sp>
      <p:sp>
        <p:nvSpPr>
          <p:cNvPr id="11" name="Text 9"/>
          <p:cNvSpPr/>
          <p:nvPr/>
        </p:nvSpPr>
        <p:spPr>
          <a:xfrm>
            <a:off x="1069848" y="1499616"/>
            <a:ext cx="288036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20" b="1" dirty="0">
                <a:solidFill>
                  <a:srgbClr val="1F2937"/>
                </a:solidFill>
                <a:latin typeface="Aptos" pitchFamily="34" charset="0"/>
                <a:ea typeface="Aptos" pitchFamily="34" charset="-122"/>
                <a:cs typeface="Aptos" pitchFamily="34" charset="-120"/>
              </a:rPr>
              <a:t>LLM/prompt attacks and generative AI risk</a:t>
            </a:r>
            <a:endParaRPr lang="en-US" sz="1020" dirty="0"/>
          </a:p>
        </p:txBody>
      </p:sp>
      <p:sp>
        <p:nvSpPr>
          <p:cNvPr id="12" name="Text 10"/>
          <p:cNvSpPr/>
          <p:nvPr/>
        </p:nvSpPr>
        <p:spPr>
          <a:xfrm>
            <a:off x="3950208" y="1499616"/>
            <a:ext cx="868680"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81</a:t>
            </a:r>
            <a:endParaRPr lang="en-US" sz="880" dirty="0"/>
          </a:p>
        </p:txBody>
      </p:sp>
      <p:sp>
        <p:nvSpPr>
          <p:cNvPr id="13" name="Text 11"/>
          <p:cNvSpPr/>
          <p:nvPr/>
        </p:nvSpPr>
        <p:spPr>
          <a:xfrm>
            <a:off x="4818888" y="1499616"/>
            <a:ext cx="683971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00" dirty="0">
                <a:solidFill>
                  <a:srgbClr val="1F2937"/>
                </a:solidFill>
                <a:latin typeface="Aptos" pitchFamily="34" charset="0"/>
                <a:ea typeface="Aptos" pitchFamily="34" charset="-122"/>
                <a:cs typeface="Aptos" pitchFamily="34" charset="-120"/>
              </a:rPr>
              <a:t>Build guardrails, prompt/classification models and verification layers for GenAI outputs and tool invocation.</a:t>
            </a:r>
            <a:endParaRPr lang="en-US" sz="1000" dirty="0"/>
          </a:p>
        </p:txBody>
      </p:sp>
      <p:sp>
        <p:nvSpPr>
          <p:cNvPr id="14" name="Text 12"/>
          <p:cNvSpPr/>
          <p:nvPr/>
        </p:nvSpPr>
        <p:spPr>
          <a:xfrm>
            <a:off x="502920" y="2249424"/>
            <a:ext cx="56692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7</a:t>
            </a:r>
            <a:endParaRPr lang="en-US" sz="880" dirty="0"/>
          </a:p>
        </p:txBody>
      </p:sp>
      <p:sp>
        <p:nvSpPr>
          <p:cNvPr id="15" name="Text 13"/>
          <p:cNvSpPr/>
          <p:nvPr/>
        </p:nvSpPr>
        <p:spPr>
          <a:xfrm>
            <a:off x="1069848" y="2249424"/>
            <a:ext cx="288036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20" b="1" dirty="0">
                <a:solidFill>
                  <a:srgbClr val="1F2937"/>
                </a:solidFill>
                <a:latin typeface="Aptos" pitchFamily="34" charset="0"/>
                <a:ea typeface="Aptos" pitchFamily="34" charset="-122"/>
                <a:cs typeface="Aptos" pitchFamily="34" charset="-120"/>
              </a:rPr>
              <a:t>Automated remediation and security workflow</a:t>
            </a:r>
            <a:endParaRPr lang="en-US" sz="1020" dirty="0"/>
          </a:p>
        </p:txBody>
      </p:sp>
      <p:sp>
        <p:nvSpPr>
          <p:cNvPr id="16" name="Text 14"/>
          <p:cNvSpPr/>
          <p:nvPr/>
        </p:nvSpPr>
        <p:spPr>
          <a:xfrm>
            <a:off x="3950208" y="2249424"/>
            <a:ext cx="868680"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78</a:t>
            </a:r>
            <a:endParaRPr lang="en-US" sz="880" dirty="0"/>
          </a:p>
        </p:txBody>
      </p:sp>
      <p:sp>
        <p:nvSpPr>
          <p:cNvPr id="17" name="Text 15"/>
          <p:cNvSpPr/>
          <p:nvPr/>
        </p:nvSpPr>
        <p:spPr>
          <a:xfrm>
            <a:off x="4818888" y="2249424"/>
            <a:ext cx="683971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00" dirty="0">
                <a:solidFill>
                  <a:srgbClr val="1F2937"/>
                </a:solidFill>
                <a:latin typeface="Aptos" pitchFamily="34" charset="0"/>
                <a:ea typeface="Aptos" pitchFamily="34" charset="-122"/>
                <a:cs typeface="Aptos" pitchFamily="34" charset="-120"/>
              </a:rPr>
              <a:t>Convert detections into auditable automated actions, policy corrections and rollback-capable workflows.</a:t>
            </a:r>
            <a:endParaRPr lang="en-US" sz="1000" dirty="0"/>
          </a:p>
        </p:txBody>
      </p:sp>
      <p:sp>
        <p:nvSpPr>
          <p:cNvPr id="18" name="Text 16"/>
          <p:cNvSpPr/>
          <p:nvPr/>
        </p:nvSpPr>
        <p:spPr>
          <a:xfrm>
            <a:off x="502920" y="2999232"/>
            <a:ext cx="56692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8</a:t>
            </a:r>
            <a:endParaRPr lang="en-US" sz="880" dirty="0"/>
          </a:p>
        </p:txBody>
      </p:sp>
      <p:sp>
        <p:nvSpPr>
          <p:cNvPr id="19" name="Text 17"/>
          <p:cNvSpPr/>
          <p:nvPr/>
        </p:nvSpPr>
        <p:spPr>
          <a:xfrm>
            <a:off x="1069848" y="2999232"/>
            <a:ext cx="288036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20" b="1" dirty="0">
                <a:solidFill>
                  <a:srgbClr val="1F2937"/>
                </a:solidFill>
                <a:latin typeface="Aptos" pitchFamily="34" charset="0"/>
                <a:ea typeface="Aptos" pitchFamily="34" charset="-122"/>
                <a:cs typeface="Aptos" pitchFamily="34" charset="-120"/>
              </a:rPr>
              <a:t>Phishing, malware and malicious content</a:t>
            </a:r>
            <a:endParaRPr lang="en-US" sz="1020" dirty="0"/>
          </a:p>
        </p:txBody>
      </p:sp>
      <p:sp>
        <p:nvSpPr>
          <p:cNvPr id="20" name="Text 18"/>
          <p:cNvSpPr/>
          <p:nvPr/>
        </p:nvSpPr>
        <p:spPr>
          <a:xfrm>
            <a:off x="3950208" y="2999232"/>
            <a:ext cx="868680"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47</a:t>
            </a:r>
            <a:endParaRPr lang="en-US" sz="880" dirty="0"/>
          </a:p>
        </p:txBody>
      </p:sp>
      <p:sp>
        <p:nvSpPr>
          <p:cNvPr id="21" name="Text 19"/>
          <p:cNvSpPr/>
          <p:nvPr/>
        </p:nvSpPr>
        <p:spPr>
          <a:xfrm>
            <a:off x="4818888" y="2999232"/>
            <a:ext cx="683971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00" dirty="0">
                <a:solidFill>
                  <a:srgbClr val="1F2937"/>
                </a:solidFill>
                <a:latin typeface="Aptos" pitchFamily="34" charset="0"/>
                <a:ea typeface="Aptos" pitchFamily="34" charset="-122"/>
                <a:cs typeface="Aptos" pitchFamily="34" charset="-120"/>
              </a:rPr>
              <a:t>Use transformer/LLM, behavior and content signals to detect evasive URLs, malware variants and synthetic deception.</a:t>
            </a:r>
            <a:endParaRPr lang="en-US" sz="1000" dirty="0"/>
          </a:p>
        </p:txBody>
      </p:sp>
      <p:sp>
        <p:nvSpPr>
          <p:cNvPr id="22" name="Text 20"/>
          <p:cNvSpPr/>
          <p:nvPr/>
        </p:nvSpPr>
        <p:spPr>
          <a:xfrm>
            <a:off x="502920" y="3749040"/>
            <a:ext cx="56692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9</a:t>
            </a:r>
            <a:endParaRPr lang="en-US" sz="880" dirty="0"/>
          </a:p>
        </p:txBody>
      </p:sp>
      <p:sp>
        <p:nvSpPr>
          <p:cNvPr id="23" name="Text 21"/>
          <p:cNvSpPr/>
          <p:nvPr/>
        </p:nvSpPr>
        <p:spPr>
          <a:xfrm>
            <a:off x="1069848" y="3749040"/>
            <a:ext cx="288036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20" b="1" dirty="0">
                <a:solidFill>
                  <a:srgbClr val="1F2937"/>
                </a:solidFill>
                <a:latin typeface="Aptos" pitchFamily="34" charset="0"/>
                <a:ea typeface="Aptos" pitchFamily="34" charset="-122"/>
                <a:cs typeface="Aptos" pitchFamily="34" charset="-120"/>
              </a:rPr>
              <a:t>Data leakage, privacy and secrets protection</a:t>
            </a:r>
            <a:endParaRPr lang="en-US" sz="1020" dirty="0"/>
          </a:p>
        </p:txBody>
      </p:sp>
      <p:sp>
        <p:nvSpPr>
          <p:cNvPr id="24" name="Text 22"/>
          <p:cNvSpPr/>
          <p:nvPr/>
        </p:nvSpPr>
        <p:spPr>
          <a:xfrm>
            <a:off x="3950208" y="3749040"/>
            <a:ext cx="868680"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42</a:t>
            </a:r>
            <a:endParaRPr lang="en-US" sz="880" dirty="0"/>
          </a:p>
        </p:txBody>
      </p:sp>
      <p:sp>
        <p:nvSpPr>
          <p:cNvPr id="25" name="Text 23"/>
          <p:cNvSpPr/>
          <p:nvPr/>
        </p:nvSpPr>
        <p:spPr>
          <a:xfrm>
            <a:off x="4818888" y="3749040"/>
            <a:ext cx="683971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00" dirty="0">
                <a:solidFill>
                  <a:srgbClr val="1F2937"/>
                </a:solidFill>
                <a:latin typeface="Aptos" pitchFamily="34" charset="0"/>
                <a:ea typeface="Aptos" pitchFamily="34" charset="-122"/>
                <a:cs typeface="Aptos" pitchFamily="34" charset="-120"/>
              </a:rPr>
              <a:t>Detect leakage in AI, cloud and network workflows while preserving privacy and secrets at runtime.</a:t>
            </a:r>
            <a:endParaRPr lang="en-US" sz="1000" dirty="0"/>
          </a:p>
        </p:txBody>
      </p:sp>
      <p:sp>
        <p:nvSpPr>
          <p:cNvPr id="26" name="Text 24"/>
          <p:cNvSpPr/>
          <p:nvPr/>
        </p:nvSpPr>
        <p:spPr>
          <a:xfrm>
            <a:off x="502920" y="4498848"/>
            <a:ext cx="566928"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10</a:t>
            </a:r>
            <a:endParaRPr lang="en-US" sz="880" dirty="0"/>
          </a:p>
        </p:txBody>
      </p:sp>
      <p:sp>
        <p:nvSpPr>
          <p:cNvPr id="27" name="Text 25"/>
          <p:cNvSpPr/>
          <p:nvPr/>
        </p:nvSpPr>
        <p:spPr>
          <a:xfrm>
            <a:off x="1069848" y="4498848"/>
            <a:ext cx="2880360"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20" b="1" dirty="0">
                <a:solidFill>
                  <a:srgbClr val="1F2937"/>
                </a:solidFill>
                <a:latin typeface="Aptos" pitchFamily="34" charset="0"/>
                <a:ea typeface="Aptos" pitchFamily="34" charset="-122"/>
                <a:cs typeface="Aptos" pitchFamily="34" charset="-120"/>
              </a:rPr>
              <a:t>Secure software, CI/CD and supply chain</a:t>
            </a:r>
            <a:endParaRPr lang="en-US" sz="1020" dirty="0"/>
          </a:p>
        </p:txBody>
      </p:sp>
      <p:sp>
        <p:nvSpPr>
          <p:cNvPr id="28" name="Text 26"/>
          <p:cNvSpPr/>
          <p:nvPr/>
        </p:nvSpPr>
        <p:spPr>
          <a:xfrm>
            <a:off x="3950208" y="4498848"/>
            <a:ext cx="868680" cy="749808"/>
          </a:xfrm>
          <a:prstGeom prst="rect">
            <a:avLst/>
          </a:prstGeom>
          <a:solidFill>
            <a:srgbClr val="FFFFFF"/>
          </a:solidFill>
          <a:ln>
            <a:solidFill>
              <a:srgbClr val="D9E2EC"/>
            </a:solidFill>
          </a:ln>
        </p:spPr>
        <p:txBody>
          <a:bodyPr wrap="square" lIns="699" tIns="699" rIns="699" bIns="699" rtlCol="0" anchor="ctr">
            <a:normAutofit/>
          </a:bodyPr>
          <a:lstStyle/>
          <a:p>
            <a:pPr algn="ctr" indent="0" marL="0">
              <a:buNone/>
            </a:pPr>
            <a:r>
              <a:rPr lang="en-US" sz="880" b="1" dirty="0">
                <a:solidFill>
                  <a:srgbClr val="1F2937"/>
                </a:solidFill>
                <a:latin typeface="Aptos" pitchFamily="34" charset="0"/>
                <a:ea typeface="Aptos" pitchFamily="34" charset="-122"/>
                <a:cs typeface="Aptos" pitchFamily="34" charset="-120"/>
              </a:rPr>
              <a:t>22</a:t>
            </a:r>
            <a:endParaRPr lang="en-US" sz="880" dirty="0"/>
          </a:p>
        </p:txBody>
      </p:sp>
      <p:sp>
        <p:nvSpPr>
          <p:cNvPr id="29" name="Text 27"/>
          <p:cNvSpPr/>
          <p:nvPr/>
        </p:nvSpPr>
        <p:spPr>
          <a:xfrm>
            <a:off x="4818888" y="4498848"/>
            <a:ext cx="6839712" cy="74980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1000" dirty="0">
                <a:solidFill>
                  <a:srgbClr val="1F2937"/>
                </a:solidFill>
                <a:latin typeface="Aptos" pitchFamily="34" charset="0"/>
                <a:ea typeface="Aptos" pitchFamily="34" charset="-122"/>
                <a:cs typeface="Aptos" pitchFamily="34" charset="-120"/>
              </a:rPr>
              <a:t>Embed detection, static analysis and package-risk evaluation directly into CI/CD and developer tooling.</a:t>
            </a:r>
            <a:endParaRPr lang="en-US" sz="1000" dirty="0"/>
          </a:p>
        </p:txBody>
      </p:sp>
      <p:sp>
        <p:nvSpPr>
          <p:cNvPr id="30" name="Text 28"/>
          <p:cNvSpPr/>
          <p:nvPr/>
        </p:nvSpPr>
        <p:spPr>
          <a:xfrm>
            <a:off x="685800" y="5687568"/>
            <a:ext cx="10789920" cy="530352"/>
          </a:xfrm>
          <a:prstGeom prst="rect">
            <a:avLst/>
          </a:prstGeom>
          <a:solidFill>
            <a:srgbClr val="EAF3F8"/>
          </a:solidFill>
          <a:ln>
            <a:solidFill>
              <a:srgbClr val="EAF3F8"/>
            </a:solidFill>
          </a:ln>
        </p:spPr>
        <p:txBody>
          <a:bodyPr wrap="square" lIns="1397" tIns="1397" rIns="1397" bIns="1397" rtlCol="0" anchor="ctr">
            <a:normAutofit/>
          </a:bodyPr>
          <a:lstStyle/>
          <a:p>
            <a:pPr indent="0" marL="0">
              <a:buNone/>
            </a:pPr>
            <a:r>
              <a:rPr lang="en-US" sz="920" dirty="0">
                <a:solidFill>
                  <a:srgbClr val="1F2937"/>
                </a:solidFill>
                <a:latin typeface="Aptos" pitchFamily="34" charset="0"/>
                <a:ea typeface="Aptos" pitchFamily="34" charset="-122"/>
                <a:cs typeface="Aptos" pitchFamily="34" charset="-120"/>
              </a:rPr>
              <a:t>Whitespace reading: Data and Privacy Protection, secure software and malware/phishing have lower primary-category counts than Threat Detection and Response and Network and Cloud Security, but may produce stronger differentiated inventions when combined with AI model, cloud or identity contexts.</a:t>
            </a:r>
            <a:endParaRPr lang="en-US" sz="9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Ideation opportunities (1 of 2)</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Opportunity areas derived from category counts, problem themes and repeated technology directions.</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502920" y="1097280"/>
            <a:ext cx="224028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Opportunity</a:t>
            </a:r>
            <a:endParaRPr lang="en-US" sz="880" dirty="0"/>
          </a:p>
        </p:txBody>
      </p:sp>
      <p:sp>
        <p:nvSpPr>
          <p:cNvPr id="7" name="Text 5"/>
          <p:cNvSpPr/>
          <p:nvPr/>
        </p:nvSpPr>
        <p:spPr>
          <a:xfrm>
            <a:off x="2743200" y="1097280"/>
            <a:ext cx="374904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Problem signal</a:t>
            </a:r>
            <a:endParaRPr lang="en-US" sz="880" dirty="0"/>
          </a:p>
        </p:txBody>
      </p:sp>
      <p:sp>
        <p:nvSpPr>
          <p:cNvPr id="8" name="Text 6"/>
          <p:cNvSpPr/>
          <p:nvPr/>
        </p:nvSpPr>
        <p:spPr>
          <a:xfrm>
            <a:off x="6492240" y="1097280"/>
            <a:ext cx="521208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Patentable direction</a:t>
            </a:r>
            <a:endParaRPr lang="en-US" sz="880" dirty="0"/>
          </a:p>
        </p:txBody>
      </p:sp>
      <p:sp>
        <p:nvSpPr>
          <p:cNvPr id="9" name="Text 7"/>
          <p:cNvSpPr/>
          <p:nvPr/>
        </p:nvSpPr>
        <p:spPr>
          <a:xfrm>
            <a:off x="502920" y="1444752"/>
            <a:ext cx="22402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40" b="1" dirty="0">
                <a:solidFill>
                  <a:srgbClr val="17324D"/>
                </a:solidFill>
                <a:latin typeface="Aptos" pitchFamily="34" charset="0"/>
                <a:ea typeface="Aptos" pitchFamily="34" charset="-122"/>
                <a:cs typeface="Aptos" pitchFamily="34" charset="-120"/>
              </a:rPr>
              <a:t>LLM security control plane</a:t>
            </a:r>
            <a:endParaRPr lang="en-US" sz="940" dirty="0"/>
          </a:p>
        </p:txBody>
      </p:sp>
      <p:sp>
        <p:nvSpPr>
          <p:cNvPr id="10" name="Text 8"/>
          <p:cNvSpPr/>
          <p:nvPr/>
        </p:nvSpPr>
        <p:spPr>
          <a:xfrm>
            <a:off x="2743200" y="1444752"/>
            <a:ext cx="374904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Enterprise GenAI creates prompt-injection, data-leakage and hallucination risks.</a:t>
            </a:r>
            <a:endParaRPr lang="en-US" sz="910" dirty="0"/>
          </a:p>
        </p:txBody>
      </p:sp>
      <p:sp>
        <p:nvSpPr>
          <p:cNvPr id="11" name="Text 9"/>
          <p:cNvSpPr/>
          <p:nvPr/>
        </p:nvSpPr>
        <p:spPr>
          <a:xfrm>
            <a:off x="6492240" y="1444752"/>
            <a:ext cx="52120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Claim around policy-driven prompt inspection, tool-call verification, output validation and audit trails.</a:t>
            </a:r>
            <a:endParaRPr lang="en-US" sz="910" dirty="0"/>
          </a:p>
        </p:txBody>
      </p:sp>
      <p:sp>
        <p:nvSpPr>
          <p:cNvPr id="12" name="Text 10"/>
          <p:cNvSpPr/>
          <p:nvPr/>
        </p:nvSpPr>
        <p:spPr>
          <a:xfrm>
            <a:off x="502920" y="2377440"/>
            <a:ext cx="22402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40" b="1" dirty="0">
                <a:solidFill>
                  <a:srgbClr val="17324D"/>
                </a:solidFill>
                <a:latin typeface="Aptos" pitchFamily="34" charset="0"/>
                <a:ea typeface="Aptos" pitchFamily="34" charset="-122"/>
                <a:cs typeface="Aptos" pitchFamily="34" charset="-120"/>
              </a:rPr>
              <a:t>Explainable autonomous SOC triage</a:t>
            </a:r>
            <a:endParaRPr lang="en-US" sz="940" dirty="0"/>
          </a:p>
        </p:txBody>
      </p:sp>
      <p:sp>
        <p:nvSpPr>
          <p:cNvPr id="13" name="Text 11"/>
          <p:cNvSpPr/>
          <p:nvPr/>
        </p:nvSpPr>
        <p:spPr>
          <a:xfrm>
            <a:off x="2743200" y="2377440"/>
            <a:ext cx="374904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Alert and SOC problem volume is the highest in the dataset.</a:t>
            </a:r>
            <a:endParaRPr lang="en-US" sz="910" dirty="0"/>
          </a:p>
        </p:txBody>
      </p:sp>
      <p:sp>
        <p:nvSpPr>
          <p:cNvPr id="14" name="Text 12"/>
          <p:cNvSpPr/>
          <p:nvPr/>
        </p:nvSpPr>
        <p:spPr>
          <a:xfrm>
            <a:off x="6492240" y="2377440"/>
            <a:ext cx="52120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Rank incidents using evidence graphs, generate response actions, and capture analyst feedback for model updates.</a:t>
            </a:r>
            <a:endParaRPr lang="en-US" sz="910" dirty="0"/>
          </a:p>
        </p:txBody>
      </p:sp>
      <p:sp>
        <p:nvSpPr>
          <p:cNvPr id="15" name="Text 13"/>
          <p:cNvSpPr/>
          <p:nvPr/>
        </p:nvSpPr>
        <p:spPr>
          <a:xfrm>
            <a:off x="502920" y="3310128"/>
            <a:ext cx="22402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40" b="1" dirty="0">
                <a:solidFill>
                  <a:srgbClr val="17324D"/>
                </a:solidFill>
                <a:latin typeface="Aptos" pitchFamily="34" charset="0"/>
                <a:ea typeface="Aptos" pitchFamily="34" charset="-122"/>
                <a:cs typeface="Aptos" pitchFamily="34" charset="-120"/>
              </a:rPr>
              <a:t>Exposure-aware vulnerability prioritization</a:t>
            </a:r>
            <a:endParaRPr lang="en-US" sz="940" dirty="0"/>
          </a:p>
        </p:txBody>
      </p:sp>
      <p:sp>
        <p:nvSpPr>
          <p:cNvPr id="16" name="Text 14"/>
          <p:cNvSpPr/>
          <p:nvPr/>
        </p:nvSpPr>
        <p:spPr>
          <a:xfrm>
            <a:off x="2743200" y="3310128"/>
            <a:ext cx="374904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Risk and vulnerability filings concentrate on scoring, posture and exploit context.</a:t>
            </a:r>
            <a:endParaRPr lang="en-US" sz="910" dirty="0"/>
          </a:p>
        </p:txBody>
      </p:sp>
      <p:sp>
        <p:nvSpPr>
          <p:cNvPr id="17" name="Text 15"/>
          <p:cNvSpPr/>
          <p:nvPr/>
        </p:nvSpPr>
        <p:spPr>
          <a:xfrm>
            <a:off x="6492240" y="3310128"/>
            <a:ext cx="52120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Fuse asset criticality, exploit proof, threat-intel recency and compensating controls into a dynamic priority score.</a:t>
            </a:r>
            <a:endParaRPr lang="en-US" sz="910" dirty="0"/>
          </a:p>
        </p:txBody>
      </p:sp>
      <p:sp>
        <p:nvSpPr>
          <p:cNvPr id="18" name="Text 16"/>
          <p:cNvSpPr/>
          <p:nvPr/>
        </p:nvSpPr>
        <p:spPr>
          <a:xfrm>
            <a:off x="502920" y="4242816"/>
            <a:ext cx="22402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40" b="1" dirty="0">
                <a:solidFill>
                  <a:srgbClr val="17324D"/>
                </a:solidFill>
                <a:latin typeface="Aptos" pitchFamily="34" charset="0"/>
                <a:ea typeface="Aptos" pitchFamily="34" charset="-122"/>
                <a:cs typeface="Aptos" pitchFamily="34" charset="-120"/>
              </a:rPr>
              <a:t>Least-privilege remediation for cloud workloads</a:t>
            </a:r>
            <a:endParaRPr lang="en-US" sz="940" dirty="0"/>
          </a:p>
        </p:txBody>
      </p:sp>
      <p:sp>
        <p:nvSpPr>
          <p:cNvPr id="19" name="Text 17"/>
          <p:cNvSpPr/>
          <p:nvPr/>
        </p:nvSpPr>
        <p:spPr>
          <a:xfrm>
            <a:off x="2743200" y="4242816"/>
            <a:ext cx="374904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Cloud and identity overlap suggests pain around permissions, roles and workload posture.</a:t>
            </a:r>
            <a:endParaRPr lang="en-US" sz="910" dirty="0"/>
          </a:p>
        </p:txBody>
      </p:sp>
      <p:sp>
        <p:nvSpPr>
          <p:cNvPr id="20" name="Text 18"/>
          <p:cNvSpPr/>
          <p:nvPr/>
        </p:nvSpPr>
        <p:spPr>
          <a:xfrm>
            <a:off x="6492240" y="4242816"/>
            <a:ext cx="52120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Recommend and verify minimal permission changes using observed runtime behavior and policy simulation.</a:t>
            </a:r>
            <a:endParaRPr lang="en-US" sz="910" dirty="0"/>
          </a:p>
        </p:txBody>
      </p:sp>
      <p:sp>
        <p:nvSpPr>
          <p:cNvPr id="21" name="Text 19"/>
          <p:cNvSpPr/>
          <p:nvPr/>
        </p:nvSpPr>
        <p:spPr>
          <a:xfrm>
            <a:off x="685800" y="5806440"/>
            <a:ext cx="10789920" cy="457200"/>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Use these as invention directions, not as final claim language. Each direction still needs novelty search, claim charting and enablement review.</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Ideation opportunities (2 of 2)</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Remaining opportunity areas linked to category and problem evidence in the workbook.</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502920" y="1097280"/>
            <a:ext cx="224028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Opportunity</a:t>
            </a:r>
            <a:endParaRPr lang="en-US" sz="880" dirty="0"/>
          </a:p>
        </p:txBody>
      </p:sp>
      <p:sp>
        <p:nvSpPr>
          <p:cNvPr id="7" name="Text 5"/>
          <p:cNvSpPr/>
          <p:nvPr/>
        </p:nvSpPr>
        <p:spPr>
          <a:xfrm>
            <a:off x="2743200" y="1097280"/>
            <a:ext cx="374904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Problem signal</a:t>
            </a:r>
            <a:endParaRPr lang="en-US" sz="880" dirty="0"/>
          </a:p>
        </p:txBody>
      </p:sp>
      <p:sp>
        <p:nvSpPr>
          <p:cNvPr id="8" name="Text 6"/>
          <p:cNvSpPr/>
          <p:nvPr/>
        </p:nvSpPr>
        <p:spPr>
          <a:xfrm>
            <a:off x="6492240" y="1097280"/>
            <a:ext cx="5212080" cy="347472"/>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Patentable direction</a:t>
            </a:r>
            <a:endParaRPr lang="en-US" sz="880" dirty="0"/>
          </a:p>
        </p:txBody>
      </p:sp>
      <p:sp>
        <p:nvSpPr>
          <p:cNvPr id="9" name="Text 7"/>
          <p:cNvSpPr/>
          <p:nvPr/>
        </p:nvSpPr>
        <p:spPr>
          <a:xfrm>
            <a:off x="502920" y="1444752"/>
            <a:ext cx="22402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40" b="1" dirty="0">
                <a:solidFill>
                  <a:srgbClr val="17324D"/>
                </a:solidFill>
                <a:latin typeface="Aptos" pitchFamily="34" charset="0"/>
                <a:ea typeface="Aptos" pitchFamily="34" charset="-122"/>
                <a:cs typeface="Aptos" pitchFamily="34" charset="-120"/>
              </a:rPr>
              <a:t>Synthetic malware and phishing hardening</a:t>
            </a:r>
            <a:endParaRPr lang="en-US" sz="940" dirty="0"/>
          </a:p>
        </p:txBody>
      </p:sp>
      <p:sp>
        <p:nvSpPr>
          <p:cNvPr id="10" name="Text 8"/>
          <p:cNvSpPr/>
          <p:nvPr/>
        </p:nvSpPr>
        <p:spPr>
          <a:xfrm>
            <a:off x="2743200" y="1444752"/>
            <a:ext cx="374904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Malware and phishing has lower count than detection but uses GenAI and classifier-hardening techniques.</a:t>
            </a:r>
            <a:endParaRPr lang="en-US" sz="910" dirty="0"/>
          </a:p>
        </p:txBody>
      </p:sp>
      <p:sp>
        <p:nvSpPr>
          <p:cNvPr id="11" name="Text 9"/>
          <p:cNvSpPr/>
          <p:nvPr/>
        </p:nvSpPr>
        <p:spPr>
          <a:xfrm>
            <a:off x="6492240" y="1444752"/>
            <a:ext cx="52120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Generate safe synthetic variants, evaluate detector drift and update classifiers without live harmful samples.</a:t>
            </a:r>
            <a:endParaRPr lang="en-US" sz="910" dirty="0"/>
          </a:p>
        </p:txBody>
      </p:sp>
      <p:sp>
        <p:nvSpPr>
          <p:cNvPr id="12" name="Text 10"/>
          <p:cNvSpPr/>
          <p:nvPr/>
        </p:nvSpPr>
        <p:spPr>
          <a:xfrm>
            <a:off x="502920" y="2377440"/>
            <a:ext cx="22402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40" b="1" dirty="0">
                <a:solidFill>
                  <a:srgbClr val="17324D"/>
                </a:solidFill>
                <a:latin typeface="Aptos" pitchFamily="34" charset="0"/>
                <a:ea typeface="Aptos" pitchFamily="34" charset="-122"/>
                <a:cs typeface="Aptos" pitchFamily="34" charset="-120"/>
              </a:rPr>
              <a:t>Privacy-preserving threat intelligence sharing</a:t>
            </a:r>
            <a:endParaRPr lang="en-US" sz="940" dirty="0"/>
          </a:p>
        </p:txBody>
      </p:sp>
      <p:sp>
        <p:nvSpPr>
          <p:cNvPr id="13" name="Text 11"/>
          <p:cNvSpPr/>
          <p:nvPr/>
        </p:nvSpPr>
        <p:spPr>
          <a:xfrm>
            <a:off x="2743200" y="2377440"/>
            <a:ext cx="374904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Data and Privacy Protection is a low-count category, indicating potential whitespace.</a:t>
            </a:r>
            <a:endParaRPr lang="en-US" sz="910" dirty="0"/>
          </a:p>
        </p:txBody>
      </p:sp>
      <p:sp>
        <p:nvSpPr>
          <p:cNvPr id="14" name="Text 12"/>
          <p:cNvSpPr/>
          <p:nvPr/>
        </p:nvSpPr>
        <p:spPr>
          <a:xfrm>
            <a:off x="6492240" y="2377440"/>
            <a:ext cx="52120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Federated or privacy-preserving telemetry exchange for cross-tenant threat models without exposing raw logs.</a:t>
            </a:r>
            <a:endParaRPr lang="en-US" sz="910" dirty="0"/>
          </a:p>
        </p:txBody>
      </p:sp>
      <p:sp>
        <p:nvSpPr>
          <p:cNvPr id="15" name="Text 13"/>
          <p:cNvSpPr/>
          <p:nvPr/>
        </p:nvSpPr>
        <p:spPr>
          <a:xfrm>
            <a:off x="502920" y="3310128"/>
            <a:ext cx="22402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40" b="1" dirty="0">
                <a:solidFill>
                  <a:srgbClr val="17324D"/>
                </a:solidFill>
                <a:latin typeface="Aptos" pitchFamily="34" charset="0"/>
                <a:ea typeface="Aptos" pitchFamily="34" charset="-122"/>
                <a:cs typeface="Aptos" pitchFamily="34" charset="-120"/>
              </a:rPr>
              <a:t>CI/CD security copilot with guardrails</a:t>
            </a:r>
            <a:endParaRPr lang="en-US" sz="940" dirty="0"/>
          </a:p>
        </p:txBody>
      </p:sp>
      <p:sp>
        <p:nvSpPr>
          <p:cNvPr id="16" name="Text 14"/>
          <p:cNvSpPr/>
          <p:nvPr/>
        </p:nvSpPr>
        <p:spPr>
          <a:xfrm>
            <a:off x="2743200" y="3310128"/>
            <a:ext cx="374904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Secure software and CI/CD appears as a focused problem with limited patent density.</a:t>
            </a:r>
            <a:endParaRPr lang="en-US" sz="910" dirty="0"/>
          </a:p>
        </p:txBody>
      </p:sp>
      <p:sp>
        <p:nvSpPr>
          <p:cNvPr id="17" name="Text 15"/>
          <p:cNvSpPr/>
          <p:nvPr/>
        </p:nvSpPr>
        <p:spPr>
          <a:xfrm>
            <a:off x="6492240" y="3310128"/>
            <a:ext cx="52120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Detect risky changes, map code findings to attack paths, and gate deployment with explainable remediation.</a:t>
            </a:r>
            <a:endParaRPr lang="en-US" sz="910" dirty="0"/>
          </a:p>
        </p:txBody>
      </p:sp>
      <p:sp>
        <p:nvSpPr>
          <p:cNvPr id="18" name="Text 16"/>
          <p:cNvSpPr/>
          <p:nvPr/>
        </p:nvSpPr>
        <p:spPr>
          <a:xfrm>
            <a:off x="502920" y="4242816"/>
            <a:ext cx="22402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40" b="1" dirty="0">
                <a:solidFill>
                  <a:srgbClr val="17324D"/>
                </a:solidFill>
                <a:latin typeface="Aptos" pitchFamily="34" charset="0"/>
                <a:ea typeface="Aptos" pitchFamily="34" charset="-122"/>
                <a:cs typeface="Aptos" pitchFamily="34" charset="-120"/>
              </a:rPr>
              <a:t>Edge/IoT behavioral baseline defense</a:t>
            </a:r>
            <a:endParaRPr lang="en-US" sz="940" dirty="0"/>
          </a:p>
        </p:txBody>
      </p:sp>
      <p:sp>
        <p:nvSpPr>
          <p:cNvPr id="19" name="Text 17"/>
          <p:cNvSpPr/>
          <p:nvPr/>
        </p:nvSpPr>
        <p:spPr>
          <a:xfrm>
            <a:off x="2743200" y="4242816"/>
            <a:ext cx="374904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Network and device anomaly filings are high but edge/IoT environments remain heterogeneous.</a:t>
            </a:r>
            <a:endParaRPr lang="en-US" sz="910" dirty="0"/>
          </a:p>
        </p:txBody>
      </p:sp>
      <p:sp>
        <p:nvSpPr>
          <p:cNvPr id="20" name="Text 18"/>
          <p:cNvSpPr/>
          <p:nvPr/>
        </p:nvSpPr>
        <p:spPr>
          <a:xfrm>
            <a:off x="6492240" y="4242816"/>
            <a:ext cx="5212080" cy="932688"/>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910" dirty="0">
                <a:solidFill>
                  <a:srgbClr val="1F2937"/>
                </a:solidFill>
                <a:latin typeface="Aptos" pitchFamily="34" charset="0"/>
                <a:ea typeface="Aptos" pitchFamily="34" charset="-122"/>
                <a:cs typeface="Aptos" pitchFamily="34" charset="-120"/>
              </a:rPr>
              <a:t>Lightweight local anomaly baselines with cloud-assisted model updates and attack-confidence scoring.</a:t>
            </a:r>
            <a:endParaRPr lang="en-US" sz="910" dirty="0"/>
          </a:p>
        </p:txBody>
      </p:sp>
      <p:sp>
        <p:nvSpPr>
          <p:cNvPr id="21" name="Text 19"/>
          <p:cNvSpPr/>
          <p:nvPr/>
        </p:nvSpPr>
        <p:spPr>
          <a:xfrm>
            <a:off x="685800" y="5806440"/>
            <a:ext cx="10789920" cy="457200"/>
          </a:xfrm>
          <a:prstGeom prst="rect">
            <a:avLst/>
          </a:prstGeom>
          <a:solidFill>
            <a:srgbClr val="E8F5E9"/>
          </a:solidFill>
          <a:ln>
            <a:solidFill>
              <a:srgbClr val="E8F5E9"/>
            </a:solidFill>
          </a:ln>
        </p:spPr>
        <p:txBody>
          <a:bodyPr wrap="square" lIns="1397" tIns="1397" rIns="1397" bIns="1397" rtlCol="0" anchor="ctr">
            <a:normAutofit/>
          </a:bodyPr>
          <a:lstStyle/>
          <a:p>
            <a:pPr indent="0" marL="0">
              <a:buNone/>
            </a:pPr>
            <a:r>
              <a:rPr lang="en-US" sz="950" dirty="0">
                <a:solidFill>
                  <a:srgbClr val="1F2937"/>
                </a:solidFill>
                <a:latin typeface="Aptos" pitchFamily="34" charset="0"/>
                <a:ea typeface="Aptos" pitchFamily="34" charset="-122"/>
                <a:cs typeface="Aptos" pitchFamily="34" charset="-120"/>
              </a:rPr>
              <a:t>Best patentability route: combine a concrete data source, model architecture, security decision, feedback mechanism and deployment context.</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Strategic white-space reading</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A practical interpretation of where invention effort may be easier to differentiate within this dataset.</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pic>
        <p:nvPicPr>
          <p:cNvPr id="6" name="Image 0" descr="/mnt/data/cyber_images/datacenter_lock.jpg">    </p:cNvPr>
          <p:cNvPicPr>
            <a:picLocks noChangeAspect="1"/>
          </p:cNvPicPr>
          <p:nvPr/>
        </p:nvPicPr>
        <p:blipFill>
          <a:blip r:embed="rId1"/>
          <a:srcRect l="0" r="0" t="10127" b="10127"/>
          <a:stretch/>
        </p:blipFill>
        <p:spPr>
          <a:xfrm>
            <a:off x="7818120" y="1143000"/>
            <a:ext cx="3611880" cy="2057400"/>
          </a:xfrm>
          <a:prstGeom prst="rect">
            <a:avLst/>
          </a:prstGeom>
        </p:spPr>
      </p:pic>
      <p:sp>
        <p:nvSpPr>
          <p:cNvPr id="7" name="Text 4"/>
          <p:cNvSpPr/>
          <p:nvPr/>
        </p:nvSpPr>
        <p:spPr>
          <a:xfrm>
            <a:off x="685800" y="1234440"/>
            <a:ext cx="3108960" cy="201168"/>
          </a:xfrm>
          <a:prstGeom prst="rect">
            <a:avLst/>
          </a:prstGeom>
          <a:noFill/>
          <a:ln/>
        </p:spPr>
        <p:txBody>
          <a:bodyPr wrap="square" lIns="0" tIns="0" rIns="0" bIns="0" rtlCol="0" anchor="ctr">
            <a:normAutofit/>
          </a:bodyPr>
          <a:lstStyle/>
          <a:p>
            <a:pPr indent="0" marL="0">
              <a:buNone/>
            </a:pPr>
            <a:r>
              <a:rPr lang="en-US" sz="1050" b="1" dirty="0">
                <a:solidFill>
                  <a:srgbClr val="EF4444"/>
                </a:solidFill>
                <a:latin typeface="Aptos" pitchFamily="34" charset="0"/>
                <a:ea typeface="Aptos" pitchFamily="34" charset="-122"/>
                <a:cs typeface="Aptos" pitchFamily="34" charset="-120"/>
              </a:rPr>
              <a:t>Crowded zones</a:t>
            </a:r>
            <a:endParaRPr lang="en-US" sz="1050" dirty="0"/>
          </a:p>
        </p:txBody>
      </p:sp>
      <p:sp>
        <p:nvSpPr>
          <p:cNvPr id="8" name="Shape 5"/>
          <p:cNvSpPr/>
          <p:nvPr/>
        </p:nvSpPr>
        <p:spPr>
          <a:xfrm>
            <a:off x="685800" y="1490472"/>
            <a:ext cx="3108960" cy="0"/>
          </a:xfrm>
          <a:prstGeom prst="line">
            <a:avLst/>
          </a:prstGeom>
          <a:noFill/>
          <a:ln w="12700">
            <a:solidFill>
              <a:srgbClr val="EF4444"/>
            </a:solidFill>
            <a:prstDash val="solid"/>
          </a:ln>
        </p:spPr>
      </p:sp>
      <p:sp>
        <p:nvSpPr>
          <p:cNvPr id="9" name="Text 6"/>
          <p:cNvSpPr/>
          <p:nvPr/>
        </p:nvSpPr>
        <p:spPr>
          <a:xfrm>
            <a:off x="685800" y="1645920"/>
            <a:ext cx="6400800" cy="960120"/>
          </a:xfrm>
          <a:prstGeom prst="rect">
            <a:avLst/>
          </a:prstGeom>
          <a:solidFill>
            <a:srgbClr val="FFF7E6"/>
          </a:solidFill>
          <a:ln>
            <a:solidFill>
              <a:srgbClr val="FFF7E6"/>
            </a:solidFill>
          </a:ln>
        </p:spPr>
        <p:txBody>
          <a:bodyPr wrap="square" lIns="1397" tIns="1397" rIns="1397" bIns="1397" rtlCol="0" anchor="ctr">
            <a:normAutofit/>
          </a:bodyPr>
          <a:lstStyle/>
          <a:p>
            <a:pPr indent="0" marL="0">
              <a:buNone/>
            </a:pPr>
            <a:r>
              <a:rPr lang="en-US" sz="1030" dirty="0">
                <a:solidFill>
                  <a:srgbClr val="1F2937"/>
                </a:solidFill>
                <a:latin typeface="Aptos" pitchFamily="34" charset="0"/>
                <a:ea typeface="Aptos" pitchFamily="34" charset="-122"/>
                <a:cs typeface="Aptos" pitchFamily="34" charset="-120"/>
              </a:rPr>
              <a:t>High-volume categories are Threat Detection and Response (258), Network and Cloud Security (146), Vulnerability and Risk Management (75). These areas need tighter claim differentiation around data fusion, feedback, explainability, model update path or deployment environment.</a:t>
            </a:r>
            <a:endParaRPr lang="en-US" sz="1030" dirty="0"/>
          </a:p>
        </p:txBody>
      </p:sp>
      <p:sp>
        <p:nvSpPr>
          <p:cNvPr id="10" name="Text 7"/>
          <p:cNvSpPr/>
          <p:nvPr/>
        </p:nvSpPr>
        <p:spPr>
          <a:xfrm>
            <a:off x="685800" y="2971800"/>
            <a:ext cx="3108960" cy="201168"/>
          </a:xfrm>
          <a:prstGeom prst="rect">
            <a:avLst/>
          </a:prstGeom>
          <a:noFill/>
          <a:ln/>
        </p:spPr>
        <p:txBody>
          <a:bodyPr wrap="square" lIns="0" tIns="0" rIns="0" bIns="0" rtlCol="0" anchor="ctr">
            <a:normAutofit/>
          </a:bodyPr>
          <a:lstStyle/>
          <a:p>
            <a:pPr indent="0" marL="0">
              <a:buNone/>
            </a:pPr>
            <a:r>
              <a:rPr lang="en-US" sz="1050" b="1" dirty="0">
                <a:solidFill>
                  <a:srgbClr val="16A34A"/>
                </a:solidFill>
                <a:latin typeface="Aptos" pitchFamily="34" charset="0"/>
                <a:ea typeface="Aptos" pitchFamily="34" charset="-122"/>
                <a:cs typeface="Aptos" pitchFamily="34" charset="-120"/>
              </a:rPr>
              <a:t>Lower-count zones</a:t>
            </a:r>
            <a:endParaRPr lang="en-US" sz="1050" dirty="0"/>
          </a:p>
        </p:txBody>
      </p:sp>
      <p:sp>
        <p:nvSpPr>
          <p:cNvPr id="11" name="Shape 8"/>
          <p:cNvSpPr/>
          <p:nvPr/>
        </p:nvSpPr>
        <p:spPr>
          <a:xfrm>
            <a:off x="685800" y="3227832"/>
            <a:ext cx="3108960" cy="0"/>
          </a:xfrm>
          <a:prstGeom prst="line">
            <a:avLst/>
          </a:prstGeom>
          <a:noFill/>
          <a:ln w="12700">
            <a:solidFill>
              <a:srgbClr val="16A34A"/>
            </a:solidFill>
            <a:prstDash val="solid"/>
          </a:ln>
        </p:spPr>
      </p:sp>
      <p:sp>
        <p:nvSpPr>
          <p:cNvPr id="12" name="Text 9"/>
          <p:cNvSpPr/>
          <p:nvPr/>
        </p:nvSpPr>
        <p:spPr>
          <a:xfrm>
            <a:off x="685800" y="3383280"/>
            <a:ext cx="6400800" cy="960120"/>
          </a:xfrm>
          <a:prstGeom prst="rect">
            <a:avLst/>
          </a:prstGeom>
          <a:solidFill>
            <a:srgbClr val="E8F5E9"/>
          </a:solidFill>
          <a:ln>
            <a:solidFill>
              <a:srgbClr val="E8F5E9"/>
            </a:solidFill>
          </a:ln>
        </p:spPr>
        <p:txBody>
          <a:bodyPr wrap="square" lIns="1397" tIns="1397" rIns="1397" bIns="1397" rtlCol="0" anchor="ctr">
            <a:normAutofit/>
          </a:bodyPr>
          <a:lstStyle/>
          <a:p>
            <a:pPr indent="0" marL="0">
              <a:buNone/>
            </a:pPr>
            <a:r>
              <a:rPr lang="en-US" sz="1030" dirty="0">
                <a:solidFill>
                  <a:srgbClr val="1F2937"/>
                </a:solidFill>
                <a:latin typeface="Aptos" pitchFamily="34" charset="0"/>
                <a:ea typeface="Aptos" pitchFamily="34" charset="-122"/>
                <a:cs typeface="Aptos" pitchFamily="34" charset="-120"/>
              </a:rPr>
              <a:t>Lower primary-category counts are Data and Privacy Protection (25), Security Automation and Testing (26), Malware and Phishing Defense (32). They may be useful whitespace, particularly when joined to cloud, identity or AI-model-specific constraints.</a:t>
            </a:r>
            <a:endParaRPr lang="en-US" sz="1030" dirty="0"/>
          </a:p>
        </p:txBody>
      </p:sp>
      <p:sp>
        <p:nvSpPr>
          <p:cNvPr id="13" name="Text 10"/>
          <p:cNvSpPr/>
          <p:nvPr/>
        </p:nvSpPr>
        <p:spPr>
          <a:xfrm>
            <a:off x="685800" y="4709160"/>
            <a:ext cx="3108960" cy="201168"/>
          </a:xfrm>
          <a:prstGeom prst="rect">
            <a:avLst/>
          </a:prstGeom>
          <a:noFill/>
          <a:ln/>
        </p:spPr>
        <p:txBody>
          <a:bodyPr wrap="square" lIns="0" tIns="0" rIns="0" bIns="0" rtlCol="0" anchor="ctr">
            <a:normAutofit/>
          </a:bodyPr>
          <a:lstStyle/>
          <a:p>
            <a:pPr indent="0" marL="0">
              <a:buNone/>
            </a:pPr>
            <a:r>
              <a:rPr lang="en-US" sz="1050" b="1" dirty="0">
                <a:solidFill>
                  <a:srgbClr val="2F5597"/>
                </a:solidFill>
                <a:latin typeface="Aptos" pitchFamily="34" charset="0"/>
                <a:ea typeface="Aptos" pitchFamily="34" charset="-122"/>
                <a:cs typeface="Aptos" pitchFamily="34" charset="-120"/>
              </a:rPr>
              <a:t>Best direction</a:t>
            </a:r>
            <a:endParaRPr lang="en-US" sz="1050" dirty="0"/>
          </a:p>
        </p:txBody>
      </p:sp>
      <p:sp>
        <p:nvSpPr>
          <p:cNvPr id="14" name="Shape 11"/>
          <p:cNvSpPr/>
          <p:nvPr/>
        </p:nvSpPr>
        <p:spPr>
          <a:xfrm>
            <a:off x="685800" y="4965192"/>
            <a:ext cx="3108960" cy="0"/>
          </a:xfrm>
          <a:prstGeom prst="line">
            <a:avLst/>
          </a:prstGeom>
          <a:noFill/>
          <a:ln w="12700">
            <a:solidFill>
              <a:srgbClr val="2F5597"/>
            </a:solidFill>
            <a:prstDash val="solid"/>
          </a:ln>
        </p:spPr>
      </p:sp>
      <p:sp>
        <p:nvSpPr>
          <p:cNvPr id="15" name="Text 12"/>
          <p:cNvSpPr/>
          <p:nvPr/>
        </p:nvSpPr>
        <p:spPr>
          <a:xfrm>
            <a:off x="685800" y="5120640"/>
            <a:ext cx="6400800" cy="914400"/>
          </a:xfrm>
          <a:prstGeom prst="rect">
            <a:avLst/>
          </a:prstGeom>
          <a:solidFill>
            <a:srgbClr val="EAF3F8"/>
          </a:solidFill>
          <a:ln>
            <a:solidFill>
              <a:srgbClr val="EAF3F8"/>
            </a:solidFill>
          </a:ln>
        </p:spPr>
        <p:txBody>
          <a:bodyPr wrap="square" lIns="1397" tIns="1397" rIns="1397" bIns="1397" rtlCol="0" anchor="ctr">
            <a:normAutofit/>
          </a:bodyPr>
          <a:lstStyle/>
          <a:p>
            <a:pPr indent="0" marL="0">
              <a:buNone/>
            </a:pPr>
            <a:r>
              <a:rPr lang="en-US" sz="1030" dirty="0">
                <a:solidFill>
                  <a:srgbClr val="1F2937"/>
                </a:solidFill>
                <a:latin typeface="Aptos" pitchFamily="34" charset="0"/>
                <a:ea typeface="Aptos" pitchFamily="34" charset="-122"/>
                <a:cs typeface="Aptos" pitchFamily="34" charset="-120"/>
              </a:rPr>
              <a:t>Target inventions that state a concrete security object, a model-driven transformation, a decision output, and a feedback/remediation loop. Avoid merely claiming generic AI for cybersecurity.</a:t>
            </a:r>
            <a:endParaRPr lang="en-US" sz="1030" dirty="0"/>
          </a:p>
        </p:txBody>
      </p:sp>
      <p:sp>
        <p:nvSpPr>
          <p:cNvPr id="16" name="Text 13"/>
          <p:cNvSpPr/>
          <p:nvPr/>
        </p:nvSpPr>
        <p:spPr>
          <a:xfrm>
            <a:off x="7818120" y="3520440"/>
            <a:ext cx="3611880" cy="1005840"/>
          </a:xfrm>
          <a:prstGeom prst="rect">
            <a:avLst/>
          </a:prstGeom>
          <a:solidFill>
            <a:srgbClr val="F3F6F8"/>
          </a:solidFill>
          <a:ln>
            <a:solidFill>
              <a:srgbClr val="F3F6F8"/>
            </a:solidFill>
          </a:ln>
        </p:spPr>
        <p:txBody>
          <a:bodyPr wrap="square" lIns="1397" tIns="1397" rIns="1397" bIns="1397" rtlCol="0" anchor="ctr">
            <a:normAutofit/>
          </a:bodyPr>
          <a:lstStyle/>
          <a:p>
            <a:pPr indent="0" marL="0">
              <a:buNone/>
            </a:pPr>
            <a:r>
              <a:rPr lang="en-US" sz="940" dirty="0">
                <a:solidFill>
                  <a:srgbClr val="1F2937"/>
                </a:solidFill>
                <a:latin typeface="Aptos" pitchFamily="34" charset="0"/>
                <a:ea typeface="Aptos" pitchFamily="34" charset="-122"/>
                <a:cs typeface="Aptos" pitchFamily="34" charset="-120"/>
              </a:rPr>
              <a:t>This slide is an interpretation from the dataset; verify with claim-level prior-art analysis before drafting.</a:t>
            </a:r>
            <a:endParaRPr lang="en-US" sz="94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365760"/>
          </a:xfrm>
          <a:prstGeom prst="rect">
            <a:avLst/>
          </a:prstGeom>
          <a:noFill/>
          <a:ln/>
        </p:spPr>
        <p:txBody>
          <a:bodyPr wrap="square" lIns="0" tIns="0" rIns="0" bIns="0" rtlCol="0" anchor="ctr">
            <a:normAutofit/>
          </a:bodyPr>
          <a:lstStyle/>
          <a:p>
            <a:pPr indent="0" marL="0">
              <a:buNone/>
            </a:pPr>
            <a:r>
              <a:rPr lang="en-US" sz="2550" b="1" dirty="0">
                <a:solidFill>
                  <a:srgbClr val="17324D"/>
                </a:solidFill>
                <a:latin typeface="Aptos Display" pitchFamily="34" charset="0"/>
                <a:ea typeface="Aptos Display" pitchFamily="34" charset="-122"/>
                <a:cs typeface="Aptos Display" pitchFamily="34" charset="-120"/>
              </a:rPr>
              <a:t>Actionable conclusions</a:t>
            </a:r>
            <a:endParaRPr lang="en-US" sz="2550" dirty="0"/>
          </a:p>
        </p:txBody>
      </p:sp>
      <p:sp>
        <p:nvSpPr>
          <p:cNvPr id="3" name="Text 1"/>
          <p:cNvSpPr/>
          <p:nvPr/>
        </p:nvSpPr>
        <p:spPr>
          <a:xfrm>
            <a:off x="512064" y="667512"/>
            <a:ext cx="10607040" cy="219456"/>
          </a:xfrm>
          <a:prstGeom prst="rect">
            <a:avLst/>
          </a:prstGeom>
          <a:noFill/>
          <a:ln/>
        </p:spPr>
        <p:txBody>
          <a:bodyPr wrap="square" lIns="0" tIns="0" rIns="0" bIns="0" rtlCol="0" anchor="ctr">
            <a:normAutofit/>
          </a:bodyPr>
          <a:lstStyle/>
          <a:p>
            <a:pPr indent="0" marL="0">
              <a:buNone/>
            </a:pPr>
            <a:r>
              <a:rPr lang="en-US" sz="950" dirty="0">
                <a:solidFill>
                  <a:srgbClr val="64748B"/>
                </a:solidFill>
                <a:latin typeface="Aptos" pitchFamily="34" charset="0"/>
                <a:ea typeface="Aptos" pitchFamily="34" charset="-122"/>
                <a:cs typeface="Aptos" pitchFamily="34" charset="-120"/>
              </a:rPr>
              <a:t>Use this deck for landscape presentation and the workbook for evidence review and graph recreation.</a:t>
            </a:r>
            <a:endParaRPr lang="en-US" sz="950" dirty="0"/>
          </a:p>
        </p:txBody>
      </p:sp>
      <p:sp>
        <p:nvSpPr>
          <p:cNvPr id="4" name="Shape 2"/>
          <p:cNvSpPr/>
          <p:nvPr/>
        </p:nvSpPr>
        <p:spPr>
          <a:xfrm>
            <a:off x="502920" y="914400"/>
            <a:ext cx="11201400" cy="0"/>
          </a:xfrm>
          <a:prstGeom prst="line">
            <a:avLst/>
          </a:prstGeom>
          <a:noFill/>
          <a:ln w="12700">
            <a:solidFill>
              <a:srgbClr val="D9E2EC"/>
            </a:solidFill>
            <a:prstDash val="solid"/>
          </a:ln>
        </p:spPr>
      </p:sp>
      <p:sp>
        <p:nvSpPr>
          <p:cNvPr id="5" name="Text 3"/>
          <p:cNvSpPr/>
          <p:nvPr/>
        </p:nvSpPr>
        <p:spPr>
          <a:xfrm>
            <a:off x="457200" y="6565392"/>
            <a:ext cx="11292840" cy="164592"/>
          </a:xfrm>
          <a:prstGeom prst="rect">
            <a:avLst/>
          </a:prstGeom>
          <a:noFill/>
          <a:ln/>
        </p:spPr>
        <p:txBody>
          <a:bodyPr wrap="square" lIns="0" tIns="0" rIns="0" bIns="0" rtlCol="0" anchor="ctr"/>
          <a:lstStyle/>
          <a:p>
            <a:pPr indent="0" marL="0">
              <a:buNone/>
            </a:pPr>
            <a:r>
              <a:rPr lang="en-US" sz="620" dirty="0">
                <a:solidFill>
                  <a:srgbClr val="64748B"/>
                </a:solidFill>
                <a:latin typeface="Aptos" pitchFamily="34" charset="0"/>
                <a:ea typeface="Aptos" pitchFamily="34" charset="-122"/>
                <a:cs typeface="Aptos" pitchFamily="34" charset="-120"/>
              </a:rPr>
              <a:t>Source: IPCyberPatents2-20260625.xlsx / CyberPatents2 | Count unit: publication/application record; no family deduplication</a:t>
            </a:r>
            <a:endParaRPr lang="en-US" sz="620" dirty="0"/>
          </a:p>
        </p:txBody>
      </p:sp>
      <p:sp>
        <p:nvSpPr>
          <p:cNvPr id="6" name="Text 4"/>
          <p:cNvSpPr/>
          <p:nvPr/>
        </p:nvSpPr>
        <p:spPr>
          <a:xfrm>
            <a:off x="640080" y="1143000"/>
            <a:ext cx="3017520"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Finding</a:t>
            </a:r>
            <a:endParaRPr lang="en-US" sz="880" dirty="0"/>
          </a:p>
        </p:txBody>
      </p:sp>
      <p:sp>
        <p:nvSpPr>
          <p:cNvPr id="7" name="Text 5"/>
          <p:cNvSpPr/>
          <p:nvPr/>
        </p:nvSpPr>
        <p:spPr>
          <a:xfrm>
            <a:off x="3657600" y="1143000"/>
            <a:ext cx="7863840" cy="384048"/>
          </a:xfrm>
          <a:prstGeom prst="rect">
            <a:avLst/>
          </a:prstGeom>
          <a:solidFill>
            <a:srgbClr val="17324D"/>
          </a:solidFill>
          <a:ln>
            <a:solidFill>
              <a:srgbClr val="D9E2EC"/>
            </a:solidFill>
          </a:ln>
        </p:spPr>
        <p:txBody>
          <a:bodyPr wrap="square" lIns="699" tIns="699" rIns="699" bIns="699"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Implication</a:t>
            </a:r>
            <a:endParaRPr lang="en-US" sz="880" dirty="0"/>
          </a:p>
        </p:txBody>
      </p:sp>
      <p:sp>
        <p:nvSpPr>
          <p:cNvPr id="8" name="Text 6"/>
          <p:cNvSpPr/>
          <p:nvPr/>
        </p:nvSpPr>
        <p:spPr>
          <a:xfrm>
            <a:off x="640080" y="1527048"/>
            <a:ext cx="3017520" cy="67665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Assignee concentration is high</a:t>
            </a:r>
            <a:endParaRPr lang="en-US" sz="880" dirty="0"/>
          </a:p>
        </p:txBody>
      </p:sp>
      <p:sp>
        <p:nvSpPr>
          <p:cNvPr id="9" name="Text 7"/>
          <p:cNvSpPr/>
          <p:nvPr/>
        </p:nvSpPr>
        <p:spPr>
          <a:xfrm>
            <a:off x="3657600" y="1527048"/>
            <a:ext cx="7863840" cy="67665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Start FTO and claim-differentiation review with Microsoft, Cisco, Fortinet and Palo Alto portfolios.</a:t>
            </a:r>
            <a:endParaRPr lang="en-US" sz="880" dirty="0"/>
          </a:p>
        </p:txBody>
      </p:sp>
      <p:sp>
        <p:nvSpPr>
          <p:cNvPr id="10" name="Text 8"/>
          <p:cNvSpPr/>
          <p:nvPr/>
        </p:nvSpPr>
        <p:spPr>
          <a:xfrm>
            <a:off x="640080" y="2203704"/>
            <a:ext cx="3017520" cy="67665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Threat Detection and Response is the largest bucket</a:t>
            </a:r>
            <a:endParaRPr lang="en-US" sz="880" dirty="0"/>
          </a:p>
        </p:txBody>
      </p:sp>
      <p:sp>
        <p:nvSpPr>
          <p:cNvPr id="11" name="Text 9"/>
          <p:cNvSpPr/>
          <p:nvPr/>
        </p:nvSpPr>
        <p:spPr>
          <a:xfrm>
            <a:off x="3657600" y="2203704"/>
            <a:ext cx="7863840" cy="67665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Crowded area; stronger patentability likely requires specific data fusion, feedback, explainability or deployment constraints.</a:t>
            </a:r>
            <a:endParaRPr lang="en-US" sz="880" dirty="0"/>
          </a:p>
        </p:txBody>
      </p:sp>
      <p:sp>
        <p:nvSpPr>
          <p:cNvPr id="12" name="Text 10"/>
          <p:cNvSpPr/>
          <p:nvPr/>
        </p:nvSpPr>
        <p:spPr>
          <a:xfrm>
            <a:off x="640080" y="2880360"/>
            <a:ext cx="3017520" cy="67665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AI Model Security is visible but not dominant</a:t>
            </a:r>
            <a:endParaRPr lang="en-US" sz="880" dirty="0"/>
          </a:p>
        </p:txBody>
      </p:sp>
      <p:sp>
        <p:nvSpPr>
          <p:cNvPr id="13" name="Text 11"/>
          <p:cNvSpPr/>
          <p:nvPr/>
        </p:nvSpPr>
        <p:spPr>
          <a:xfrm>
            <a:off x="3657600" y="2880360"/>
            <a:ext cx="7863840" cy="67665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Opportunity exists around prompt inspection, tool-call validation, hallucination controls and AI-agent governance.</a:t>
            </a:r>
            <a:endParaRPr lang="en-US" sz="880" dirty="0"/>
          </a:p>
        </p:txBody>
      </p:sp>
      <p:sp>
        <p:nvSpPr>
          <p:cNvPr id="14" name="Text 12"/>
          <p:cNvSpPr/>
          <p:nvPr/>
        </p:nvSpPr>
        <p:spPr>
          <a:xfrm>
            <a:off x="640080" y="3557016"/>
            <a:ext cx="3017520" cy="67665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Data and Privacy Protection and Security Automation and Testing are smaller buckets</a:t>
            </a:r>
            <a:endParaRPr lang="en-US" sz="880" dirty="0"/>
          </a:p>
        </p:txBody>
      </p:sp>
      <p:sp>
        <p:nvSpPr>
          <p:cNvPr id="15" name="Text 13"/>
          <p:cNvSpPr/>
          <p:nvPr/>
        </p:nvSpPr>
        <p:spPr>
          <a:xfrm>
            <a:off x="3657600" y="3557016"/>
            <a:ext cx="7863840" cy="67665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Potential whitespace when combined with cloud/identity context or AI-model-specific attack paths.</a:t>
            </a:r>
            <a:endParaRPr lang="en-US" sz="880" dirty="0"/>
          </a:p>
        </p:txBody>
      </p:sp>
      <p:sp>
        <p:nvSpPr>
          <p:cNvPr id="16" name="Text 14"/>
          <p:cNvSpPr/>
          <p:nvPr/>
        </p:nvSpPr>
        <p:spPr>
          <a:xfrm>
            <a:off x="640080" y="4233672"/>
            <a:ext cx="3017520" cy="67665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b="1" dirty="0">
                <a:solidFill>
                  <a:srgbClr val="1F2937"/>
                </a:solidFill>
                <a:latin typeface="Aptos" pitchFamily="34" charset="0"/>
                <a:ea typeface="Aptos" pitchFamily="34" charset="-122"/>
                <a:cs typeface="Aptos" pitchFamily="34" charset="-120"/>
              </a:rPr>
              <a:t>Trend charts are date-sensitive</a:t>
            </a:r>
            <a:endParaRPr lang="en-US" sz="880" dirty="0"/>
          </a:p>
        </p:txBody>
      </p:sp>
      <p:sp>
        <p:nvSpPr>
          <p:cNvPr id="17" name="Text 15"/>
          <p:cNvSpPr/>
          <p:nvPr/>
        </p:nvSpPr>
        <p:spPr>
          <a:xfrm>
            <a:off x="3657600" y="4233672"/>
            <a:ext cx="7863840" cy="676656"/>
          </a:xfrm>
          <a:prstGeom prst="rect">
            <a:avLst/>
          </a:prstGeom>
          <a:solidFill>
            <a:srgbClr val="FFFFFF"/>
          </a:solidFill>
          <a:ln>
            <a:solidFill>
              <a:srgbClr val="D9E2EC"/>
            </a:solidFill>
          </a:ln>
        </p:spPr>
        <p:txBody>
          <a:bodyPr wrap="square" lIns="699" tIns="699" rIns="699" bIns="699" rtlCol="0" anchor="ctr">
            <a:normAutofit/>
          </a:bodyPr>
          <a:lstStyle/>
          <a:p>
            <a:pPr algn="l" indent="0" marL="0">
              <a:buNone/>
            </a:pPr>
            <a:r>
              <a:rPr lang="en-US" sz="880" dirty="0">
                <a:solidFill>
                  <a:srgbClr val="1F2937"/>
                </a:solidFill>
                <a:latin typeface="Aptos" pitchFamily="34" charset="0"/>
                <a:ea typeface="Aptos" pitchFamily="34" charset="-122"/>
                <a:cs typeface="Aptos" pitchFamily="34" charset="-120"/>
              </a:rPr>
              <a:t>2026 and recent filing years are partial/lagged. Refresh the dataset before making annual-growth claims.</a:t>
            </a:r>
            <a:endParaRPr lang="en-US" sz="880" dirty="0"/>
          </a:p>
        </p:txBody>
      </p:sp>
      <p:sp>
        <p:nvSpPr>
          <p:cNvPr id="18" name="Text 16"/>
          <p:cNvSpPr/>
          <p:nvPr/>
        </p:nvSpPr>
        <p:spPr>
          <a:xfrm>
            <a:off x="822960" y="5715000"/>
            <a:ext cx="10561320" cy="530352"/>
          </a:xfrm>
          <a:prstGeom prst="rect">
            <a:avLst/>
          </a:prstGeom>
          <a:solidFill>
            <a:srgbClr val="E8F5E9"/>
          </a:solidFill>
          <a:ln>
            <a:solidFill>
              <a:srgbClr val="E8F5E9"/>
            </a:solidFill>
          </a:ln>
        </p:spPr>
        <p:txBody>
          <a:bodyPr wrap="square" lIns="1397" tIns="1397" rIns="1397" bIns="1397" rtlCol="0" anchor="ctr">
            <a:normAutofit/>
          </a:bodyPr>
          <a:lstStyle/>
          <a:p>
            <a:pPr indent="0" marL="0">
              <a:buNone/>
            </a:pPr>
            <a:r>
              <a:rPr lang="en-US" sz="940" dirty="0">
                <a:solidFill>
                  <a:srgbClr val="1F2937"/>
                </a:solidFill>
                <a:latin typeface="Aptos" pitchFamily="34" charset="0"/>
                <a:ea typeface="Aptos" pitchFamily="34" charset="-122"/>
                <a:cs typeface="Aptos" pitchFamily="34" charset="-120"/>
              </a:rPr>
              <a:t>Deliverables: revised landscape PowerPoint with graphs and cybersecurity visuals, plus graph-ready Excel workbook containing raw categorized data, pivots, problem directions, important patents and ideation opportunities.</a:t>
            </a:r>
            <a:endParaRPr lang="en-US" sz="9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Cybersecurity Patent Landscape</dc:title>
  <dc:subject>AI-driven cybersecurity patent landscape</dc:subject>
  <dc:creator>OpenAI</dc:creator>
  <cp:lastModifiedBy>OpenAI</cp:lastModifiedBy>
  <cp:revision>1</cp:revision>
  <dcterms:created xsi:type="dcterms:W3CDTF">2026-06-25T09:32:05Z</dcterms:created>
  <dcterms:modified xsi:type="dcterms:W3CDTF">2026-06-25T09:32:05Z</dcterms:modified>
</cp:coreProperties>
</file>